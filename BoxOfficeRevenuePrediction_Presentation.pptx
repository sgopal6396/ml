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a1034a5ba34a44" /><Relationship Type="http://schemas.openxmlformats.org/officeDocument/2006/relationships/extended-properties" Target="/docProps/app.xml" Id="R6e0f8c3aefcc4cbf" /><Relationship Type="http://schemas.openxmlformats.org/officeDocument/2006/relationships/officeDocument" Target="/ppt/presentation.xml" Id="Rbe3d2a192d4b4a9e" /></Relationships>
</file>

<file path=ppt/presentation.xml><?xml version="1.0" encoding="utf-8"?>
<p:presentation xmlns:p="http://schemas.openxmlformats.org/presentationml/2006/main">
  <p:sldMasterIdLst>
    <p:sldMasterId xmlns:r="http://schemas.openxmlformats.org/officeDocument/2006/relationships" id="2147483648" r:id="R4aa98a81a3b54beb"/>
  </p:sldMasterIdLst>
  <p:notesMasterIdLst>
    <p:notesMasterId xmlns:r="http://schemas.openxmlformats.org/officeDocument/2006/relationships" r:id="R48203d79a95e4e5b"/>
  </p:notesMasterIdLst>
  <p:sldIdLst>
    <p:sldId xmlns:r="http://schemas.openxmlformats.org/officeDocument/2006/relationships" id="256" r:id="Rf2b8ed6f11424787"/>
    <p:sldId xmlns:r="http://schemas.openxmlformats.org/officeDocument/2006/relationships" id="257" r:id="Re5b148a960d54524"/>
    <p:sldId xmlns:r="http://schemas.openxmlformats.org/officeDocument/2006/relationships" id="258" r:id="R449aca4773b546f2"/>
    <p:sldId xmlns:r="http://schemas.openxmlformats.org/officeDocument/2006/relationships" id="259" r:id="Rb38c9776f2df4749"/>
    <p:sldId xmlns:r="http://schemas.openxmlformats.org/officeDocument/2006/relationships" id="260" r:id="R094b66e07b034449"/>
    <p:sldId xmlns:r="http://schemas.openxmlformats.org/officeDocument/2006/relationships" id="261" r:id="R6b284f7255524f51"/>
    <p:sldId xmlns:r="http://schemas.openxmlformats.org/officeDocument/2006/relationships" id="262" r:id="R0ffd06312b5e4fdc"/>
    <p:sldId xmlns:r="http://schemas.openxmlformats.org/officeDocument/2006/relationships" id="263" r:id="Rd614f0646b6340c5"/>
    <p:sldId xmlns:r="http://schemas.openxmlformats.org/officeDocument/2006/relationships" id="264" r:id="R21e877ee716a4823"/>
    <p:sldId xmlns:r="http://schemas.openxmlformats.org/officeDocument/2006/relationships" id="265" r:id="R2cb9f4c625014463"/>
    <p:sldId xmlns:r="http://schemas.openxmlformats.org/officeDocument/2006/relationships" id="266" r:id="R40fe222f7c494539"/>
    <p:sldId xmlns:r="http://schemas.openxmlformats.org/officeDocument/2006/relationships" id="267" r:id="Rbbe8890a81514287"/>
    <p:sldId xmlns:r="http://schemas.openxmlformats.org/officeDocument/2006/relationships" id="268" r:id="R782f17dbcadc447b"/>
    <p:sldId xmlns:r="http://schemas.openxmlformats.org/officeDocument/2006/relationships" id="269" r:id="R87a0f894c67948a4"/>
    <p:sldId xmlns:r="http://schemas.openxmlformats.org/officeDocument/2006/relationships" id="270" r:id="Rf8f9e8502639463d"/>
    <p:sldId xmlns:r="http://schemas.openxmlformats.org/officeDocument/2006/relationships" id="271" r:id="Rc09275f9c8344f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889a89cc1e4ad1" /><Relationship Type="http://schemas.openxmlformats.org/officeDocument/2006/relationships/slideMaster" Target="/ppt/slideMasters/slideMaster1.xml" Id="R4aa98a81a3b54beb" /><Relationship Type="http://schemas.openxmlformats.org/officeDocument/2006/relationships/notesMaster" Target="/ppt/notesMasters/notesMaster1.xml" Id="R48203d79a95e4e5b" /><Relationship Type="http://schemas.openxmlformats.org/officeDocument/2006/relationships/presProps" Target="/ppt/presProps.xml" Id="R47aa9085139a40bf" /><Relationship Type="http://schemas.openxmlformats.org/officeDocument/2006/relationships/tableStyles" Target="/ppt/tableStyles.xml" Id="Rb1db7bb37d8047aa" /><Relationship Type="http://schemas.openxmlformats.org/officeDocument/2006/relationships/slide" Target="/ppt/slides/slide1.xml" Id="Rf2b8ed6f11424787" /><Relationship Type="http://schemas.openxmlformats.org/officeDocument/2006/relationships/slide" Target="/ppt/slides/slide2.xml" Id="Re5b148a960d54524" /><Relationship Type="http://schemas.openxmlformats.org/officeDocument/2006/relationships/slide" Target="/ppt/slides/slide3.xml" Id="R449aca4773b546f2" /><Relationship Type="http://schemas.openxmlformats.org/officeDocument/2006/relationships/slide" Target="/ppt/slides/slide4.xml" Id="Rb38c9776f2df4749" /><Relationship Type="http://schemas.openxmlformats.org/officeDocument/2006/relationships/slide" Target="/ppt/slides/slide5.xml" Id="R094b66e07b034449" /><Relationship Type="http://schemas.openxmlformats.org/officeDocument/2006/relationships/slide" Target="/ppt/slides/slide6.xml" Id="R6b284f7255524f51" /><Relationship Type="http://schemas.openxmlformats.org/officeDocument/2006/relationships/slide" Target="/ppt/slides/slide7.xml" Id="R0ffd06312b5e4fdc" /><Relationship Type="http://schemas.openxmlformats.org/officeDocument/2006/relationships/slide" Target="/ppt/slides/slide8.xml" Id="Rd614f0646b6340c5" /><Relationship Type="http://schemas.openxmlformats.org/officeDocument/2006/relationships/slide" Target="/ppt/slides/slide9.xml" Id="R21e877ee716a4823" /><Relationship Type="http://schemas.openxmlformats.org/officeDocument/2006/relationships/slide" Target="/ppt/slides/slide10.xml" Id="R2cb9f4c625014463" /><Relationship Type="http://schemas.openxmlformats.org/officeDocument/2006/relationships/slide" Target="/ppt/slides/slide11.xml" Id="R40fe222f7c494539" /><Relationship Type="http://schemas.openxmlformats.org/officeDocument/2006/relationships/slide" Target="/ppt/slides/slide12.xml" Id="Rbbe8890a81514287" /><Relationship Type="http://schemas.openxmlformats.org/officeDocument/2006/relationships/slide" Target="/ppt/slides/slide13.xml" Id="R782f17dbcadc447b" /><Relationship Type="http://schemas.openxmlformats.org/officeDocument/2006/relationships/slide" Target="/ppt/slides/slide14.xml" Id="R87a0f894c67948a4" /><Relationship Type="http://schemas.openxmlformats.org/officeDocument/2006/relationships/slide" Target="/ppt/slides/slide15.xml" Id="Rf8f9e8502639463d" /><Relationship Type="http://schemas.openxmlformats.org/officeDocument/2006/relationships/slide" Target="/ppt/slides/slide16.xml" Id="Rc09275f9c8344f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a2ae0be12c44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3ffaaa09224dd2" /><Relationship Type="http://schemas.openxmlformats.org/officeDocument/2006/relationships/notesMaster" Target="/ppt/notesMasters/notesMaster1.xml" Id="R7326e50ab14f45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6d46766c894737" /><Relationship Type="http://schemas.openxmlformats.org/officeDocument/2006/relationships/notesMaster" Target="/ppt/notesMasters/notesMaster1.xml" Id="R7e45c99e6ee241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368d0e1de0478d" /><Relationship Type="http://schemas.openxmlformats.org/officeDocument/2006/relationships/notesMaster" Target="/ppt/notesMasters/notesMaster1.xml" Id="R22b85334697047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784e98f3334c4b" /><Relationship Type="http://schemas.openxmlformats.org/officeDocument/2006/relationships/notesMaster" Target="/ppt/notesMasters/notesMaster1.xml" Id="R8c38d01f7b4543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b23553610b4ba0" /><Relationship Type="http://schemas.openxmlformats.org/officeDocument/2006/relationships/notesMaster" Target="/ppt/notesMasters/notesMaster1.xml" Id="Rcd1d3a9344da46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ab141ad6f045ee" /><Relationship Type="http://schemas.openxmlformats.org/officeDocument/2006/relationships/notesMaster" Target="/ppt/notesMasters/notesMaster1.xml" Id="R388b92366ebd4a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892d21366842d6" /><Relationship Type="http://schemas.openxmlformats.org/officeDocument/2006/relationships/notesMaster" Target="/ppt/notesMasters/notesMaster1.xml" Id="R2be1f866a0184f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2e36e911bf4268" /><Relationship Type="http://schemas.openxmlformats.org/officeDocument/2006/relationships/notesMaster" Target="/ppt/notesMasters/notesMaster1.xml" Id="Rac29ed2d78b74a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c7aca96d444d0a" /><Relationship Type="http://schemas.openxmlformats.org/officeDocument/2006/relationships/notesMaster" Target="/ppt/notesMasters/notesMaster1.xml" Id="R11f11bd1816a4d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20eddc9b2441fe" /><Relationship Type="http://schemas.openxmlformats.org/officeDocument/2006/relationships/notesMaster" Target="/ppt/notesMasters/notesMaster1.xml" Id="Rff8a2947c9084a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e7b02f41004860" /><Relationship Type="http://schemas.openxmlformats.org/officeDocument/2006/relationships/notesMaster" Target="/ppt/notesMasters/notesMaster1.xml" Id="R48dc3f78d9c341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8f85238eee4fc9" /><Relationship Type="http://schemas.openxmlformats.org/officeDocument/2006/relationships/notesMaster" Target="/ppt/notesMasters/notesMaster1.xml" Id="R2e67b285bd914b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59d23911764a3e" /><Relationship Type="http://schemas.openxmlformats.org/officeDocument/2006/relationships/notesMaster" Target="/ppt/notesMasters/notesMaster1.xml" Id="Rbda8cafd1ec343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27b45048b546b6" /><Relationship Type="http://schemas.openxmlformats.org/officeDocument/2006/relationships/notesMaster" Target="/ppt/notesMasters/notesMaster1.xml" Id="R7185244b838a49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b40e36a578457c" /><Relationship Type="http://schemas.openxmlformats.org/officeDocument/2006/relationships/notesMaster" Target="/ppt/notesMasters/notesMaster1.xml" Id="R4e7cf46185c542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ac4bbe6d934dcc" /><Relationship Type="http://schemas.openxmlformats.org/officeDocument/2006/relationships/notesMaster" Target="/ppt/notesMasters/notesMaster1.xml" Id="R1423f8a0eb534c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structure follows the supplied Project PPT Components checklist.</a:t>
            </a:r>
          </a:p>
          <a:p xmlns:a="http://schemas.openxmlformats.org/drawingml/2006/main">
            <a:r>
              <a:t>Project source: BoxOfficeRevenuePrediction project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data/movies.csv; src/app/app.py;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scenario is framed from the project capabilities. It describes a decision-support use case, not a claim of deployment with a distributor.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repository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approach is a baseline comparison for the academic problem; it is not an audit of a named commercial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based on src/app/app.py, src/data_schema.py, src/train_model.py, src/movie_dsa.py, and java/src/main/java/MovieDsaEngine.java.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training script uses an 80/20 random train/test split. The tuning script and evaluation script are separate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Technology stack verified from repository imports, source files,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descriptions are based on implemented source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data/movies.csv; EDA profile: graphs/eda_profile.csv. Stats computed from the supplied CSV. Values are nominal USD in source data; no inflation adjustment.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Algorithm implementations: src/movie_dsa.py and java/src/main/java/MovieDsaEngine.java. Model pipeline: src/train_model.py.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image is present, but no current metric values were retrieved. Do not present unverified accuracy or regression metrics. The app launch attempt failed with Windows Access Denied on the project venv Python executable.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 names and functions are taken from src/app/app.py. No screenshot is fabricated.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Applications are proposed uses; the project is an academic prototype, not a deployed commercial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Enriched CSV folder is currently empty according to project inspection.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reflects the current source data and repository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be966ce5554b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8fc433e60446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5a1d441fb044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8bc4d7d13f4a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5efe8123e74b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e117139ef447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1D6A2B-B262-4C3F-9AF4-05B7C607FC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33615E-7E83-4A7A-9FE4-569C75DF564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8EA1AB-83A0-4189-BFB1-4DDE0CFE0BD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FCA3B0-BF1F-401D-A2A9-C8C7AA41DA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38D264-B352-4D57-BBA8-F64D4E038E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5F60A9-9D86-4E9C-9FA3-BF9A75D9C0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E1D03E-CD93-40BF-850D-9D631B2A11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D58340-7297-4AD3-980B-77E5C15A1C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84F248-4820-492F-B61B-770FEDE9B2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6FA708-2EE1-433C-BD78-6848B6176F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19de3255ea4997" /><Relationship Type="http://schemas.openxmlformats.org/officeDocument/2006/relationships/slideLayout" Target="/ppt/slideLayouts/slideLayout1.xml" Id="R0949ad44bfe345eb" /><Relationship Type="http://schemas.openxmlformats.org/officeDocument/2006/relationships/slideLayout" Target="/ppt/slideLayouts/slideLayout2.xml" Id="Rc566bb367bd34b60" /><Relationship Type="http://schemas.openxmlformats.org/officeDocument/2006/relationships/slideLayout" Target="/ppt/slideLayouts/slideLayout3.xml" Id="R57bedced6a6d427b" /><Relationship Type="http://schemas.openxmlformats.org/officeDocument/2006/relationships/slideLayout" Target="/ppt/slideLayouts/slideLayout4.xml" Id="Rd65282070ec54587" /><Relationship Type="http://schemas.openxmlformats.org/officeDocument/2006/relationships/slideLayout" Target="/ppt/slideLayouts/slideLayout5.xml" Id="Re52cef6741974b77" /><Relationship Type="http://schemas.openxmlformats.org/officeDocument/2006/relationships/slideLayout" Target="/ppt/slideLayouts/slideLayout6.xml" Id="R8b375afe77ac42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49ad44bfe345eb"/>
    <p:sldLayoutId xmlns:r="http://schemas.openxmlformats.org/officeDocument/2006/relationships" id="2147483650" r:id="Rc566bb367bd34b60"/>
    <p:sldLayoutId xmlns:r="http://schemas.openxmlformats.org/officeDocument/2006/relationships" id="2147483651" r:id="R57bedced6a6d427b"/>
    <p:sldLayoutId xmlns:r="http://schemas.openxmlformats.org/officeDocument/2006/relationships" id="2147483652" r:id="Rd65282070ec54587"/>
    <p:sldLayoutId xmlns:r="http://schemas.openxmlformats.org/officeDocument/2006/relationships" id="2147483653" r:id="Re52cef6741974b77"/>
    <p:sldLayoutId xmlns:r="http://schemas.openxmlformats.org/officeDocument/2006/relationships" id="2147483654" r:id="R8b375afe77ac42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05b015c0c84820" /><Relationship Type="http://schemas.openxmlformats.org/officeDocument/2006/relationships/notesSlide" Target="/ppt/notesSlides/notesSlide1.xml" Id="R2a6ad9fb86f74b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31cda686fd4820" /><Relationship Type="http://schemas.openxmlformats.org/officeDocument/2006/relationships/notesSlide" Target="/ppt/notesSlides/notesSlide2.xml" Id="Rdcc9904fdb4747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2e36b32ba6422e" /><Relationship Type="http://schemas.openxmlformats.org/officeDocument/2006/relationships/notesSlide" Target="/ppt/notesSlides/notesSlide3.xml" Id="Rf6b9d4e740ea41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6081c4c2344724" /><Relationship Type="http://schemas.openxmlformats.org/officeDocument/2006/relationships/notesSlide" Target="/ppt/notesSlides/notesSlide4.xml" Id="R94ba0a55f63849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1ceefb6130445d" /><Relationship Type="http://schemas.openxmlformats.org/officeDocument/2006/relationships/notesSlide" Target="/ppt/notesSlides/notesSlide5.xml" Id="R5e8aa610ec9c4c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3b4ac3df864552" /><Relationship Type="http://schemas.openxmlformats.org/officeDocument/2006/relationships/notesSlide" Target="/ppt/notesSlides/notesSlide6.xml" Id="R8a4748790c1443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ea013098304e36" /><Relationship Type="http://schemas.openxmlformats.org/officeDocument/2006/relationships/notesSlide" Target="/ppt/notesSlides/notesSlide7.xml" Id="R3899ced4d3f34d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90a0751a7b7492c" /><Relationship Type="http://schemas.openxmlformats.org/officeDocument/2006/relationships/notesSlide" Target="/ppt/notesSlides/notesSlide8.xml" Id="Ra7335217b4b24e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3097776dbbc497f" /><Relationship Type="http://schemas.openxmlformats.org/officeDocument/2006/relationships/notesSlide" Target="/ppt/notesSlides/notesSlide9.xml" Id="R3564fcc884954b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b92992c98546d4" /><Relationship Type="http://schemas.openxmlformats.org/officeDocument/2006/relationships/notesSlide" Target="/ppt/notesSlides/notesSlide10.xml" Id="R3b02e5d87ad741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f50dfa2ef334f13" /><Relationship Type="http://schemas.openxmlformats.org/officeDocument/2006/relationships/notesSlide" Target="/ppt/notesSlides/notesSlide11.xml" Id="Rd6d60206974342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307e8591fb4880" /><Relationship Type="http://schemas.openxmlformats.org/officeDocument/2006/relationships/notesSlide" Target="/ppt/notesSlides/notesSlide12.xml" Id="Rfaf16de8c63640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a9b9364d2ae483e" /><Relationship Type="http://schemas.openxmlformats.org/officeDocument/2006/relationships/notesSlide" Target="/ppt/notesSlides/notesSlide13.xml" Id="R3a9ad957d78848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b5001c3cc8b44b7" /><Relationship Type="http://schemas.openxmlformats.org/officeDocument/2006/relationships/notesSlide" Target="/ppt/notesSlides/notesSlide14.xml" Id="R4cc4e32a09b14b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9041fdaecc94025" /><Relationship Type="http://schemas.openxmlformats.org/officeDocument/2006/relationships/notesSlide" Target="/ppt/notesSlides/notesSlide15.xml" Id="R9a49d85951a947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5916179418145f5" /><Relationship Type="http://schemas.openxmlformats.org/officeDocument/2006/relationships/notesSlide" Target="/ppt/notesSlides/notesSlide16.xml" Id="R6b0f925252fa4c4e" /></Relationships>
</file>

<file path=ppt/slides/slide1.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DDB507-DCB2-4395-96E9-E0558290B6A9}"/>
              </a:ext>
            </a:extLst>
          </p:cNvPr>
          <p:cNvSpPr>
            <a:spLocks xmlns:a="http://schemas.openxmlformats.org/drawingml/2006/main" noGrp="1"/>
          </p:cNvSpPr>
          <p:nvPr/>
        </p:nvSpPr>
        <p:spPr>
          <a:xfrm xmlns:a="http://schemas.openxmlformats.org/drawingml/2006/main">
            <a:off x="8096250" y="0"/>
            <a:ext cx="4095750" cy="6858000"/>
          </a:xfrm>
          <a:prstGeom xmlns:a="http://schemas.openxmlformats.org/drawingml/2006/main" prst="rect">
            <a:avLst/>
          </a:prstGeom>
          <a:solidFill xmlns:a="http://schemas.openxmlformats.org/drawingml/2006/main">
            <a:srgbClr val="17365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8F5E08-7CDA-4A64-8F00-2DA9BB2A8637}"/>
              </a:ext>
            </a:extLst>
          </p:cNvPr>
          <p:cNvSpPr>
            <a:spLocks xmlns:a="http://schemas.openxmlformats.org/drawingml/2006/main" noGrp="1"/>
          </p:cNvSpPr>
          <p:nvPr/>
        </p:nvSpPr>
        <p:spPr>
          <a:xfrm xmlns:a="http://schemas.openxmlformats.org/drawingml/2006/main">
            <a:off x="8667750" y="0"/>
            <a:ext cx="3524250" cy="685800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92BBA1-4D6F-4CB6-9F40-33F7AF4B36B9}"/>
              </a:ext>
            </a:extLst>
          </p:cNvPr>
          <p:cNvSpPr>
            <a:spLocks xmlns:a="http://schemas.openxmlformats.org/drawingml/2006/main" noGrp="1"/>
          </p:cNvSpPr>
          <p:nvPr/>
        </p:nvSpPr>
        <p:spPr>
          <a:xfrm xmlns:a="http://schemas.openxmlformats.org/drawingml/2006/main">
            <a:off x="9572625" y="0"/>
            <a:ext cx="2619375" cy="6858000"/>
          </a:xfrm>
          <a:prstGeom xmlns:a="http://schemas.openxmlformats.org/drawingml/2006/main" prst="rect">
            <a:avLst/>
          </a:prstGeom>
          <a:solidFill xmlns:a="http://schemas.openxmlformats.org/drawingml/2006/main">
            <a:srgbClr val="1A7C8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057AD5-CA44-4E5A-AFF9-C7F69A877B37}"/>
              </a:ext>
            </a:extLst>
          </p:cNvPr>
          <p:cNvSpPr>
            <a:spLocks xmlns:a="http://schemas.openxmlformats.org/drawingml/2006/main" noGrp="1"/>
          </p:cNvSpPr>
          <p:nvPr/>
        </p:nvSpPr>
        <p:spPr>
          <a:xfrm xmlns:a="http://schemas.openxmlformats.org/drawingml/2006/main">
            <a:off x="781050" y="647700"/>
            <a:ext cx="485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BCEBE8"/>
                </a:solidFill>
              </a:defRPr>
            </a:defPPr>
          </a:lstStyle>
          <a:p xmlns:a="http://schemas.openxmlformats.org/drawingml/2006/main">
            <a:pPr>
              <a:defRPr sz="1125" b="1">
                <a:solidFill>
                  <a:srgbClr val="BCEBE8"/>
                </a:solidFill>
              </a:defRPr>
            </a:pPr>
            <a:r>
              <a:rPr sz="1125" b="1">
                <a:solidFill>
                  <a:srgbClr val="BCEBE8"/>
                </a:solidFill>
              </a:rPr>
              <a:t>PROJECT PRESENTATION</a:t>
            </a:r>
          </a:p>
        </p:txBody>
      </p:sp>
      <p:sp>
        <p:nvSpPr>
          <p:cNvPr id="5" name="">
            <a:extLst xmlns:a="http://schemas.openxmlformats.org/drawingml/2006/main">
              <a:ext uri="{FF2B5EF4-FFF2-40B4-BE49-F238E27FC236}">
                <a16:creationId xmlns:a16="http://schemas.microsoft.com/office/drawing/2014/main" id="{44AC313E-F4FF-4D37-A6C1-432F4C94AE79}"/>
              </a:ext>
            </a:extLst>
          </p:cNvPr>
          <p:cNvSpPr>
            <a:spLocks xmlns:a="http://schemas.openxmlformats.org/drawingml/2006/main" noGrp="1"/>
          </p:cNvSpPr>
          <p:nvPr/>
        </p:nvSpPr>
        <p:spPr>
          <a:xfrm xmlns:a="http://schemas.openxmlformats.org/drawingml/2006/main">
            <a:off x="781050" y="1428750"/>
            <a:ext cx="7381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525" b="1">
                <a:solidFill>
                  <a:srgbClr val="FFFFFF"/>
                </a:solidFill>
              </a:defRPr>
            </a:defPPr>
          </a:lstStyle>
          <a:p xmlns:a="http://schemas.openxmlformats.org/drawingml/2006/main">
            <a:pPr>
              <a:defRPr sz="3525" b="1">
                <a:solidFill>
                  <a:srgbClr val="FFFFFF"/>
                </a:solidFill>
              </a:defRPr>
            </a:pPr>
            <a:r>
              <a:rPr sz="3525" b="1">
                <a:solidFill>
                  <a:srgbClr val="FFFFFF"/>
                </a:solidFill>
              </a:rPr>
              <a:t>Box-Office Revenue Prediction</a:t>
            </a:r>
          </a:p>
        </p:txBody>
      </p:sp>
      <p:sp>
        <p:nvSpPr>
          <p:cNvPr id="6" name="">
            <a:extLst xmlns:a="http://schemas.openxmlformats.org/drawingml/2006/main">
              <a:ext uri="{FF2B5EF4-FFF2-40B4-BE49-F238E27FC236}">
                <a16:creationId xmlns:a16="http://schemas.microsoft.com/office/drawing/2014/main" id="{C4788646-E7B2-493F-B91B-D819777FE9F0}"/>
              </a:ext>
            </a:extLst>
          </p:cNvPr>
          <p:cNvSpPr>
            <a:spLocks xmlns:a="http://schemas.openxmlformats.org/drawingml/2006/main" noGrp="1"/>
          </p:cNvSpPr>
          <p:nvPr/>
        </p:nvSpPr>
        <p:spPr>
          <a:xfrm xmlns:a="http://schemas.openxmlformats.org/drawingml/2006/main">
            <a:off x="781050" y="28575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0">
                <a:solidFill>
                  <a:srgbClr val="BCEBE8"/>
                </a:solidFill>
              </a:defRPr>
            </a:defPPr>
          </a:lstStyle>
          <a:p xmlns:a="http://schemas.openxmlformats.org/drawingml/2006/main">
            <a:pPr>
              <a:defRPr sz="2400" b="0">
                <a:solidFill>
                  <a:srgbClr val="BCEBE8"/>
                </a:solidFill>
              </a:defRPr>
            </a:pPr>
            <a:r>
              <a:rPr sz="2400" b="0">
                <a:solidFill>
                  <a:srgbClr val="BCEBE8"/>
                </a:solidFill>
              </a:rPr>
              <a:t>Using Elastic Net Regression</a:t>
            </a:r>
          </a:p>
        </p:txBody>
      </p:sp>
      <p:sp>
        <p:nvSpPr>
          <p:cNvPr id="7" name="">
            <a:extLst xmlns:a="http://schemas.openxmlformats.org/drawingml/2006/main">
              <a:ext uri="{FF2B5EF4-FFF2-40B4-BE49-F238E27FC236}">
                <a16:creationId xmlns:a16="http://schemas.microsoft.com/office/drawing/2014/main" id="{829BB206-3C2A-4680-AC71-8C0AD424B2AB}"/>
              </a:ext>
            </a:extLst>
          </p:cNvPr>
          <p:cNvSpPr>
            <a:spLocks xmlns:a="http://schemas.openxmlformats.org/drawingml/2006/main" noGrp="1"/>
          </p:cNvSpPr>
          <p:nvPr/>
        </p:nvSpPr>
        <p:spPr>
          <a:xfrm xmlns:a="http://schemas.openxmlformats.org/drawingml/2006/main">
            <a:off x="781050" y="3905250"/>
            <a:ext cx="6191250" cy="190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48023D-9DF1-4D18-BE33-1DB56A2F7FA1}"/>
              </a:ext>
            </a:extLst>
          </p:cNvPr>
          <p:cNvSpPr>
            <a:spLocks xmlns:a="http://schemas.openxmlformats.org/drawingml/2006/main" noGrp="1"/>
          </p:cNvSpPr>
          <p:nvPr/>
        </p:nvSpPr>
        <p:spPr>
          <a:xfrm xmlns:a="http://schemas.openxmlformats.org/drawingml/2006/main">
            <a:off x="781050" y="4143375"/>
            <a:ext cx="619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FFFFFF"/>
                </a:solidFill>
              </a:defRPr>
            </a:defPPr>
          </a:lstStyle>
          <a:p xmlns:a="http://schemas.openxmlformats.org/drawingml/2006/main">
            <a:pPr>
              <a:defRPr sz="1575" b="0">
                <a:solidFill>
                  <a:srgbClr val="FFFFFF"/>
                </a:solidFill>
              </a:defRPr>
            </a:pPr>
            <a:r>
              <a:rPr sz="1575" b="0">
                <a:solidFill>
                  <a:srgbClr val="FFFFFF"/>
                </a:solidFill>
              </a:rPr>
              <a:t>Movie analytics, DSA search, and revenue estimation</a:t>
            </a:r>
          </a:p>
        </p:txBody>
      </p:sp>
      <p:sp>
        <p:nvSpPr>
          <p:cNvPr id="9" name="">
            <a:extLst xmlns:a="http://schemas.openxmlformats.org/drawingml/2006/main">
              <a:ext uri="{FF2B5EF4-FFF2-40B4-BE49-F238E27FC236}">
                <a16:creationId xmlns:a16="http://schemas.microsoft.com/office/drawing/2014/main" id="{E7E7DC76-F8A3-4818-9218-A5E9D993A2B7}"/>
              </a:ext>
            </a:extLst>
          </p:cNvPr>
          <p:cNvSpPr>
            <a:spLocks xmlns:a="http://schemas.openxmlformats.org/drawingml/2006/main" noGrp="1"/>
          </p:cNvSpPr>
          <p:nvPr/>
        </p:nvSpPr>
        <p:spPr>
          <a:xfrm xmlns:a="http://schemas.openxmlformats.org/drawingml/2006/main">
            <a:off x="781050" y="5191125"/>
            <a:ext cx="704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D6E3EB"/>
                </a:solidFill>
              </a:defRPr>
            </a:defPPr>
          </a:lstStyle>
          <a:p xmlns:a="http://schemas.openxmlformats.org/drawingml/2006/main">
            <a:pPr>
              <a:defRPr sz="1050" b="0">
                <a:solidFill>
                  <a:srgbClr val="D6E3EB"/>
                </a:solidFill>
              </a:defRPr>
            </a:pPr>
            <a:r>
              <a:rPr sz="1050" b="0">
                <a:solidFill>
                  <a:srgbClr val="D6E3EB"/>
                </a:solidFill>
              </a:rPr>
              <a:t>Members: SUDANI GOPALA KRISHNA SRINIVASA RAO (2520080032) — AIDS</a:t>
            </a:r>
          </a:p>
          <a:p xmlns:a="http://schemas.openxmlformats.org/drawingml/2006/main">
            <a:pPr>
              <a:defRPr sz="1050" b="0">
                <a:solidFill>
                  <a:srgbClr val="D6E3EB"/>
                </a:solidFill>
              </a:defRPr>
            </a:pPr>
            <a:r>
              <a:rPr sz="1050" b="0">
                <a:solidFill>
                  <a:srgbClr val="D6E3EB"/>
                </a:solidFill>
              </a:rPr>
              <a:t>Shanmukha Sagar (2520090050) — CSIT</a:t>
            </a:r>
          </a:p>
          <a:p xmlns:a="http://schemas.openxmlformats.org/drawingml/2006/main">
            <a:pPr>
              <a:defRPr sz="1050" b="0">
                <a:solidFill>
                  <a:srgbClr val="D6E3EB"/>
                </a:solidFill>
              </a:defRPr>
            </a:pPr>
            <a:r>
              <a:rPr sz="1050" b="0">
                <a:solidFill>
                  <a:srgbClr val="D6E3EB"/>
                </a:solidFill>
              </a:rPr>
              <a:t>Guide: [Supervisor]</a:t>
            </a:r>
          </a:p>
          <a:p xmlns:a="http://schemas.openxmlformats.org/drawingml/2006/main">
            <a:pPr>
              <a:defRPr sz="1050" b="0">
                <a:solidFill>
                  <a:srgbClr val="D6E3EB"/>
                </a:solidFill>
              </a:defRPr>
            </a:pPr>
            <a:r>
              <a:rPr sz="1050" b="0">
                <a:solidFill>
                  <a:srgbClr val="D6E3EB"/>
                </a:solidFill>
              </a:rPr>
              <a:t>[College / University]  |  Academic year: [Year]</a:t>
            </a:r>
          </a:p>
        </p:txBody>
      </p:sp>
      <p:sp>
        <p:nvSpPr>
          <p:cNvPr id="10" name="">
            <a:extLst xmlns:a="http://schemas.openxmlformats.org/drawingml/2006/main">
              <a:ext uri="{FF2B5EF4-FFF2-40B4-BE49-F238E27FC236}">
                <a16:creationId xmlns:a16="http://schemas.microsoft.com/office/drawing/2014/main" id="{A958745A-2D6B-4891-BB89-E535BC42AB3E}"/>
              </a:ext>
            </a:extLst>
          </p:cNvPr>
          <p:cNvSpPr>
            <a:spLocks xmlns:a="http://schemas.openxmlformats.org/drawingml/2006/main" noGrp="1"/>
          </p:cNvSpPr>
          <p:nvPr/>
        </p:nvSpPr>
        <p:spPr>
          <a:xfrm xmlns:a="http://schemas.openxmlformats.org/drawingml/2006/main">
            <a:off x="10477500" y="628650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FFFFFF"/>
                </a:solidFill>
              </a:defRPr>
            </a:defPPr>
          </a:lstStyle>
          <a:p xmlns:a="http://schemas.openxmlformats.org/drawingml/2006/main">
            <a:pPr algn="r">
              <a:defRPr sz="1050" b="1">
                <a:solidFill>
                  <a:srgbClr val="FFFFFF"/>
                </a:solidFill>
              </a:defRPr>
            </a:pPr>
            <a:r>
              <a:rPr sz="1050" b="1">
                <a:solidFill>
                  <a:srgbClr val="FFFFFF"/>
                </a:solidFill>
              </a:rPr>
              <a:t>PROJECT</a:t>
            </a:r>
          </a:p>
        </p:txBody>
      </p:sp>
    </p:spTree>
    <p:extLst>
      <p:ext uri="{BB962C8B-B14F-4D97-AF65-F5344CB8AC3E}">
        <p14:creationId xmlns:p14="http://schemas.microsoft.com/office/powerpoint/2010/main" val="49074688"/>
      </p:ext>
    </p:extLst>
  </p:cSld>
</p:sld>
</file>

<file path=ppt/slides/slide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B543AE4-3B50-4F0D-8D43-98CA7E75024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EEB931-1B12-4E52-9888-A2331481B520}"/>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2A5B59A0-FBFC-47FE-910D-A4BAB9086E11}"/>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Introduction</a:t>
            </a:r>
          </a:p>
        </p:txBody>
      </p:sp>
      <p:sp>
        <p:nvSpPr>
          <p:cNvPr id="4" name="">
            <a:extLst xmlns:a="http://schemas.openxmlformats.org/drawingml/2006/main">
              <a:ext uri="{FF2B5EF4-FFF2-40B4-BE49-F238E27FC236}">
                <a16:creationId xmlns:a16="http://schemas.microsoft.com/office/drawing/2014/main" id="{1D2D6CD6-A56F-4CA8-AF99-6321A487D302}"/>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52CC93F-9672-468F-A86D-1220CBAEC6CA}"/>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04955B17-7F4A-474A-894F-120FB114A44E}"/>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02</a:t>
            </a:r>
          </a:p>
        </p:txBody>
      </p:sp>
      <p:sp>
        <p:nvSpPr>
          <p:cNvPr id="7" name="">
            <a:extLst xmlns:a="http://schemas.openxmlformats.org/drawingml/2006/main">
              <a:ext uri="{FF2B5EF4-FFF2-40B4-BE49-F238E27FC236}">
                <a16:creationId xmlns:a16="http://schemas.microsoft.com/office/drawing/2014/main" id="{2213086F-37CF-42DE-BA59-7AE3E9D4903B}"/>
              </a:ext>
            </a:extLst>
          </p:cNvPr>
          <p:cNvSpPr>
            <a:spLocks xmlns:a="http://schemas.openxmlformats.org/drawingml/2006/main" noGrp="1"/>
          </p:cNvSpPr>
          <p:nvPr/>
        </p:nvSpPr>
        <p:spPr>
          <a:xfrm xmlns:a="http://schemas.openxmlformats.org/drawingml/2006/main">
            <a:off x="685800" y="161925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0243A"/>
                </a:solidFill>
              </a:defRPr>
            </a:defPPr>
          </a:lstStyle>
          <a:p xmlns:a="http://schemas.openxmlformats.org/drawingml/2006/main">
            <a:pPr>
              <a:defRPr sz="1875" b="1">
                <a:solidFill>
                  <a:srgbClr val="10243A"/>
                </a:solidFill>
              </a:defRPr>
            </a:pPr>
            <a:r>
              <a:rPr sz="1875" b="1">
                <a:solidFill>
                  <a:srgbClr val="10243A"/>
                </a:solidFill>
              </a:rPr>
              <a:t>Movie decisions depend on uncertain outcomes</a:t>
            </a:r>
          </a:p>
        </p:txBody>
      </p:sp>
      <p:sp>
        <p:nvSpPr>
          <p:cNvPr id="8" name="">
            <a:extLst xmlns:a="http://schemas.openxmlformats.org/drawingml/2006/main">
              <a:ext uri="{FF2B5EF4-FFF2-40B4-BE49-F238E27FC236}">
                <a16:creationId xmlns:a16="http://schemas.microsoft.com/office/drawing/2014/main" id="{7E392358-A8FB-4EDD-8112-7946574E7E34}"/>
              </a:ext>
            </a:extLst>
          </p:cNvPr>
          <p:cNvSpPr>
            <a:spLocks xmlns:a="http://schemas.openxmlformats.org/drawingml/2006/main" noGrp="1"/>
          </p:cNvSpPr>
          <p:nvPr/>
        </p:nvSpPr>
        <p:spPr>
          <a:xfrm xmlns:a="http://schemas.openxmlformats.org/drawingml/2006/main">
            <a:off x="685800" y="2143125"/>
            <a:ext cx="4953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72B3D"/>
                </a:solidFill>
              </a:defRPr>
            </a:defPPr>
          </a:lstStyle>
          <a:p xmlns:a="http://schemas.openxmlformats.org/drawingml/2006/main">
            <a:pPr>
              <a:defRPr sz="1500" b="0">
                <a:solidFill>
                  <a:srgbClr val="172B3D"/>
                </a:solidFill>
              </a:defRPr>
            </a:pPr>
            <a:r>
              <a:rPr sz="1500" b="0">
                <a:solidFill>
                  <a:srgbClr val="172B3D"/>
                </a:solidFill>
              </a:rPr>
              <a:t>Studios and distributors must compare titles, audiences, and release history while planning marketing and distribution. A searchable catalogue and a data-based revenue estimate can support that analysis.</a:t>
            </a:r>
          </a:p>
        </p:txBody>
      </p:sp>
      <p:sp>
        <p:nvSpPr>
          <p:cNvPr id="9" name="">
            <a:extLst xmlns:a="http://schemas.openxmlformats.org/drawingml/2006/main">
              <a:ext uri="{FF2B5EF4-FFF2-40B4-BE49-F238E27FC236}">
                <a16:creationId xmlns:a16="http://schemas.microsoft.com/office/drawing/2014/main" id="{8689AA39-897F-46EE-BCA7-8AB53B99B424}"/>
              </a:ext>
            </a:extLst>
          </p:cNvPr>
          <p:cNvSpPr>
            <a:spLocks xmlns:a="http://schemas.openxmlformats.org/drawingml/2006/main" noGrp="1"/>
          </p:cNvSpPr>
          <p:nvPr/>
        </p:nvSpPr>
        <p:spPr>
          <a:xfrm xmlns:a="http://schemas.openxmlformats.org/drawingml/2006/main">
            <a:off x="6286500" y="1714500"/>
            <a:ext cx="5143500" cy="3429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D8E2E8"/>
            </a:solidFill>
            <a:prstDash val="solid"/>
          </a:ln>
        </p:spPr>
      </p:sp>
      <p:sp>
        <p:nvSpPr>
          <p:cNvPr id="10" name="">
            <a:extLst xmlns:a="http://schemas.openxmlformats.org/drawingml/2006/main">
              <a:ext uri="{FF2B5EF4-FFF2-40B4-BE49-F238E27FC236}">
                <a16:creationId xmlns:a16="http://schemas.microsoft.com/office/drawing/2014/main" id="{569855C7-CCAF-437B-B7C3-D905327D622C}"/>
              </a:ext>
            </a:extLst>
          </p:cNvPr>
          <p:cNvSpPr>
            <a:spLocks xmlns:a="http://schemas.openxmlformats.org/drawingml/2006/main" noGrp="1"/>
          </p:cNvSpPr>
          <p:nvPr/>
        </p:nvSpPr>
        <p:spPr>
          <a:xfrm xmlns:a="http://schemas.openxmlformats.org/drawingml/2006/main">
            <a:off x="6667500" y="2047875"/>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16A6A1"/>
                </a:solidFill>
              </a:defRPr>
            </a:defPPr>
          </a:lstStyle>
          <a:p xmlns:a="http://schemas.openxmlformats.org/drawingml/2006/main">
            <a:pPr>
              <a:defRPr sz="1125" b="1">
                <a:solidFill>
                  <a:srgbClr val="16A6A1"/>
                </a:solidFill>
              </a:defRPr>
            </a:pPr>
            <a:r>
              <a:rPr sz="1125" b="1">
                <a:solidFill>
                  <a:srgbClr val="16A6A1"/>
                </a:solidFill>
              </a:rPr>
              <a:t>PROJECT IN ONE VIEW</a:t>
            </a:r>
          </a:p>
        </p:txBody>
      </p:sp>
      <p:sp>
        <p:nvSpPr>
          <p:cNvPr id="11" name="">
            <a:extLst xmlns:a="http://schemas.openxmlformats.org/drawingml/2006/main">
              <a:ext uri="{FF2B5EF4-FFF2-40B4-BE49-F238E27FC236}">
                <a16:creationId xmlns:a16="http://schemas.microsoft.com/office/drawing/2014/main" id="{ED023A95-8532-497F-B3AD-9C9F2F1B519D}"/>
              </a:ext>
            </a:extLst>
          </p:cNvPr>
          <p:cNvSpPr>
            <a:spLocks xmlns:a="http://schemas.openxmlformats.org/drawingml/2006/main" noGrp="1"/>
          </p:cNvSpPr>
          <p:nvPr/>
        </p:nvSpPr>
        <p:spPr>
          <a:xfrm xmlns:a="http://schemas.openxmlformats.org/drawingml/2006/main">
            <a:off x="6667500" y="26479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B7A082-A168-4CF7-B859-97A2157EE0F7}"/>
              </a:ext>
            </a:extLst>
          </p:cNvPr>
          <p:cNvSpPr>
            <a:spLocks xmlns:a="http://schemas.openxmlformats.org/drawingml/2006/main" noGrp="1"/>
          </p:cNvSpPr>
          <p:nvPr/>
        </p:nvSpPr>
        <p:spPr>
          <a:xfrm xmlns:a="http://schemas.openxmlformats.org/drawingml/2006/main">
            <a:off x="6877050" y="2571750"/>
            <a:ext cx="38862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Explore a 5,000-title movie dataset</a:t>
            </a:r>
          </a:p>
        </p:txBody>
      </p:sp>
      <p:sp>
        <p:nvSpPr>
          <p:cNvPr id="13" name="">
            <a:extLst xmlns:a="http://schemas.openxmlformats.org/drawingml/2006/main">
              <a:ext uri="{FF2B5EF4-FFF2-40B4-BE49-F238E27FC236}">
                <a16:creationId xmlns:a16="http://schemas.microsoft.com/office/drawing/2014/main" id="{38524B53-7CCA-4F41-9F36-E2264AC0C483}"/>
              </a:ext>
            </a:extLst>
          </p:cNvPr>
          <p:cNvSpPr>
            <a:spLocks xmlns:a="http://schemas.openxmlformats.org/drawingml/2006/main" noGrp="1"/>
          </p:cNvSpPr>
          <p:nvPr/>
        </p:nvSpPr>
        <p:spPr>
          <a:xfrm xmlns:a="http://schemas.openxmlformats.org/drawingml/2006/main">
            <a:off x="6667500" y="3171825"/>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2A1A2DB-BD84-4CFD-B485-4C2E96AB1B7D}"/>
              </a:ext>
            </a:extLst>
          </p:cNvPr>
          <p:cNvSpPr>
            <a:spLocks xmlns:a="http://schemas.openxmlformats.org/drawingml/2006/main" noGrp="1"/>
          </p:cNvSpPr>
          <p:nvPr/>
        </p:nvSpPr>
        <p:spPr>
          <a:xfrm xmlns:a="http://schemas.openxmlformats.org/drawingml/2006/main">
            <a:off x="6877050" y="3095625"/>
            <a:ext cx="38862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Search titles with exact and fuzzy matching</a:t>
            </a:r>
          </a:p>
        </p:txBody>
      </p:sp>
      <p:sp>
        <p:nvSpPr>
          <p:cNvPr id="15" name="">
            <a:extLst xmlns:a="http://schemas.openxmlformats.org/drawingml/2006/main">
              <a:ext uri="{FF2B5EF4-FFF2-40B4-BE49-F238E27FC236}">
                <a16:creationId xmlns:a16="http://schemas.microsoft.com/office/drawing/2014/main" id="{599E0670-9AEC-4763-82B8-FDFBCDA4312B}"/>
              </a:ext>
            </a:extLst>
          </p:cNvPr>
          <p:cNvSpPr>
            <a:spLocks xmlns:a="http://schemas.openxmlformats.org/drawingml/2006/main" noGrp="1"/>
          </p:cNvSpPr>
          <p:nvPr/>
        </p:nvSpPr>
        <p:spPr>
          <a:xfrm xmlns:a="http://schemas.openxmlformats.org/drawingml/2006/main">
            <a:off x="6667500" y="36957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3287133-02AD-49EE-9AF8-5EE4A75AFF7C}"/>
              </a:ext>
            </a:extLst>
          </p:cNvPr>
          <p:cNvSpPr>
            <a:spLocks xmlns:a="http://schemas.openxmlformats.org/drawingml/2006/main" noGrp="1"/>
          </p:cNvSpPr>
          <p:nvPr/>
        </p:nvSpPr>
        <p:spPr>
          <a:xfrm xmlns:a="http://schemas.openxmlformats.org/drawingml/2006/main">
            <a:off x="6877050" y="3619500"/>
            <a:ext cx="38862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Estimate worldwide gross with Elastic Net</a:t>
            </a:r>
          </a:p>
        </p:txBody>
      </p:sp>
      <p:sp>
        <p:nvSpPr>
          <p:cNvPr id="17" name="">
            <a:extLst xmlns:a="http://schemas.openxmlformats.org/drawingml/2006/main">
              <a:ext uri="{FF2B5EF4-FFF2-40B4-BE49-F238E27FC236}">
                <a16:creationId xmlns:a16="http://schemas.microsoft.com/office/drawing/2014/main" id="{B52A58DF-8823-4C9F-8191-D762121AEDEB}"/>
              </a:ext>
            </a:extLst>
          </p:cNvPr>
          <p:cNvSpPr>
            <a:spLocks xmlns:a="http://schemas.openxmlformats.org/drawingml/2006/main" noGrp="1"/>
          </p:cNvSpPr>
          <p:nvPr/>
        </p:nvSpPr>
        <p:spPr>
          <a:xfrm xmlns:a="http://schemas.openxmlformats.org/drawingml/2006/main">
            <a:off x="6667500" y="4219575"/>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3DC3E6-BFB2-460F-A91B-A6E749262281}"/>
              </a:ext>
            </a:extLst>
          </p:cNvPr>
          <p:cNvSpPr>
            <a:spLocks xmlns:a="http://schemas.openxmlformats.org/drawingml/2006/main" noGrp="1"/>
          </p:cNvSpPr>
          <p:nvPr/>
        </p:nvSpPr>
        <p:spPr>
          <a:xfrm xmlns:a="http://schemas.openxmlformats.org/drawingml/2006/main">
            <a:off x="6877050" y="4143375"/>
            <a:ext cx="38862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Recommend related movies from metadata</a:t>
            </a:r>
          </a:p>
        </p:txBody>
      </p:sp>
    </p:spTree>
    <p:extLst>
      <p:ext uri="{BB962C8B-B14F-4D97-AF65-F5344CB8AC3E}">
        <p14:creationId xmlns:p14="http://schemas.microsoft.com/office/powerpoint/2010/main" val="1707550247"/>
      </p:ext>
    </p:extLst>
  </p:cSld>
</p:sld>
</file>

<file path=ppt/slides/slide3.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868EFBE-53FA-41F6-A55C-953F3FCC994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1F1DB4-1115-450B-91C3-E67247A226AF}"/>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17E7C202-76A6-40CA-9FE5-48C9600A5F55}"/>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Problem Statement</a:t>
            </a:r>
          </a:p>
        </p:txBody>
      </p:sp>
      <p:sp>
        <p:nvSpPr>
          <p:cNvPr id="4" name="">
            <a:extLst xmlns:a="http://schemas.openxmlformats.org/drawingml/2006/main">
              <a:ext uri="{FF2B5EF4-FFF2-40B4-BE49-F238E27FC236}">
                <a16:creationId xmlns:a16="http://schemas.microsoft.com/office/drawing/2014/main" id="{4D5CA8EF-628F-40B0-B969-A9EF4BEAFBA1}"/>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DA5DCF-8EE9-4782-90D1-951F4F6F3D1E}"/>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59C112A7-3982-4148-8A0D-3B215D52D38B}"/>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03</a:t>
            </a:r>
          </a:p>
        </p:txBody>
      </p:sp>
      <p:sp>
        <p:nvSpPr>
          <p:cNvPr id="7" name="">
            <a:extLst xmlns:a="http://schemas.openxmlformats.org/drawingml/2006/main">
              <a:ext uri="{FF2B5EF4-FFF2-40B4-BE49-F238E27FC236}">
                <a16:creationId xmlns:a16="http://schemas.microsoft.com/office/drawing/2014/main" id="{EEA941AC-C4B7-48C9-84FD-7E103E481787}"/>
              </a:ext>
            </a:extLst>
          </p:cNvPr>
          <p:cNvSpPr>
            <a:spLocks xmlns:a="http://schemas.openxmlformats.org/drawingml/2006/main" noGrp="1"/>
          </p:cNvSpPr>
          <p:nvPr/>
        </p:nvSpPr>
        <p:spPr>
          <a:xfrm xmlns:a="http://schemas.openxmlformats.org/drawingml/2006/main">
            <a:off x="685800" y="1666875"/>
            <a:ext cx="10820400" cy="1238250"/>
          </a:xfrm>
          <a:prstGeom xmlns:a="http://schemas.openxmlformats.org/drawingml/2006/main" prst="roundRect">
            <a:avLst>
              <a:gd name="adj" fmla="val 9231"/>
            </a:avLst>
          </a:prstGeom>
          <a:solidFill xmlns:a="http://schemas.openxmlformats.org/drawingml/2006/main">
            <a:srgbClr val="1024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7F2C385-9930-4AB0-8337-B1B462828F43}"/>
              </a:ext>
            </a:extLst>
          </p:cNvPr>
          <p:cNvSpPr>
            <a:spLocks xmlns:a="http://schemas.openxmlformats.org/drawingml/2006/main" noGrp="1"/>
          </p:cNvSpPr>
          <p:nvPr/>
        </p:nvSpPr>
        <p:spPr>
          <a:xfrm xmlns:a="http://schemas.openxmlformats.org/drawingml/2006/main">
            <a:off x="990600" y="1885950"/>
            <a:ext cx="10172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FFFFF"/>
                </a:solidFill>
              </a:defRPr>
            </a:defPPr>
          </a:lstStyle>
          <a:p xmlns:a="http://schemas.openxmlformats.org/drawingml/2006/main">
            <a:pPr>
              <a:defRPr sz="1875" b="1">
                <a:solidFill>
                  <a:srgbClr val="FFFFFF"/>
                </a:solidFill>
              </a:defRPr>
            </a:pPr>
            <a:r>
              <a:rPr sz="1875" b="1">
                <a:solidFill>
                  <a:srgbClr val="FFFFFF"/>
                </a:solidFill>
              </a:rPr>
              <a:t>How can an analyst quickly explore movie history and estimate worldwide box office from the fields available in the project dataset?</a:t>
            </a:r>
          </a:p>
        </p:txBody>
      </p:sp>
      <p:sp>
        <p:nvSpPr>
          <p:cNvPr id="9" name="">
            <a:extLst xmlns:a="http://schemas.openxmlformats.org/drawingml/2006/main">
              <a:ext uri="{FF2B5EF4-FFF2-40B4-BE49-F238E27FC236}">
                <a16:creationId xmlns:a16="http://schemas.microsoft.com/office/drawing/2014/main" id="{F60CD0EC-80F4-4E8E-B89E-8CAFEDB58010}"/>
              </a:ext>
            </a:extLst>
          </p:cNvPr>
          <p:cNvSpPr>
            <a:spLocks xmlns:a="http://schemas.openxmlformats.org/drawingml/2006/main" noGrp="1"/>
          </p:cNvSpPr>
          <p:nvPr/>
        </p:nvSpPr>
        <p:spPr>
          <a:xfrm xmlns:a="http://schemas.openxmlformats.org/drawingml/2006/main">
            <a:off x="762000" y="32385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16A6A1"/>
                </a:solidFill>
              </a:defRPr>
            </a:defPPr>
          </a:lstStyle>
          <a:p xmlns:a="http://schemas.openxmlformats.org/drawingml/2006/main">
            <a:pPr>
              <a:defRPr sz="1125" b="1">
                <a:solidFill>
                  <a:srgbClr val="16A6A1"/>
                </a:solidFill>
              </a:defRPr>
            </a:pPr>
            <a:r>
              <a:rPr sz="1125" b="1">
                <a:solidFill>
                  <a:srgbClr val="16A6A1"/>
                </a:solidFill>
              </a:rPr>
              <a:t>CURRENT CHALLENGES</a:t>
            </a:r>
          </a:p>
        </p:txBody>
      </p:sp>
      <p:sp>
        <p:nvSpPr>
          <p:cNvPr id="10" name="">
            <a:extLst xmlns:a="http://schemas.openxmlformats.org/drawingml/2006/main">
              <a:ext uri="{FF2B5EF4-FFF2-40B4-BE49-F238E27FC236}">
                <a16:creationId xmlns:a16="http://schemas.microsoft.com/office/drawing/2014/main" id="{E028900B-A61E-4C8D-8A0C-69D0FDF71F97}"/>
              </a:ext>
            </a:extLst>
          </p:cNvPr>
          <p:cNvSpPr>
            <a:spLocks xmlns:a="http://schemas.openxmlformats.org/drawingml/2006/main" noGrp="1"/>
          </p:cNvSpPr>
          <p:nvPr/>
        </p:nvSpPr>
        <p:spPr>
          <a:xfrm xmlns:a="http://schemas.openxmlformats.org/drawingml/2006/main">
            <a:off x="762000" y="37719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86E9B12-4A0B-41F1-B18D-E1366CEFE3C8}"/>
              </a:ext>
            </a:extLst>
          </p:cNvPr>
          <p:cNvSpPr>
            <a:spLocks xmlns:a="http://schemas.openxmlformats.org/drawingml/2006/main" noGrp="1"/>
          </p:cNvSpPr>
          <p:nvPr/>
        </p:nvSpPr>
        <p:spPr>
          <a:xfrm xmlns:a="http://schemas.openxmlformats.org/drawingml/2006/main">
            <a:off x="971550" y="36957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Catalogue search can miss misspelled titles</a:t>
            </a:r>
          </a:p>
        </p:txBody>
      </p:sp>
      <p:sp>
        <p:nvSpPr>
          <p:cNvPr id="12" name="">
            <a:extLst xmlns:a="http://schemas.openxmlformats.org/drawingml/2006/main">
              <a:ext uri="{FF2B5EF4-FFF2-40B4-BE49-F238E27FC236}">
                <a16:creationId xmlns:a16="http://schemas.microsoft.com/office/drawing/2014/main" id="{BEC10D3E-9666-4CA0-B7F4-4FB9CB0C5DFB}"/>
              </a:ext>
            </a:extLst>
          </p:cNvPr>
          <p:cNvSpPr>
            <a:spLocks xmlns:a="http://schemas.openxmlformats.org/drawingml/2006/main" noGrp="1"/>
          </p:cNvSpPr>
          <p:nvPr/>
        </p:nvSpPr>
        <p:spPr>
          <a:xfrm xmlns:a="http://schemas.openxmlformats.org/drawingml/2006/main">
            <a:off x="762000" y="43434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E22485-9CC0-47C2-A90A-F5A1F2AC8EE8}"/>
              </a:ext>
            </a:extLst>
          </p:cNvPr>
          <p:cNvSpPr>
            <a:spLocks xmlns:a="http://schemas.openxmlformats.org/drawingml/2006/main" noGrp="1"/>
          </p:cNvSpPr>
          <p:nvPr/>
        </p:nvSpPr>
        <p:spPr>
          <a:xfrm xmlns:a="http://schemas.openxmlformats.org/drawingml/2006/main">
            <a:off x="971550" y="42672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Revenue is shaped by several correlated factors</a:t>
            </a:r>
          </a:p>
        </p:txBody>
      </p:sp>
      <p:sp>
        <p:nvSpPr>
          <p:cNvPr id="14" name="">
            <a:extLst xmlns:a="http://schemas.openxmlformats.org/drawingml/2006/main">
              <a:ext uri="{FF2B5EF4-FFF2-40B4-BE49-F238E27FC236}">
                <a16:creationId xmlns:a16="http://schemas.microsoft.com/office/drawing/2014/main" id="{ECB4C0A4-B1AF-493C-BF1C-6D3008C344E2}"/>
              </a:ext>
            </a:extLst>
          </p:cNvPr>
          <p:cNvSpPr>
            <a:spLocks xmlns:a="http://schemas.openxmlformats.org/drawingml/2006/main" noGrp="1"/>
          </p:cNvSpPr>
          <p:nvPr/>
        </p:nvSpPr>
        <p:spPr>
          <a:xfrm xmlns:a="http://schemas.openxmlformats.org/drawingml/2006/main">
            <a:off x="762000" y="49149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9DBED96-046A-4EC8-9120-CF156600C124}"/>
              </a:ext>
            </a:extLst>
          </p:cNvPr>
          <p:cNvSpPr>
            <a:spLocks xmlns:a="http://schemas.openxmlformats.org/drawingml/2006/main" noGrp="1"/>
          </p:cNvSpPr>
          <p:nvPr/>
        </p:nvSpPr>
        <p:spPr>
          <a:xfrm xmlns:a="http://schemas.openxmlformats.org/drawingml/2006/main">
            <a:off x="971550" y="48387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Basic lookup does not surface related titles</a:t>
            </a:r>
          </a:p>
        </p:txBody>
      </p:sp>
      <p:sp>
        <p:nvSpPr>
          <p:cNvPr id="16" name="">
            <a:extLst xmlns:a="http://schemas.openxmlformats.org/drawingml/2006/main">
              <a:ext uri="{FF2B5EF4-FFF2-40B4-BE49-F238E27FC236}">
                <a16:creationId xmlns:a16="http://schemas.microsoft.com/office/drawing/2014/main" id="{D5A14847-3319-4D7C-A929-DA56C7E97AFB}"/>
              </a:ext>
            </a:extLst>
          </p:cNvPr>
          <p:cNvSpPr>
            <a:spLocks xmlns:a="http://schemas.openxmlformats.org/drawingml/2006/main" noGrp="1"/>
          </p:cNvSpPr>
          <p:nvPr/>
        </p:nvSpPr>
        <p:spPr>
          <a:xfrm xmlns:a="http://schemas.openxmlformats.org/drawingml/2006/main">
            <a:off x="6334125" y="32385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16A6A1"/>
                </a:solidFill>
              </a:defRPr>
            </a:defPPr>
          </a:lstStyle>
          <a:p xmlns:a="http://schemas.openxmlformats.org/drawingml/2006/main">
            <a:pPr>
              <a:defRPr sz="1125" b="1">
                <a:solidFill>
                  <a:srgbClr val="16A6A1"/>
                </a:solidFill>
              </a:defRPr>
            </a:pPr>
            <a:r>
              <a:rPr sz="1125" b="1">
                <a:solidFill>
                  <a:srgbClr val="16A6A1"/>
                </a:solidFill>
              </a:rPr>
              <a:t>WHO BENEFITS</a:t>
            </a:r>
          </a:p>
        </p:txBody>
      </p:sp>
      <p:sp>
        <p:nvSpPr>
          <p:cNvPr id="17" name="">
            <a:extLst xmlns:a="http://schemas.openxmlformats.org/drawingml/2006/main">
              <a:ext uri="{FF2B5EF4-FFF2-40B4-BE49-F238E27FC236}">
                <a16:creationId xmlns:a16="http://schemas.microsoft.com/office/drawing/2014/main" id="{1B0A3BF3-7630-41B3-9F47-FD02CBC4F728}"/>
              </a:ext>
            </a:extLst>
          </p:cNvPr>
          <p:cNvSpPr>
            <a:spLocks xmlns:a="http://schemas.openxmlformats.org/drawingml/2006/main" noGrp="1"/>
          </p:cNvSpPr>
          <p:nvPr/>
        </p:nvSpPr>
        <p:spPr>
          <a:xfrm xmlns:a="http://schemas.openxmlformats.org/drawingml/2006/main">
            <a:off x="6334125" y="37719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C532899-B0A5-4D62-81F0-D8EBE4D8E4A1}"/>
              </a:ext>
            </a:extLst>
          </p:cNvPr>
          <p:cNvSpPr>
            <a:spLocks xmlns:a="http://schemas.openxmlformats.org/drawingml/2006/main" noGrp="1"/>
          </p:cNvSpPr>
          <p:nvPr/>
        </p:nvSpPr>
        <p:spPr>
          <a:xfrm xmlns:a="http://schemas.openxmlformats.org/drawingml/2006/main">
            <a:off x="6543675" y="36957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Students learning applied ML and DSA</a:t>
            </a:r>
          </a:p>
        </p:txBody>
      </p:sp>
      <p:sp>
        <p:nvSpPr>
          <p:cNvPr id="19" name="">
            <a:extLst xmlns:a="http://schemas.openxmlformats.org/drawingml/2006/main">
              <a:ext uri="{FF2B5EF4-FFF2-40B4-BE49-F238E27FC236}">
                <a16:creationId xmlns:a16="http://schemas.microsoft.com/office/drawing/2014/main" id="{6C4CF243-27CA-41C4-AEDC-DBE6377E6DA9}"/>
              </a:ext>
            </a:extLst>
          </p:cNvPr>
          <p:cNvSpPr>
            <a:spLocks xmlns:a="http://schemas.openxmlformats.org/drawingml/2006/main" noGrp="1"/>
          </p:cNvSpPr>
          <p:nvPr/>
        </p:nvSpPr>
        <p:spPr>
          <a:xfrm xmlns:a="http://schemas.openxmlformats.org/drawingml/2006/main">
            <a:off x="6334125" y="43434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97D2413-F787-4821-97F0-5BEC1BAAFA03}"/>
              </a:ext>
            </a:extLst>
          </p:cNvPr>
          <p:cNvSpPr>
            <a:spLocks xmlns:a="http://schemas.openxmlformats.org/drawingml/2006/main" noGrp="1"/>
          </p:cNvSpPr>
          <p:nvPr/>
        </p:nvSpPr>
        <p:spPr>
          <a:xfrm xmlns:a="http://schemas.openxmlformats.org/drawingml/2006/main">
            <a:off x="6543675" y="42672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Analysts exploring historical film performance</a:t>
            </a:r>
          </a:p>
        </p:txBody>
      </p:sp>
      <p:sp>
        <p:nvSpPr>
          <p:cNvPr id="21" name="">
            <a:extLst xmlns:a="http://schemas.openxmlformats.org/drawingml/2006/main">
              <a:ext uri="{FF2B5EF4-FFF2-40B4-BE49-F238E27FC236}">
                <a16:creationId xmlns:a16="http://schemas.microsoft.com/office/drawing/2014/main" id="{CB5B1D56-2FDE-4CBB-B2BB-50C818B1F58C}"/>
              </a:ext>
            </a:extLst>
          </p:cNvPr>
          <p:cNvSpPr>
            <a:spLocks xmlns:a="http://schemas.openxmlformats.org/drawingml/2006/main" noGrp="1"/>
          </p:cNvSpPr>
          <p:nvPr/>
        </p:nvSpPr>
        <p:spPr>
          <a:xfrm xmlns:a="http://schemas.openxmlformats.org/drawingml/2006/main">
            <a:off x="6334125" y="49149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2BA6C39-4EF7-4436-9C06-4022201361F8}"/>
              </a:ext>
            </a:extLst>
          </p:cNvPr>
          <p:cNvSpPr>
            <a:spLocks xmlns:a="http://schemas.openxmlformats.org/drawingml/2006/main" noGrp="1"/>
          </p:cNvSpPr>
          <p:nvPr/>
        </p:nvSpPr>
        <p:spPr>
          <a:xfrm xmlns:a="http://schemas.openxmlformats.org/drawingml/2006/main">
            <a:off x="6543675" y="48387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72B3D"/>
                </a:solidFill>
              </a:defRPr>
            </a:defPPr>
          </a:lstStyle>
          <a:p xmlns:a="http://schemas.openxmlformats.org/drawingml/2006/main">
            <a:pPr>
              <a:defRPr sz="1425" b="0">
                <a:solidFill>
                  <a:srgbClr val="172B3D"/>
                </a:solidFill>
              </a:defRPr>
            </a:pPr>
            <a:r>
              <a:rPr sz="1425" b="0">
                <a:solidFill>
                  <a:srgbClr val="172B3D"/>
                </a:solidFill>
              </a:rPr>
              <a:t>Teams comparing similar movies</a:t>
            </a:r>
          </a:p>
        </p:txBody>
      </p:sp>
    </p:spTree>
    <p:extLst>
      <p:ext uri="{BB962C8B-B14F-4D97-AF65-F5344CB8AC3E}">
        <p14:creationId xmlns:p14="http://schemas.microsoft.com/office/powerpoint/2010/main" val="694443676"/>
      </p:ext>
    </p:extLst>
  </p:cSld>
</p:sld>
</file>

<file path=ppt/slides/slide4.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C4EFE1-9887-4D62-8AA7-501FCED3C1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BD7EDC-F22E-4B1C-8223-8A4ABC9015E3}"/>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63516B90-EA92-4969-B16A-C8564DC7B939}"/>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Motivation and Objectives</a:t>
            </a:r>
          </a:p>
        </p:txBody>
      </p:sp>
      <p:sp>
        <p:nvSpPr>
          <p:cNvPr id="4" name="">
            <a:extLst xmlns:a="http://schemas.openxmlformats.org/drawingml/2006/main">
              <a:ext uri="{FF2B5EF4-FFF2-40B4-BE49-F238E27FC236}">
                <a16:creationId xmlns:a16="http://schemas.microsoft.com/office/drawing/2014/main" id="{CA1E5111-8C28-4827-8EED-B51D1AE93A4E}"/>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32F46C-1B6E-4280-B678-FA450CFE79CB}"/>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0BFD1C9B-7B28-4A49-B55F-D974833F259C}"/>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04</a:t>
            </a:r>
          </a:p>
        </p:txBody>
      </p:sp>
      <p:sp>
        <p:nvSpPr>
          <p:cNvPr id="7" name="">
            <a:extLst xmlns:a="http://schemas.openxmlformats.org/drawingml/2006/main">
              <a:ext uri="{FF2B5EF4-FFF2-40B4-BE49-F238E27FC236}">
                <a16:creationId xmlns:a16="http://schemas.microsoft.com/office/drawing/2014/main" id="{3E03F75B-8F5E-4409-A1E5-3BC6A76EE415}"/>
              </a:ext>
            </a:extLst>
          </p:cNvPr>
          <p:cNvSpPr>
            <a:spLocks xmlns:a="http://schemas.openxmlformats.org/drawingml/2006/main" noGrp="1"/>
          </p:cNvSpPr>
          <p:nvPr/>
        </p:nvSpPr>
        <p:spPr>
          <a:xfrm xmlns:a="http://schemas.openxmlformats.org/drawingml/2006/main">
            <a:off x="685800" y="1619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0243A"/>
                </a:solidFill>
              </a:defRPr>
            </a:defPPr>
          </a:lstStyle>
          <a:p xmlns:a="http://schemas.openxmlformats.org/drawingml/2006/main">
            <a:pPr>
              <a:defRPr sz="1800" b="1">
                <a:solidFill>
                  <a:srgbClr val="10243A"/>
                </a:solidFill>
              </a:defRPr>
            </a:pPr>
            <a:r>
              <a:rPr sz="1800" b="1">
                <a:solidFill>
                  <a:srgbClr val="10243A"/>
                </a:solidFill>
              </a:rPr>
              <a:t>Why this project</a:t>
            </a:r>
          </a:p>
        </p:txBody>
      </p:sp>
      <p:sp>
        <p:nvSpPr>
          <p:cNvPr id="8" name="">
            <a:extLst xmlns:a="http://schemas.openxmlformats.org/drawingml/2006/main">
              <a:ext uri="{FF2B5EF4-FFF2-40B4-BE49-F238E27FC236}">
                <a16:creationId xmlns:a16="http://schemas.microsoft.com/office/drawing/2014/main" id="{4919462C-D6CD-454B-B2E3-5A2C2D2351D0}"/>
              </a:ext>
            </a:extLst>
          </p:cNvPr>
          <p:cNvSpPr>
            <a:spLocks xmlns:a="http://schemas.openxmlformats.org/drawingml/2006/main" noGrp="1"/>
          </p:cNvSpPr>
          <p:nvPr/>
        </p:nvSpPr>
        <p:spPr>
          <a:xfrm xmlns:a="http://schemas.openxmlformats.org/drawingml/2006/main">
            <a:off x="685800" y="2095500"/>
            <a:ext cx="47148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72B3D"/>
                </a:solidFill>
              </a:defRPr>
            </a:defPPr>
          </a:lstStyle>
          <a:p xmlns:a="http://schemas.openxmlformats.org/drawingml/2006/main">
            <a:pPr>
              <a:defRPr sz="1500" b="0">
                <a:solidFill>
                  <a:srgbClr val="172B3D"/>
                </a:solidFill>
              </a:defRPr>
            </a:pPr>
            <a:r>
              <a:rPr sz="1500" b="0">
                <a:solidFill>
                  <a:srgbClr val="172B3D"/>
                </a:solidFill>
              </a:rPr>
              <a:t>A single academic project can connect data preparation, regression, algorithm design, and an interactive application around a familiar entertainment-industry problem.</a:t>
            </a:r>
          </a:p>
        </p:txBody>
      </p:sp>
      <p:sp>
        <p:nvSpPr>
          <p:cNvPr id="9" name="">
            <a:extLst xmlns:a="http://schemas.openxmlformats.org/drawingml/2006/main">
              <a:ext uri="{FF2B5EF4-FFF2-40B4-BE49-F238E27FC236}">
                <a16:creationId xmlns:a16="http://schemas.microsoft.com/office/drawing/2014/main" id="{BC6B3615-6F7B-4670-B15B-04C997B62DDD}"/>
              </a:ext>
            </a:extLst>
          </p:cNvPr>
          <p:cNvSpPr>
            <a:spLocks xmlns:a="http://schemas.openxmlformats.org/drawingml/2006/main" noGrp="1"/>
          </p:cNvSpPr>
          <p:nvPr/>
        </p:nvSpPr>
        <p:spPr>
          <a:xfrm xmlns:a="http://schemas.openxmlformats.org/drawingml/2006/main">
            <a:off x="6191250" y="1619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0243A"/>
                </a:solidFill>
              </a:defRPr>
            </a:defPPr>
          </a:lstStyle>
          <a:p xmlns:a="http://schemas.openxmlformats.org/drawingml/2006/main">
            <a:pPr>
              <a:defRPr sz="1800" b="1">
                <a:solidFill>
                  <a:srgbClr val="10243A"/>
                </a:solidFill>
              </a:defRPr>
            </a:pPr>
            <a:r>
              <a:rPr sz="1800" b="1">
                <a:solidFill>
                  <a:srgbClr val="10243A"/>
                </a:solidFill>
              </a:rPr>
              <a:t>Project objectives</a:t>
            </a:r>
          </a:p>
        </p:txBody>
      </p:sp>
      <p:sp>
        <p:nvSpPr>
          <p:cNvPr id="10" name="">
            <a:extLst xmlns:a="http://schemas.openxmlformats.org/drawingml/2006/main">
              <a:ext uri="{FF2B5EF4-FFF2-40B4-BE49-F238E27FC236}">
                <a16:creationId xmlns:a16="http://schemas.microsoft.com/office/drawing/2014/main" id="{95673366-56C7-4F30-85F9-EDEF1F2A9415}"/>
              </a:ext>
            </a:extLst>
          </p:cNvPr>
          <p:cNvSpPr>
            <a:spLocks xmlns:a="http://schemas.openxmlformats.org/drawingml/2006/main" noGrp="1"/>
          </p:cNvSpPr>
          <p:nvPr/>
        </p:nvSpPr>
        <p:spPr>
          <a:xfrm xmlns:a="http://schemas.openxmlformats.org/drawingml/2006/main">
            <a:off x="6191250" y="21717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A6B806-C815-408D-B3D6-8D6454928C04}"/>
              </a:ext>
            </a:extLst>
          </p:cNvPr>
          <p:cNvSpPr>
            <a:spLocks xmlns:a="http://schemas.openxmlformats.org/drawingml/2006/main" noGrp="1"/>
          </p:cNvSpPr>
          <p:nvPr/>
        </p:nvSpPr>
        <p:spPr>
          <a:xfrm xmlns:a="http://schemas.openxmlformats.org/drawingml/2006/main">
            <a:off x="6400800" y="2095500"/>
            <a:ext cx="4933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Prepare and explore historical movie data</a:t>
            </a:r>
          </a:p>
        </p:txBody>
      </p:sp>
      <p:sp>
        <p:nvSpPr>
          <p:cNvPr id="12" name="">
            <a:extLst xmlns:a="http://schemas.openxmlformats.org/drawingml/2006/main">
              <a:ext uri="{FF2B5EF4-FFF2-40B4-BE49-F238E27FC236}">
                <a16:creationId xmlns:a16="http://schemas.microsoft.com/office/drawing/2014/main" id="{583DE62D-10D0-43F1-8859-2176919FF20E}"/>
              </a:ext>
            </a:extLst>
          </p:cNvPr>
          <p:cNvSpPr>
            <a:spLocks xmlns:a="http://schemas.openxmlformats.org/drawingml/2006/main" noGrp="1"/>
          </p:cNvSpPr>
          <p:nvPr/>
        </p:nvSpPr>
        <p:spPr>
          <a:xfrm xmlns:a="http://schemas.openxmlformats.org/drawingml/2006/main">
            <a:off x="6191250" y="2752725"/>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BF6788-062D-4119-A483-4003370CC5EB}"/>
              </a:ext>
            </a:extLst>
          </p:cNvPr>
          <p:cNvSpPr>
            <a:spLocks xmlns:a="http://schemas.openxmlformats.org/drawingml/2006/main" noGrp="1"/>
          </p:cNvSpPr>
          <p:nvPr/>
        </p:nvSpPr>
        <p:spPr>
          <a:xfrm xmlns:a="http://schemas.openxmlformats.org/drawingml/2006/main">
            <a:off x="6400800" y="2676525"/>
            <a:ext cx="4933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Build a reusable Elastic Net regression pipeline</a:t>
            </a:r>
          </a:p>
        </p:txBody>
      </p:sp>
      <p:sp>
        <p:nvSpPr>
          <p:cNvPr id="14" name="">
            <a:extLst xmlns:a="http://schemas.openxmlformats.org/drawingml/2006/main">
              <a:ext uri="{FF2B5EF4-FFF2-40B4-BE49-F238E27FC236}">
                <a16:creationId xmlns:a16="http://schemas.microsoft.com/office/drawing/2014/main" id="{EA4BA835-D65C-4851-9FE7-A6DCB981E1BB}"/>
              </a:ext>
            </a:extLst>
          </p:cNvPr>
          <p:cNvSpPr>
            <a:spLocks xmlns:a="http://schemas.openxmlformats.org/drawingml/2006/main" noGrp="1"/>
          </p:cNvSpPr>
          <p:nvPr/>
        </p:nvSpPr>
        <p:spPr>
          <a:xfrm xmlns:a="http://schemas.openxmlformats.org/drawingml/2006/main">
            <a:off x="6191250" y="33337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E4D5261-AF72-4359-A75F-886F283DDCB2}"/>
              </a:ext>
            </a:extLst>
          </p:cNvPr>
          <p:cNvSpPr>
            <a:spLocks xmlns:a="http://schemas.openxmlformats.org/drawingml/2006/main" noGrp="1"/>
          </p:cNvSpPr>
          <p:nvPr/>
        </p:nvSpPr>
        <p:spPr>
          <a:xfrm xmlns:a="http://schemas.openxmlformats.org/drawingml/2006/main">
            <a:off x="6400800" y="3257550"/>
            <a:ext cx="4933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Implement title search and typo-tolerant matching</a:t>
            </a:r>
          </a:p>
        </p:txBody>
      </p:sp>
      <p:sp>
        <p:nvSpPr>
          <p:cNvPr id="16" name="">
            <a:extLst xmlns:a="http://schemas.openxmlformats.org/drawingml/2006/main">
              <a:ext uri="{FF2B5EF4-FFF2-40B4-BE49-F238E27FC236}">
                <a16:creationId xmlns:a16="http://schemas.microsoft.com/office/drawing/2014/main" id="{5BE513A4-A36D-4995-9E17-4DD897B01FA4}"/>
              </a:ext>
            </a:extLst>
          </p:cNvPr>
          <p:cNvSpPr>
            <a:spLocks xmlns:a="http://schemas.openxmlformats.org/drawingml/2006/main" noGrp="1"/>
          </p:cNvSpPr>
          <p:nvPr/>
        </p:nvSpPr>
        <p:spPr>
          <a:xfrm xmlns:a="http://schemas.openxmlformats.org/drawingml/2006/main">
            <a:off x="6191250" y="3914775"/>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425E10-1AB2-46ED-9149-D3E4A72925C0}"/>
              </a:ext>
            </a:extLst>
          </p:cNvPr>
          <p:cNvSpPr>
            <a:spLocks xmlns:a="http://schemas.openxmlformats.org/drawingml/2006/main" noGrp="1"/>
          </p:cNvSpPr>
          <p:nvPr/>
        </p:nvSpPr>
        <p:spPr>
          <a:xfrm xmlns:a="http://schemas.openxmlformats.org/drawingml/2006/main">
            <a:off x="6400800" y="3838575"/>
            <a:ext cx="4933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Connect movies through metadata recommendations</a:t>
            </a:r>
          </a:p>
        </p:txBody>
      </p:sp>
      <p:sp>
        <p:nvSpPr>
          <p:cNvPr id="18" name="">
            <a:extLst xmlns:a="http://schemas.openxmlformats.org/drawingml/2006/main">
              <a:ext uri="{FF2B5EF4-FFF2-40B4-BE49-F238E27FC236}">
                <a16:creationId xmlns:a16="http://schemas.microsoft.com/office/drawing/2014/main" id="{0F580E20-AE5E-4AFC-9691-AF00C4B0972B}"/>
              </a:ext>
            </a:extLst>
          </p:cNvPr>
          <p:cNvSpPr>
            <a:spLocks xmlns:a="http://schemas.openxmlformats.org/drawingml/2006/main" noGrp="1"/>
          </p:cNvSpPr>
          <p:nvPr/>
        </p:nvSpPr>
        <p:spPr>
          <a:xfrm xmlns:a="http://schemas.openxmlformats.org/drawingml/2006/main">
            <a:off x="6191250" y="44958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F1948D9-FA25-4E8A-96DE-3671FC762C87}"/>
              </a:ext>
            </a:extLst>
          </p:cNvPr>
          <p:cNvSpPr>
            <a:spLocks xmlns:a="http://schemas.openxmlformats.org/drawingml/2006/main" noGrp="1"/>
          </p:cNvSpPr>
          <p:nvPr/>
        </p:nvSpPr>
        <p:spPr>
          <a:xfrm xmlns:a="http://schemas.openxmlformats.org/drawingml/2006/main">
            <a:off x="6400800" y="4419600"/>
            <a:ext cx="4933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Present analysis and predictions in Streamlit</a:t>
            </a:r>
          </a:p>
        </p:txBody>
      </p:sp>
    </p:spTree>
    <p:extLst>
      <p:ext uri="{BB962C8B-B14F-4D97-AF65-F5344CB8AC3E}">
        <p14:creationId xmlns:p14="http://schemas.microsoft.com/office/powerpoint/2010/main" val="868792574"/>
      </p:ext>
    </p:extLst>
  </p:cSld>
</p:sld>
</file>

<file path=ppt/slides/slide5.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7428BF0-DCBF-4EBF-987F-8B774320277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1A49F9-C039-43AC-8DBE-FF52C13368ED}"/>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355988EC-9960-437A-912F-6DF0C9ECED39}"/>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Existing Approach and Proposed System</a:t>
            </a:r>
          </a:p>
        </p:txBody>
      </p:sp>
      <p:sp>
        <p:nvSpPr>
          <p:cNvPr id="4" name="">
            <a:extLst xmlns:a="http://schemas.openxmlformats.org/drawingml/2006/main">
              <a:ext uri="{FF2B5EF4-FFF2-40B4-BE49-F238E27FC236}">
                <a16:creationId xmlns:a16="http://schemas.microsoft.com/office/drawing/2014/main" id="{6F0DBA6B-77FD-45A4-91A8-552DCC46FA5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9AC3863-4F27-406F-AF96-8E8BB628D8D4}"/>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F19CA0F7-C409-42AA-9E77-D52376A6590B}"/>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05</a:t>
            </a:r>
          </a:p>
        </p:txBody>
      </p:sp>
      <p:sp>
        <p:nvSpPr>
          <p:cNvPr id="7" name="">
            <a:extLst xmlns:a="http://schemas.openxmlformats.org/drawingml/2006/main">
              <a:ext uri="{FF2B5EF4-FFF2-40B4-BE49-F238E27FC236}">
                <a16:creationId xmlns:a16="http://schemas.microsoft.com/office/drawing/2014/main" id="{38942101-C1F2-476B-A438-3B9173C15A88}"/>
              </a:ext>
            </a:extLst>
          </p:cNvPr>
          <p:cNvSpPr>
            <a:spLocks xmlns:a="http://schemas.openxmlformats.org/drawingml/2006/main" noGrp="1"/>
          </p:cNvSpPr>
          <p:nvPr/>
        </p:nvSpPr>
        <p:spPr>
          <a:xfrm xmlns:a="http://schemas.openxmlformats.org/drawingml/2006/main">
            <a:off x="714375" y="1666875"/>
            <a:ext cx="5143500"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8E2E8"/>
            </a:solidFill>
            <a:prstDash val="solid"/>
          </a:ln>
        </p:spPr>
      </p:sp>
      <p:sp>
        <p:nvSpPr>
          <p:cNvPr id="8" name="">
            <a:extLst xmlns:a="http://schemas.openxmlformats.org/drawingml/2006/main">
              <a:ext uri="{FF2B5EF4-FFF2-40B4-BE49-F238E27FC236}">
                <a16:creationId xmlns:a16="http://schemas.microsoft.com/office/drawing/2014/main" id="{73548F31-BF7E-49AC-9434-79EEB4F84204}"/>
              </a:ext>
            </a:extLst>
          </p:cNvPr>
          <p:cNvSpPr>
            <a:spLocks xmlns:a="http://schemas.openxmlformats.org/drawingml/2006/main" noGrp="1"/>
          </p:cNvSpPr>
          <p:nvPr/>
        </p:nvSpPr>
        <p:spPr>
          <a:xfrm xmlns:a="http://schemas.openxmlformats.org/drawingml/2006/main">
            <a:off x="6334125" y="1666875"/>
            <a:ext cx="5143500"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8E2E8"/>
            </a:solidFill>
            <a:prstDash val="solid"/>
          </a:ln>
        </p:spPr>
      </p:sp>
      <p:sp>
        <p:nvSpPr>
          <p:cNvPr id="9" name="">
            <a:extLst xmlns:a="http://schemas.openxmlformats.org/drawingml/2006/main">
              <a:ext uri="{FF2B5EF4-FFF2-40B4-BE49-F238E27FC236}">
                <a16:creationId xmlns:a16="http://schemas.microsoft.com/office/drawing/2014/main" id="{462302AA-91A2-440B-8672-72F747DE0064}"/>
              </a:ext>
            </a:extLst>
          </p:cNvPr>
          <p:cNvSpPr>
            <a:spLocks xmlns:a="http://schemas.openxmlformats.org/drawingml/2006/main" noGrp="1"/>
          </p:cNvSpPr>
          <p:nvPr/>
        </p:nvSpPr>
        <p:spPr>
          <a:xfrm xmlns:a="http://schemas.openxmlformats.org/drawingml/2006/main">
            <a:off x="981075" y="1885950"/>
            <a:ext cx="4610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Existing basic workflow</a:t>
            </a:r>
          </a:p>
        </p:txBody>
      </p:sp>
      <p:sp>
        <p:nvSpPr>
          <p:cNvPr id="10" name="">
            <a:extLst xmlns:a="http://schemas.openxmlformats.org/drawingml/2006/main">
              <a:ext uri="{FF2B5EF4-FFF2-40B4-BE49-F238E27FC236}">
                <a16:creationId xmlns:a16="http://schemas.microsoft.com/office/drawing/2014/main" id="{2C03BE20-472A-4F96-8DD4-EF41FAC1F317}"/>
              </a:ext>
            </a:extLst>
          </p:cNvPr>
          <p:cNvSpPr>
            <a:spLocks xmlns:a="http://schemas.openxmlformats.org/drawingml/2006/main" noGrp="1"/>
          </p:cNvSpPr>
          <p:nvPr/>
        </p:nvSpPr>
        <p:spPr>
          <a:xfrm xmlns:a="http://schemas.openxmlformats.org/drawingml/2006/main">
            <a:off x="1000125" y="25336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19C301A-966F-43AC-99CB-051AF2003F0F}"/>
              </a:ext>
            </a:extLst>
          </p:cNvPr>
          <p:cNvSpPr>
            <a:spLocks xmlns:a="http://schemas.openxmlformats.org/drawingml/2006/main" noGrp="1"/>
          </p:cNvSpPr>
          <p:nvPr/>
        </p:nvSpPr>
        <p:spPr>
          <a:xfrm xmlns:a="http://schemas.openxmlformats.org/drawingml/2006/main">
            <a:off x="1209675" y="245745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Manual browsing or simple filters</a:t>
            </a:r>
          </a:p>
        </p:txBody>
      </p:sp>
      <p:sp>
        <p:nvSpPr>
          <p:cNvPr id="12" name="">
            <a:extLst xmlns:a="http://schemas.openxmlformats.org/drawingml/2006/main">
              <a:ext uri="{FF2B5EF4-FFF2-40B4-BE49-F238E27FC236}">
                <a16:creationId xmlns:a16="http://schemas.microsoft.com/office/drawing/2014/main" id="{DEAF7BBE-FEE7-44B1-A353-53821D4A5762}"/>
              </a:ext>
            </a:extLst>
          </p:cNvPr>
          <p:cNvSpPr>
            <a:spLocks xmlns:a="http://schemas.openxmlformats.org/drawingml/2006/main" noGrp="1"/>
          </p:cNvSpPr>
          <p:nvPr/>
        </p:nvSpPr>
        <p:spPr>
          <a:xfrm xmlns:a="http://schemas.openxmlformats.org/drawingml/2006/main">
            <a:off x="1000125" y="31242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341D72-29FC-424C-91DE-4A6DB5FD8687}"/>
              </a:ext>
            </a:extLst>
          </p:cNvPr>
          <p:cNvSpPr>
            <a:spLocks xmlns:a="http://schemas.openxmlformats.org/drawingml/2006/main" noGrp="1"/>
          </p:cNvSpPr>
          <p:nvPr/>
        </p:nvSpPr>
        <p:spPr>
          <a:xfrm xmlns:a="http://schemas.openxmlformats.org/drawingml/2006/main">
            <a:off x="1209675" y="304800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Exact text matching misses typos</a:t>
            </a:r>
          </a:p>
        </p:txBody>
      </p:sp>
      <p:sp>
        <p:nvSpPr>
          <p:cNvPr id="14" name="">
            <a:extLst xmlns:a="http://schemas.openxmlformats.org/drawingml/2006/main">
              <a:ext uri="{FF2B5EF4-FFF2-40B4-BE49-F238E27FC236}">
                <a16:creationId xmlns:a16="http://schemas.microsoft.com/office/drawing/2014/main" id="{7C4B3E83-AF0E-4818-9FC1-FFBBB5AB4658}"/>
              </a:ext>
            </a:extLst>
          </p:cNvPr>
          <p:cNvSpPr>
            <a:spLocks xmlns:a="http://schemas.openxmlformats.org/drawingml/2006/main" noGrp="1"/>
          </p:cNvSpPr>
          <p:nvPr/>
        </p:nvSpPr>
        <p:spPr>
          <a:xfrm xmlns:a="http://schemas.openxmlformats.org/drawingml/2006/main">
            <a:off x="1000125" y="37147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779D39-E262-4FC4-BDBF-B3E97F5414C5}"/>
              </a:ext>
            </a:extLst>
          </p:cNvPr>
          <p:cNvSpPr>
            <a:spLocks xmlns:a="http://schemas.openxmlformats.org/drawingml/2006/main" noGrp="1"/>
          </p:cNvSpPr>
          <p:nvPr/>
        </p:nvSpPr>
        <p:spPr>
          <a:xfrm xmlns:a="http://schemas.openxmlformats.org/drawingml/2006/main">
            <a:off x="1209675" y="363855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Separate scripts for analysis and training</a:t>
            </a:r>
          </a:p>
        </p:txBody>
      </p:sp>
      <p:sp>
        <p:nvSpPr>
          <p:cNvPr id="16" name="">
            <a:extLst xmlns:a="http://schemas.openxmlformats.org/drawingml/2006/main">
              <a:ext uri="{FF2B5EF4-FFF2-40B4-BE49-F238E27FC236}">
                <a16:creationId xmlns:a16="http://schemas.microsoft.com/office/drawing/2014/main" id="{F7C56E7F-1A73-40FF-93AC-38A6BFF8B7F5}"/>
              </a:ext>
            </a:extLst>
          </p:cNvPr>
          <p:cNvSpPr>
            <a:spLocks xmlns:a="http://schemas.openxmlformats.org/drawingml/2006/main" noGrp="1"/>
          </p:cNvSpPr>
          <p:nvPr/>
        </p:nvSpPr>
        <p:spPr>
          <a:xfrm xmlns:a="http://schemas.openxmlformats.org/drawingml/2006/main">
            <a:off x="1000125" y="43053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AB56368-1083-4C64-A0FC-EFD22F412CDC}"/>
              </a:ext>
            </a:extLst>
          </p:cNvPr>
          <p:cNvSpPr>
            <a:spLocks xmlns:a="http://schemas.openxmlformats.org/drawingml/2006/main" noGrp="1"/>
          </p:cNvSpPr>
          <p:nvPr/>
        </p:nvSpPr>
        <p:spPr>
          <a:xfrm xmlns:a="http://schemas.openxmlformats.org/drawingml/2006/main">
            <a:off x="1209675" y="422910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No single interface for search and prediction</a:t>
            </a:r>
          </a:p>
        </p:txBody>
      </p:sp>
      <p:sp>
        <p:nvSpPr>
          <p:cNvPr id="18" name="">
            <a:extLst xmlns:a="http://schemas.openxmlformats.org/drawingml/2006/main">
              <a:ext uri="{FF2B5EF4-FFF2-40B4-BE49-F238E27FC236}">
                <a16:creationId xmlns:a16="http://schemas.microsoft.com/office/drawing/2014/main" id="{0195F88C-1AD1-46AD-8D91-8BCEC01D73E8}"/>
              </a:ext>
            </a:extLst>
          </p:cNvPr>
          <p:cNvSpPr>
            <a:spLocks xmlns:a="http://schemas.openxmlformats.org/drawingml/2006/main" noGrp="1"/>
          </p:cNvSpPr>
          <p:nvPr/>
        </p:nvSpPr>
        <p:spPr>
          <a:xfrm xmlns:a="http://schemas.openxmlformats.org/drawingml/2006/main">
            <a:off x="6600825" y="1885950"/>
            <a:ext cx="4610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Proposed project workflow</a:t>
            </a:r>
          </a:p>
        </p:txBody>
      </p:sp>
      <p:sp>
        <p:nvSpPr>
          <p:cNvPr id="19" name="">
            <a:extLst xmlns:a="http://schemas.openxmlformats.org/drawingml/2006/main">
              <a:ext uri="{FF2B5EF4-FFF2-40B4-BE49-F238E27FC236}">
                <a16:creationId xmlns:a16="http://schemas.microsoft.com/office/drawing/2014/main" id="{6E0FD37D-00C0-4516-BA83-DFA6C122FF64}"/>
              </a:ext>
            </a:extLst>
          </p:cNvPr>
          <p:cNvSpPr>
            <a:spLocks xmlns:a="http://schemas.openxmlformats.org/drawingml/2006/main" noGrp="1"/>
          </p:cNvSpPr>
          <p:nvPr/>
        </p:nvSpPr>
        <p:spPr>
          <a:xfrm xmlns:a="http://schemas.openxmlformats.org/drawingml/2006/main">
            <a:off x="6619875" y="25336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6BE79AA-AA57-4BA8-8C73-6624CDA9158C}"/>
              </a:ext>
            </a:extLst>
          </p:cNvPr>
          <p:cNvSpPr>
            <a:spLocks xmlns:a="http://schemas.openxmlformats.org/drawingml/2006/main" noGrp="1"/>
          </p:cNvSpPr>
          <p:nvPr/>
        </p:nvSpPr>
        <p:spPr>
          <a:xfrm xmlns:a="http://schemas.openxmlformats.org/drawingml/2006/main">
            <a:off x="6829425" y="245745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Streamlit application for catalogue analysis</a:t>
            </a:r>
          </a:p>
        </p:txBody>
      </p:sp>
      <p:sp>
        <p:nvSpPr>
          <p:cNvPr id="21" name="">
            <a:extLst xmlns:a="http://schemas.openxmlformats.org/drawingml/2006/main">
              <a:ext uri="{FF2B5EF4-FFF2-40B4-BE49-F238E27FC236}">
                <a16:creationId xmlns:a16="http://schemas.microsoft.com/office/drawing/2014/main" id="{54A37D22-3D9F-4406-B3E1-5F0EA8FBA28D}"/>
              </a:ext>
            </a:extLst>
          </p:cNvPr>
          <p:cNvSpPr>
            <a:spLocks xmlns:a="http://schemas.openxmlformats.org/drawingml/2006/main" noGrp="1"/>
          </p:cNvSpPr>
          <p:nvPr/>
        </p:nvSpPr>
        <p:spPr>
          <a:xfrm xmlns:a="http://schemas.openxmlformats.org/drawingml/2006/main">
            <a:off x="6619875" y="31242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6C6151F-BF90-4BD6-9967-6A828238BFBB}"/>
              </a:ext>
            </a:extLst>
          </p:cNvPr>
          <p:cNvSpPr>
            <a:spLocks xmlns:a="http://schemas.openxmlformats.org/drawingml/2006/main" noGrp="1"/>
          </p:cNvSpPr>
          <p:nvPr/>
        </p:nvSpPr>
        <p:spPr>
          <a:xfrm xmlns:a="http://schemas.openxmlformats.org/drawingml/2006/main">
            <a:off x="6829425" y="304800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KMP, Rabin–Karp, edit distance, suffix array</a:t>
            </a:r>
          </a:p>
        </p:txBody>
      </p:sp>
      <p:sp>
        <p:nvSpPr>
          <p:cNvPr id="23" name="">
            <a:extLst xmlns:a="http://schemas.openxmlformats.org/drawingml/2006/main">
              <a:ext uri="{FF2B5EF4-FFF2-40B4-BE49-F238E27FC236}">
                <a16:creationId xmlns:a16="http://schemas.microsoft.com/office/drawing/2014/main" id="{FBAD4DB0-E277-4783-A654-1FB279A0E45A}"/>
              </a:ext>
            </a:extLst>
          </p:cNvPr>
          <p:cNvSpPr>
            <a:spLocks xmlns:a="http://schemas.openxmlformats.org/drawingml/2006/main" noGrp="1"/>
          </p:cNvSpPr>
          <p:nvPr/>
        </p:nvSpPr>
        <p:spPr>
          <a:xfrm xmlns:a="http://schemas.openxmlformats.org/drawingml/2006/main">
            <a:off x="6619875" y="37147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5C49D44-813B-4156-B495-BACF09B97341}"/>
              </a:ext>
            </a:extLst>
          </p:cNvPr>
          <p:cNvSpPr>
            <a:spLocks xmlns:a="http://schemas.openxmlformats.org/drawingml/2006/main" noGrp="1"/>
          </p:cNvSpPr>
          <p:nvPr/>
        </p:nvSpPr>
        <p:spPr>
          <a:xfrm xmlns:a="http://schemas.openxmlformats.org/drawingml/2006/main">
            <a:off x="6829425" y="363855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Elastic Net pipeline with preprocessing</a:t>
            </a:r>
          </a:p>
        </p:txBody>
      </p:sp>
      <p:sp>
        <p:nvSpPr>
          <p:cNvPr id="25" name="">
            <a:extLst xmlns:a="http://schemas.openxmlformats.org/drawingml/2006/main">
              <a:ext uri="{FF2B5EF4-FFF2-40B4-BE49-F238E27FC236}">
                <a16:creationId xmlns:a16="http://schemas.microsoft.com/office/drawing/2014/main" id="{D5A2D69E-79C0-4333-A46E-816C56063ADC}"/>
              </a:ext>
            </a:extLst>
          </p:cNvPr>
          <p:cNvSpPr>
            <a:spLocks xmlns:a="http://schemas.openxmlformats.org/drawingml/2006/main" noGrp="1"/>
          </p:cNvSpPr>
          <p:nvPr/>
        </p:nvSpPr>
        <p:spPr>
          <a:xfrm xmlns:a="http://schemas.openxmlformats.org/drawingml/2006/main">
            <a:off x="6619875" y="43053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78771D7-3ED0-43B6-8BF0-B898FE7C6204}"/>
              </a:ext>
            </a:extLst>
          </p:cNvPr>
          <p:cNvSpPr>
            <a:spLocks xmlns:a="http://schemas.openxmlformats.org/drawingml/2006/main" noGrp="1"/>
          </p:cNvSpPr>
          <p:nvPr/>
        </p:nvSpPr>
        <p:spPr>
          <a:xfrm xmlns:a="http://schemas.openxmlformats.org/drawingml/2006/main">
            <a:off x="6829425" y="422910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Metadata graph recommendations and analytics</a:t>
            </a:r>
          </a:p>
        </p:txBody>
      </p:sp>
    </p:spTree>
    <p:extLst>
      <p:ext uri="{BB962C8B-B14F-4D97-AF65-F5344CB8AC3E}">
        <p14:creationId xmlns:p14="http://schemas.microsoft.com/office/powerpoint/2010/main" val="68545853"/>
      </p:ext>
    </p:extLst>
  </p:cSld>
</p:sld>
</file>

<file path=ppt/slides/slide6.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CFEB71F-487B-4CB0-A2B1-6462B357614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B76A81-AFDC-4B17-BA76-1F466B78AC57}"/>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7052509B-EAC9-47E9-B1DA-2CB8D91EB372}"/>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System Architecture</a:t>
            </a:r>
          </a:p>
        </p:txBody>
      </p:sp>
      <p:sp>
        <p:nvSpPr>
          <p:cNvPr id="4" name="">
            <a:extLst xmlns:a="http://schemas.openxmlformats.org/drawingml/2006/main">
              <a:ext uri="{FF2B5EF4-FFF2-40B4-BE49-F238E27FC236}">
                <a16:creationId xmlns:a16="http://schemas.microsoft.com/office/drawing/2014/main" id="{02E91F4A-A4A2-4F3E-92FC-928FC35E5D6A}"/>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4E59B1-A5AF-4DE8-A173-289081E2279C}"/>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6B286954-0B16-4F90-9469-227984EAD8C5}"/>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06</a:t>
            </a:r>
          </a:p>
        </p:txBody>
      </p:sp>
      <p:sp>
        <p:nvSpPr>
          <p:cNvPr id="7" name="">
            <a:extLst xmlns:a="http://schemas.openxmlformats.org/drawingml/2006/main">
              <a:ext uri="{FF2B5EF4-FFF2-40B4-BE49-F238E27FC236}">
                <a16:creationId xmlns:a16="http://schemas.microsoft.com/office/drawing/2014/main" id="{AFDB99C5-BC9A-4F2B-BFEF-868B51422122}"/>
              </a:ext>
            </a:extLst>
          </p:cNvPr>
          <p:cNvSpPr>
            <a:spLocks xmlns:a="http://schemas.openxmlformats.org/drawingml/2006/main" noGrp="1"/>
          </p:cNvSpPr>
          <p:nvPr/>
        </p:nvSpPr>
        <p:spPr>
          <a:xfrm xmlns:a="http://schemas.openxmlformats.org/drawingml/2006/main">
            <a:off x="666750" y="2238375"/>
            <a:ext cx="23812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8E2E8"/>
            </a:solidFill>
            <a:prstDash val="solid"/>
          </a:ln>
        </p:spPr>
      </p:sp>
      <p:sp>
        <p:nvSpPr>
          <p:cNvPr id="8" name="">
            <a:extLst xmlns:a="http://schemas.openxmlformats.org/drawingml/2006/main">
              <a:ext uri="{FF2B5EF4-FFF2-40B4-BE49-F238E27FC236}">
                <a16:creationId xmlns:a16="http://schemas.microsoft.com/office/drawing/2014/main" id="{53CC060D-EFC8-4B05-89C6-C37A685E1B37}"/>
              </a:ext>
            </a:extLst>
          </p:cNvPr>
          <p:cNvSpPr>
            <a:spLocks xmlns:a="http://schemas.openxmlformats.org/drawingml/2006/main" noGrp="1"/>
          </p:cNvSpPr>
          <p:nvPr/>
        </p:nvSpPr>
        <p:spPr>
          <a:xfrm xmlns:a="http://schemas.openxmlformats.org/drawingml/2006/main">
            <a:off x="857250" y="24955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16A6A1"/>
                </a:solidFill>
              </a:defRPr>
            </a:defPPr>
          </a:lstStyle>
          <a:p xmlns:a="http://schemas.openxmlformats.org/drawingml/2006/main">
            <a:pPr>
              <a:defRPr sz="1050" b="1">
                <a:solidFill>
                  <a:srgbClr val="16A6A1"/>
                </a:solidFill>
              </a:defRPr>
            </a:pPr>
            <a:r>
              <a:rPr sz="1050" b="1">
                <a:solidFill>
                  <a:srgbClr val="16A6A1"/>
                </a:solidFill>
              </a:rPr>
              <a:t>INPUT</a:t>
            </a:r>
          </a:p>
        </p:txBody>
      </p:sp>
      <p:sp>
        <p:nvSpPr>
          <p:cNvPr id="9" name="">
            <a:extLst xmlns:a="http://schemas.openxmlformats.org/drawingml/2006/main">
              <a:ext uri="{FF2B5EF4-FFF2-40B4-BE49-F238E27FC236}">
                <a16:creationId xmlns:a16="http://schemas.microsoft.com/office/drawing/2014/main" id="{2D4F0913-7122-43CD-84EA-25E4999ED7B8}"/>
              </a:ext>
            </a:extLst>
          </p:cNvPr>
          <p:cNvSpPr>
            <a:spLocks xmlns:a="http://schemas.openxmlformats.org/drawingml/2006/main" noGrp="1"/>
          </p:cNvSpPr>
          <p:nvPr/>
        </p:nvSpPr>
        <p:spPr>
          <a:xfrm xmlns:a="http://schemas.openxmlformats.org/drawingml/2006/main">
            <a:off x="857250" y="3000375"/>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72B3D"/>
                </a:solidFill>
              </a:defRPr>
            </a:defPPr>
          </a:lstStyle>
          <a:p xmlns:a="http://schemas.openxmlformats.org/drawingml/2006/main">
            <a:pPr>
              <a:defRPr sz="1500" b="1">
                <a:solidFill>
                  <a:srgbClr val="172B3D"/>
                </a:solidFill>
              </a:defRPr>
            </a:pPr>
            <a:r>
              <a:rPr sz="1500" b="1">
                <a:solidFill>
                  <a:srgbClr val="172B3D"/>
                </a:solidFill>
              </a:rPr>
              <a:t>Movie CSV</a:t>
            </a:r>
          </a:p>
          <a:p xmlns:a="http://schemas.openxmlformats.org/drawingml/2006/main">
            <a:pPr>
              <a:defRPr sz="1500" b="1">
                <a:solidFill>
                  <a:srgbClr val="172B3D"/>
                </a:solidFill>
              </a:defRPr>
            </a:pPr>
            <a:r>
              <a:rPr sz="1500" b="1">
                <a:solidFill>
                  <a:srgbClr val="172B3D"/>
                </a:solidFill>
              </a:rPr>
              <a:t>User query / features</a:t>
            </a:r>
          </a:p>
        </p:txBody>
      </p:sp>
      <p:sp>
        <p:nvSpPr>
          <p:cNvPr id="10" name="">
            <a:extLst xmlns:a="http://schemas.openxmlformats.org/drawingml/2006/main">
              <a:ext uri="{FF2B5EF4-FFF2-40B4-BE49-F238E27FC236}">
                <a16:creationId xmlns:a16="http://schemas.microsoft.com/office/drawing/2014/main" id="{48F193D8-742F-4D32-987D-45E46E2FD89E}"/>
              </a:ext>
            </a:extLst>
          </p:cNvPr>
          <p:cNvSpPr>
            <a:spLocks xmlns:a="http://schemas.openxmlformats.org/drawingml/2006/main" noGrp="1"/>
          </p:cNvSpPr>
          <p:nvPr/>
        </p:nvSpPr>
        <p:spPr>
          <a:xfrm xmlns:a="http://schemas.openxmlformats.org/drawingml/2006/main">
            <a:off x="3124200" y="3048000"/>
            <a:ext cx="285750" cy="3810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D176AE-CEB8-4B0D-8797-6A5A28DB3162}"/>
              </a:ext>
            </a:extLst>
          </p:cNvPr>
          <p:cNvSpPr>
            <a:spLocks xmlns:a="http://schemas.openxmlformats.org/drawingml/2006/main" noGrp="1"/>
          </p:cNvSpPr>
          <p:nvPr/>
        </p:nvSpPr>
        <p:spPr>
          <a:xfrm xmlns:a="http://schemas.openxmlformats.org/drawingml/2006/main">
            <a:off x="3333750" y="2981325"/>
            <a:ext cx="114300" cy="171450"/>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43EB075-0408-4346-BD41-F3B7D7DF3A58}"/>
              </a:ext>
            </a:extLst>
          </p:cNvPr>
          <p:cNvSpPr>
            <a:spLocks xmlns:a="http://schemas.openxmlformats.org/drawingml/2006/main" noGrp="1"/>
          </p:cNvSpPr>
          <p:nvPr/>
        </p:nvSpPr>
        <p:spPr>
          <a:xfrm xmlns:a="http://schemas.openxmlformats.org/drawingml/2006/main">
            <a:off x="3524250" y="2238375"/>
            <a:ext cx="23812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8E2E8"/>
            </a:solidFill>
            <a:prstDash val="solid"/>
          </a:ln>
        </p:spPr>
      </p:sp>
      <p:sp>
        <p:nvSpPr>
          <p:cNvPr id="13" name="">
            <a:extLst xmlns:a="http://schemas.openxmlformats.org/drawingml/2006/main">
              <a:ext uri="{FF2B5EF4-FFF2-40B4-BE49-F238E27FC236}">
                <a16:creationId xmlns:a16="http://schemas.microsoft.com/office/drawing/2014/main" id="{DF0A1951-DBE7-4635-A06C-3373AF1A0EC8}"/>
              </a:ext>
            </a:extLst>
          </p:cNvPr>
          <p:cNvSpPr>
            <a:spLocks xmlns:a="http://schemas.openxmlformats.org/drawingml/2006/main" noGrp="1"/>
          </p:cNvSpPr>
          <p:nvPr/>
        </p:nvSpPr>
        <p:spPr>
          <a:xfrm xmlns:a="http://schemas.openxmlformats.org/drawingml/2006/main">
            <a:off x="3714750" y="24955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16A6A1"/>
                </a:solidFill>
              </a:defRPr>
            </a:defPPr>
          </a:lstStyle>
          <a:p xmlns:a="http://schemas.openxmlformats.org/drawingml/2006/main">
            <a:pPr>
              <a:defRPr sz="1050" b="1">
                <a:solidFill>
                  <a:srgbClr val="16A6A1"/>
                </a:solidFill>
              </a:defRPr>
            </a:pPr>
            <a:r>
              <a:rPr sz="1050" b="1">
                <a:solidFill>
                  <a:srgbClr val="16A6A1"/>
                </a:solidFill>
              </a:rPr>
              <a:t>DATA PIPELINE</a:t>
            </a:r>
          </a:p>
        </p:txBody>
      </p:sp>
      <p:sp>
        <p:nvSpPr>
          <p:cNvPr id="14" name="">
            <a:extLst xmlns:a="http://schemas.openxmlformats.org/drawingml/2006/main">
              <a:ext uri="{FF2B5EF4-FFF2-40B4-BE49-F238E27FC236}">
                <a16:creationId xmlns:a16="http://schemas.microsoft.com/office/drawing/2014/main" id="{700AC4DF-E42C-42E5-830A-F339066A6462}"/>
              </a:ext>
            </a:extLst>
          </p:cNvPr>
          <p:cNvSpPr>
            <a:spLocks xmlns:a="http://schemas.openxmlformats.org/drawingml/2006/main" noGrp="1"/>
          </p:cNvSpPr>
          <p:nvPr/>
        </p:nvSpPr>
        <p:spPr>
          <a:xfrm xmlns:a="http://schemas.openxmlformats.org/drawingml/2006/main">
            <a:off x="3714750" y="3000375"/>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72B3D"/>
                </a:solidFill>
              </a:defRPr>
            </a:defPPr>
          </a:lstStyle>
          <a:p xmlns:a="http://schemas.openxmlformats.org/drawingml/2006/main">
            <a:pPr>
              <a:defRPr sz="1500" b="1">
                <a:solidFill>
                  <a:srgbClr val="172B3D"/>
                </a:solidFill>
              </a:defRPr>
            </a:pPr>
            <a:r>
              <a:rPr sz="1500" b="1">
                <a:solidFill>
                  <a:srgbClr val="172B3D"/>
                </a:solidFill>
              </a:rPr>
              <a:t>Schema mapping</a:t>
            </a:r>
          </a:p>
          <a:p xmlns:a="http://schemas.openxmlformats.org/drawingml/2006/main">
            <a:pPr>
              <a:defRPr sz="1500" b="1">
                <a:solidFill>
                  <a:srgbClr val="172B3D"/>
                </a:solidFill>
              </a:defRPr>
            </a:pPr>
            <a:r>
              <a:rPr sz="1500" b="1">
                <a:solidFill>
                  <a:srgbClr val="172B3D"/>
                </a:solidFill>
              </a:rPr>
              <a:t>Cleaning / encoding</a:t>
            </a:r>
          </a:p>
        </p:txBody>
      </p:sp>
      <p:sp>
        <p:nvSpPr>
          <p:cNvPr id="15" name="">
            <a:extLst xmlns:a="http://schemas.openxmlformats.org/drawingml/2006/main">
              <a:ext uri="{FF2B5EF4-FFF2-40B4-BE49-F238E27FC236}">
                <a16:creationId xmlns:a16="http://schemas.microsoft.com/office/drawing/2014/main" id="{4D9C084C-A34C-4CDB-855A-53FA1B4522DF}"/>
              </a:ext>
            </a:extLst>
          </p:cNvPr>
          <p:cNvSpPr>
            <a:spLocks xmlns:a="http://schemas.openxmlformats.org/drawingml/2006/main" noGrp="1"/>
          </p:cNvSpPr>
          <p:nvPr/>
        </p:nvSpPr>
        <p:spPr>
          <a:xfrm xmlns:a="http://schemas.openxmlformats.org/drawingml/2006/main">
            <a:off x="5981700" y="3048000"/>
            <a:ext cx="285750" cy="3810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18E9EBC-BC09-411C-A49E-6CEF5BE88D48}"/>
              </a:ext>
            </a:extLst>
          </p:cNvPr>
          <p:cNvSpPr>
            <a:spLocks xmlns:a="http://schemas.openxmlformats.org/drawingml/2006/main" noGrp="1"/>
          </p:cNvSpPr>
          <p:nvPr/>
        </p:nvSpPr>
        <p:spPr>
          <a:xfrm xmlns:a="http://schemas.openxmlformats.org/drawingml/2006/main">
            <a:off x="6191250" y="2981325"/>
            <a:ext cx="114300" cy="171450"/>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DFBA9D9-EEA3-4899-BEF3-F1AE6543576D}"/>
              </a:ext>
            </a:extLst>
          </p:cNvPr>
          <p:cNvSpPr>
            <a:spLocks xmlns:a="http://schemas.openxmlformats.org/drawingml/2006/main" noGrp="1"/>
          </p:cNvSpPr>
          <p:nvPr/>
        </p:nvSpPr>
        <p:spPr>
          <a:xfrm xmlns:a="http://schemas.openxmlformats.org/drawingml/2006/main">
            <a:off x="6381750" y="2238375"/>
            <a:ext cx="2381250" cy="1762125"/>
          </a:xfrm>
          <a:prstGeom xmlns:a="http://schemas.openxmlformats.org/drawingml/2006/main" prst="roundRect">
            <a:avLst>
              <a:gd name="adj" fmla="val 6486"/>
            </a:avLst>
          </a:prstGeom>
          <a:solidFill xmlns:a="http://schemas.openxmlformats.org/drawingml/2006/main">
            <a:srgbClr val="10243A"/>
          </a:solidFill>
          <a:ln xmlns:a="http://schemas.openxmlformats.org/drawingml/2006/main" w="9525">
            <a:solidFill>
              <a:srgbClr val="10243A"/>
            </a:solidFill>
            <a:prstDash val="solid"/>
          </a:ln>
        </p:spPr>
      </p:sp>
      <p:sp>
        <p:nvSpPr>
          <p:cNvPr id="18" name="">
            <a:extLst xmlns:a="http://schemas.openxmlformats.org/drawingml/2006/main">
              <a:ext uri="{FF2B5EF4-FFF2-40B4-BE49-F238E27FC236}">
                <a16:creationId xmlns:a16="http://schemas.microsoft.com/office/drawing/2014/main" id="{805D6524-968C-4DD9-9A18-2F0372A26236}"/>
              </a:ext>
            </a:extLst>
          </p:cNvPr>
          <p:cNvSpPr>
            <a:spLocks xmlns:a="http://schemas.openxmlformats.org/drawingml/2006/main" noGrp="1"/>
          </p:cNvSpPr>
          <p:nvPr/>
        </p:nvSpPr>
        <p:spPr>
          <a:xfrm xmlns:a="http://schemas.openxmlformats.org/drawingml/2006/main">
            <a:off x="6572250" y="24955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BCEBE8"/>
                </a:solidFill>
              </a:defRPr>
            </a:defPPr>
          </a:lstStyle>
          <a:p xmlns:a="http://schemas.openxmlformats.org/drawingml/2006/main">
            <a:pPr>
              <a:defRPr sz="1050" b="1">
                <a:solidFill>
                  <a:srgbClr val="BCEBE8"/>
                </a:solidFill>
              </a:defRPr>
            </a:pPr>
            <a:r>
              <a:rPr sz="1050" b="1">
                <a:solidFill>
                  <a:srgbClr val="BCEBE8"/>
                </a:solidFill>
              </a:rPr>
              <a:t>CORE MODULES</a:t>
            </a:r>
          </a:p>
        </p:txBody>
      </p:sp>
      <p:sp>
        <p:nvSpPr>
          <p:cNvPr id="19" name="">
            <a:extLst xmlns:a="http://schemas.openxmlformats.org/drawingml/2006/main">
              <a:ext uri="{FF2B5EF4-FFF2-40B4-BE49-F238E27FC236}">
                <a16:creationId xmlns:a16="http://schemas.microsoft.com/office/drawing/2014/main" id="{8185F5F8-D39F-4083-AE71-A7D9AACB02B3}"/>
              </a:ext>
            </a:extLst>
          </p:cNvPr>
          <p:cNvSpPr>
            <a:spLocks xmlns:a="http://schemas.openxmlformats.org/drawingml/2006/main" noGrp="1"/>
          </p:cNvSpPr>
          <p:nvPr/>
        </p:nvSpPr>
        <p:spPr>
          <a:xfrm xmlns:a="http://schemas.openxmlformats.org/drawingml/2006/main">
            <a:off x="6572250" y="3000375"/>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FFFFFF"/>
                </a:solidFill>
              </a:defRPr>
            </a:defPPr>
          </a:lstStyle>
          <a:p xmlns:a="http://schemas.openxmlformats.org/drawingml/2006/main">
            <a:pPr>
              <a:defRPr sz="1500" b="1">
                <a:solidFill>
                  <a:srgbClr val="FFFFFF"/>
                </a:solidFill>
              </a:defRPr>
            </a:pPr>
            <a:r>
              <a:rPr sz="1500" b="1">
                <a:solidFill>
                  <a:srgbClr val="FFFFFF"/>
                </a:solidFill>
              </a:rPr>
              <a:t>Elastic Net model</a:t>
            </a:r>
          </a:p>
          <a:p xmlns:a="http://schemas.openxmlformats.org/drawingml/2006/main">
            <a:pPr>
              <a:defRPr sz="1500" b="1">
                <a:solidFill>
                  <a:srgbClr val="FFFFFF"/>
                </a:solidFill>
              </a:defRPr>
            </a:pPr>
            <a:r>
              <a:rPr sz="1500" b="1">
                <a:solidFill>
                  <a:srgbClr val="FFFFFF"/>
                </a:solidFill>
              </a:rPr>
              <a:t>DSA search / graph</a:t>
            </a:r>
          </a:p>
        </p:txBody>
      </p:sp>
      <p:sp>
        <p:nvSpPr>
          <p:cNvPr id="20" name="">
            <a:extLst xmlns:a="http://schemas.openxmlformats.org/drawingml/2006/main">
              <a:ext uri="{FF2B5EF4-FFF2-40B4-BE49-F238E27FC236}">
                <a16:creationId xmlns:a16="http://schemas.microsoft.com/office/drawing/2014/main" id="{304968DD-7B9D-4873-ABA6-4494163F39C9}"/>
              </a:ext>
            </a:extLst>
          </p:cNvPr>
          <p:cNvSpPr>
            <a:spLocks xmlns:a="http://schemas.openxmlformats.org/drawingml/2006/main" noGrp="1"/>
          </p:cNvSpPr>
          <p:nvPr/>
        </p:nvSpPr>
        <p:spPr>
          <a:xfrm xmlns:a="http://schemas.openxmlformats.org/drawingml/2006/main">
            <a:off x="8839200" y="3048000"/>
            <a:ext cx="285750" cy="3810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634739B-9E3D-4C39-B1C4-293E67FF48AF}"/>
              </a:ext>
            </a:extLst>
          </p:cNvPr>
          <p:cNvSpPr>
            <a:spLocks xmlns:a="http://schemas.openxmlformats.org/drawingml/2006/main" noGrp="1"/>
          </p:cNvSpPr>
          <p:nvPr/>
        </p:nvSpPr>
        <p:spPr>
          <a:xfrm xmlns:a="http://schemas.openxmlformats.org/drawingml/2006/main">
            <a:off x="9048750" y="2981325"/>
            <a:ext cx="114300" cy="171450"/>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EDAFFCA-750A-4F29-A731-FBC1EC17B544}"/>
              </a:ext>
            </a:extLst>
          </p:cNvPr>
          <p:cNvSpPr>
            <a:spLocks xmlns:a="http://schemas.openxmlformats.org/drawingml/2006/main" noGrp="1"/>
          </p:cNvSpPr>
          <p:nvPr/>
        </p:nvSpPr>
        <p:spPr>
          <a:xfrm xmlns:a="http://schemas.openxmlformats.org/drawingml/2006/main">
            <a:off x="9239250" y="2238375"/>
            <a:ext cx="23812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8E2E8"/>
            </a:solidFill>
            <a:prstDash val="solid"/>
          </a:ln>
        </p:spPr>
      </p:sp>
      <p:sp>
        <p:nvSpPr>
          <p:cNvPr id="23" name="">
            <a:extLst xmlns:a="http://schemas.openxmlformats.org/drawingml/2006/main">
              <a:ext uri="{FF2B5EF4-FFF2-40B4-BE49-F238E27FC236}">
                <a16:creationId xmlns:a16="http://schemas.microsoft.com/office/drawing/2014/main" id="{BD186C23-A087-4164-8D2D-EADA53ED260B}"/>
              </a:ext>
            </a:extLst>
          </p:cNvPr>
          <p:cNvSpPr>
            <a:spLocks xmlns:a="http://schemas.openxmlformats.org/drawingml/2006/main" noGrp="1"/>
          </p:cNvSpPr>
          <p:nvPr/>
        </p:nvSpPr>
        <p:spPr>
          <a:xfrm xmlns:a="http://schemas.openxmlformats.org/drawingml/2006/main">
            <a:off x="9429750" y="24955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16A6A1"/>
                </a:solidFill>
              </a:defRPr>
            </a:defPPr>
          </a:lstStyle>
          <a:p xmlns:a="http://schemas.openxmlformats.org/drawingml/2006/main">
            <a:pPr>
              <a:defRPr sz="1050" b="1">
                <a:solidFill>
                  <a:srgbClr val="16A6A1"/>
                </a:solidFill>
              </a:defRPr>
            </a:pPr>
            <a:r>
              <a:rPr sz="1050" b="1">
                <a:solidFill>
                  <a:srgbClr val="16A6A1"/>
                </a:solidFill>
              </a:rPr>
              <a:t>APPLICATION</a:t>
            </a:r>
          </a:p>
        </p:txBody>
      </p:sp>
      <p:sp>
        <p:nvSpPr>
          <p:cNvPr id="24" name="">
            <a:extLst xmlns:a="http://schemas.openxmlformats.org/drawingml/2006/main">
              <a:ext uri="{FF2B5EF4-FFF2-40B4-BE49-F238E27FC236}">
                <a16:creationId xmlns:a16="http://schemas.microsoft.com/office/drawing/2014/main" id="{67084D1C-B310-4869-A16F-92A71223167E}"/>
              </a:ext>
            </a:extLst>
          </p:cNvPr>
          <p:cNvSpPr>
            <a:spLocks xmlns:a="http://schemas.openxmlformats.org/drawingml/2006/main" noGrp="1"/>
          </p:cNvSpPr>
          <p:nvPr/>
        </p:nvSpPr>
        <p:spPr>
          <a:xfrm xmlns:a="http://schemas.openxmlformats.org/drawingml/2006/main">
            <a:off x="9429750" y="3000375"/>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72B3D"/>
                </a:solidFill>
              </a:defRPr>
            </a:defPPr>
          </a:lstStyle>
          <a:p xmlns:a="http://schemas.openxmlformats.org/drawingml/2006/main">
            <a:pPr>
              <a:defRPr sz="1500" b="1">
                <a:solidFill>
                  <a:srgbClr val="172B3D"/>
                </a:solidFill>
              </a:defRPr>
            </a:pPr>
            <a:r>
              <a:rPr sz="1500" b="1">
                <a:solidFill>
                  <a:srgbClr val="172B3D"/>
                </a:solidFill>
              </a:rPr>
              <a:t>Streamlit pages</a:t>
            </a:r>
          </a:p>
          <a:p xmlns:a="http://schemas.openxmlformats.org/drawingml/2006/main">
            <a:pPr>
              <a:defRPr sz="1500" b="1">
                <a:solidFill>
                  <a:srgbClr val="172B3D"/>
                </a:solidFill>
              </a:defRPr>
            </a:pPr>
            <a:r>
              <a:rPr sz="1500" b="1">
                <a:solidFill>
                  <a:srgbClr val="172B3D"/>
                </a:solidFill>
              </a:rPr>
              <a:t>Analytics / results</a:t>
            </a:r>
          </a:p>
        </p:txBody>
      </p:sp>
      <p:sp>
        <p:nvSpPr>
          <p:cNvPr id="25" name="">
            <a:extLst xmlns:a="http://schemas.openxmlformats.org/drawingml/2006/main">
              <a:ext uri="{FF2B5EF4-FFF2-40B4-BE49-F238E27FC236}">
                <a16:creationId xmlns:a16="http://schemas.microsoft.com/office/drawing/2014/main" id="{75DD47DE-DA9E-47B2-B01F-C69BDB67B7EE}"/>
              </a:ext>
            </a:extLst>
          </p:cNvPr>
          <p:cNvSpPr>
            <a:spLocks xmlns:a="http://schemas.openxmlformats.org/drawingml/2006/main" noGrp="1"/>
          </p:cNvSpPr>
          <p:nvPr/>
        </p:nvSpPr>
        <p:spPr>
          <a:xfrm xmlns:a="http://schemas.openxmlformats.org/drawingml/2006/main">
            <a:off x="781050" y="4572000"/>
            <a:ext cx="10429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43A"/>
                </a:solidFill>
              </a:defRPr>
            </a:defPPr>
          </a:lstStyle>
          <a:p xmlns:a="http://schemas.openxmlformats.org/drawingml/2006/main">
            <a:pPr>
              <a:defRPr sz="1425" b="1">
                <a:solidFill>
                  <a:srgbClr val="10243A"/>
                </a:solidFill>
              </a:defRPr>
            </a:pPr>
            <a:r>
              <a:rPr sz="1425" b="1">
                <a:solidFill>
                  <a:srgbClr val="10243A"/>
                </a:solidFill>
              </a:rPr>
              <a:t>Outputs: predicted worldwide gross  |  movie search results  |  related-title recommendations  |  analytics</a:t>
            </a:r>
          </a:p>
        </p:txBody>
      </p:sp>
      <p:sp>
        <p:nvSpPr>
          <p:cNvPr id="26" name="">
            <a:extLst xmlns:a="http://schemas.openxmlformats.org/drawingml/2006/main">
              <a:ext uri="{FF2B5EF4-FFF2-40B4-BE49-F238E27FC236}">
                <a16:creationId xmlns:a16="http://schemas.microsoft.com/office/drawing/2014/main" id="{2989D6CA-EA5F-45CF-A779-B7BBB66B265A}"/>
              </a:ext>
            </a:extLst>
          </p:cNvPr>
          <p:cNvSpPr>
            <a:spLocks xmlns:a="http://schemas.openxmlformats.org/drawingml/2006/main" noGrp="1"/>
          </p:cNvSpPr>
          <p:nvPr/>
        </p:nvSpPr>
        <p:spPr>
          <a:xfrm xmlns:a="http://schemas.openxmlformats.org/drawingml/2006/main">
            <a:off x="800100" y="5238750"/>
            <a:ext cx="2000250" cy="304800"/>
          </a:xfrm>
          <a:prstGeom xmlns:a="http://schemas.openxmlformats.org/drawingml/2006/main" prst="roundRect">
            <a:avLst>
              <a:gd name="adj" fmla="val 37500"/>
            </a:avLst>
          </a:prstGeom>
          <a:solidFill xmlns:a="http://schemas.openxmlformats.org/drawingml/2006/main">
            <a:srgbClr val="BCEB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76A4A18-E147-4BEA-87CB-8257D28E704D}"/>
              </a:ext>
            </a:extLst>
          </p:cNvPr>
          <p:cNvSpPr>
            <a:spLocks xmlns:a="http://schemas.openxmlformats.org/drawingml/2006/main" noGrp="1"/>
          </p:cNvSpPr>
          <p:nvPr/>
        </p:nvSpPr>
        <p:spPr>
          <a:xfrm xmlns:a="http://schemas.openxmlformats.org/drawingml/2006/main">
            <a:off x="876300" y="5267325"/>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10243A"/>
                </a:solidFill>
              </a:defRPr>
            </a:defPPr>
          </a:lstStyle>
          <a:p xmlns:a="http://schemas.openxmlformats.org/drawingml/2006/main">
            <a:pPr algn="ctr">
              <a:defRPr sz="975" b="1">
                <a:solidFill>
                  <a:srgbClr val="10243A"/>
                </a:solidFill>
              </a:defRPr>
            </a:pPr>
            <a:r>
              <a:rPr sz="975" b="1">
                <a:solidFill>
                  <a:srgbClr val="10243A"/>
                </a:solidFill>
              </a:rPr>
              <a:t>Source data</a:t>
            </a:r>
          </a:p>
        </p:txBody>
      </p:sp>
      <p:sp>
        <p:nvSpPr>
          <p:cNvPr id="28" name="">
            <a:extLst xmlns:a="http://schemas.openxmlformats.org/drawingml/2006/main">
              <a:ext uri="{FF2B5EF4-FFF2-40B4-BE49-F238E27FC236}">
                <a16:creationId xmlns:a16="http://schemas.microsoft.com/office/drawing/2014/main" id="{9F193F6E-1A1D-488F-9CEC-6F932312CB66}"/>
              </a:ext>
            </a:extLst>
          </p:cNvPr>
          <p:cNvSpPr>
            <a:spLocks xmlns:a="http://schemas.openxmlformats.org/drawingml/2006/main" noGrp="1"/>
          </p:cNvSpPr>
          <p:nvPr/>
        </p:nvSpPr>
        <p:spPr>
          <a:xfrm xmlns:a="http://schemas.openxmlformats.org/drawingml/2006/main">
            <a:off x="2990850" y="5238750"/>
            <a:ext cx="2095500" cy="304800"/>
          </a:xfrm>
          <a:prstGeom xmlns:a="http://schemas.openxmlformats.org/drawingml/2006/main" prst="roundRect">
            <a:avLst>
              <a:gd name="adj" fmla="val 37500"/>
            </a:avLst>
          </a:prstGeom>
          <a:solidFill xmlns:a="http://schemas.openxmlformats.org/drawingml/2006/main">
            <a:srgbClr val="BCEBE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F3B442A-3BED-4FF5-9F0C-DB06866C701B}"/>
              </a:ext>
            </a:extLst>
          </p:cNvPr>
          <p:cNvSpPr>
            <a:spLocks xmlns:a="http://schemas.openxmlformats.org/drawingml/2006/main" noGrp="1"/>
          </p:cNvSpPr>
          <p:nvPr/>
        </p:nvSpPr>
        <p:spPr>
          <a:xfrm xmlns:a="http://schemas.openxmlformats.org/drawingml/2006/main">
            <a:off x="3067050" y="5267325"/>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10243A"/>
                </a:solidFill>
              </a:defRPr>
            </a:defPPr>
          </a:lstStyle>
          <a:p xmlns:a="http://schemas.openxmlformats.org/drawingml/2006/main">
            <a:pPr algn="ctr">
              <a:defRPr sz="975" b="1">
                <a:solidFill>
                  <a:srgbClr val="10243A"/>
                </a:solidFill>
              </a:defRPr>
            </a:pPr>
            <a:r>
              <a:rPr sz="975" b="1">
                <a:solidFill>
                  <a:srgbClr val="10243A"/>
                </a:solidFill>
              </a:rPr>
              <a:t>Processed features</a:t>
            </a:r>
          </a:p>
        </p:txBody>
      </p:sp>
      <p:sp>
        <p:nvSpPr>
          <p:cNvPr id="30" name="">
            <a:extLst xmlns:a="http://schemas.openxmlformats.org/drawingml/2006/main">
              <a:ext uri="{FF2B5EF4-FFF2-40B4-BE49-F238E27FC236}">
                <a16:creationId xmlns:a16="http://schemas.microsoft.com/office/drawing/2014/main" id="{E569C004-E7A4-41B7-A975-CC3C468C4198}"/>
              </a:ext>
            </a:extLst>
          </p:cNvPr>
          <p:cNvSpPr>
            <a:spLocks xmlns:a="http://schemas.openxmlformats.org/drawingml/2006/main" noGrp="1"/>
          </p:cNvSpPr>
          <p:nvPr/>
        </p:nvSpPr>
        <p:spPr>
          <a:xfrm xmlns:a="http://schemas.openxmlformats.org/drawingml/2006/main">
            <a:off x="5276850" y="5238750"/>
            <a:ext cx="1952625" cy="304800"/>
          </a:xfrm>
          <a:prstGeom xmlns:a="http://schemas.openxmlformats.org/drawingml/2006/main" prst="roundRect">
            <a:avLst>
              <a:gd name="adj" fmla="val 37500"/>
            </a:avLst>
          </a:prstGeom>
          <a:solidFill xmlns:a="http://schemas.openxmlformats.org/drawingml/2006/main">
            <a:srgbClr val="BCEBE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8F583E2-5DF2-4704-855D-C8E1364F870A}"/>
              </a:ext>
            </a:extLst>
          </p:cNvPr>
          <p:cNvSpPr>
            <a:spLocks xmlns:a="http://schemas.openxmlformats.org/drawingml/2006/main" noGrp="1"/>
          </p:cNvSpPr>
          <p:nvPr/>
        </p:nvSpPr>
        <p:spPr>
          <a:xfrm xmlns:a="http://schemas.openxmlformats.org/drawingml/2006/main">
            <a:off x="5353050" y="5267325"/>
            <a:ext cx="1800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10243A"/>
                </a:solidFill>
              </a:defRPr>
            </a:defPPr>
          </a:lstStyle>
          <a:p xmlns:a="http://schemas.openxmlformats.org/drawingml/2006/main">
            <a:pPr algn="ctr">
              <a:defRPr sz="975" b="1">
                <a:solidFill>
                  <a:srgbClr val="10243A"/>
                </a:solidFill>
              </a:defRPr>
            </a:pPr>
            <a:r>
              <a:rPr sz="975" b="1">
                <a:solidFill>
                  <a:srgbClr val="10243A"/>
                </a:solidFill>
              </a:rPr>
              <a:t>Model artifacts</a:t>
            </a:r>
          </a:p>
        </p:txBody>
      </p:sp>
      <p:sp>
        <p:nvSpPr>
          <p:cNvPr id="32" name="">
            <a:extLst xmlns:a="http://schemas.openxmlformats.org/drawingml/2006/main">
              <a:ext uri="{FF2B5EF4-FFF2-40B4-BE49-F238E27FC236}">
                <a16:creationId xmlns:a16="http://schemas.microsoft.com/office/drawing/2014/main" id="{D89A3007-347A-4809-A0EB-4C941AED13F1}"/>
              </a:ext>
            </a:extLst>
          </p:cNvPr>
          <p:cNvSpPr>
            <a:spLocks xmlns:a="http://schemas.openxmlformats.org/drawingml/2006/main" noGrp="1"/>
          </p:cNvSpPr>
          <p:nvPr/>
        </p:nvSpPr>
        <p:spPr>
          <a:xfrm xmlns:a="http://schemas.openxmlformats.org/drawingml/2006/main">
            <a:off x="7419975" y="5238750"/>
            <a:ext cx="2238375" cy="304800"/>
          </a:xfrm>
          <a:prstGeom xmlns:a="http://schemas.openxmlformats.org/drawingml/2006/main" prst="roundRect">
            <a:avLst>
              <a:gd name="adj" fmla="val 37500"/>
            </a:avLst>
          </a:prstGeom>
          <a:solidFill xmlns:a="http://schemas.openxmlformats.org/drawingml/2006/main">
            <a:srgbClr val="BCEBE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403D22C-A65B-4B1D-BFBB-43C46E18C921}"/>
              </a:ext>
            </a:extLst>
          </p:cNvPr>
          <p:cNvSpPr>
            <a:spLocks xmlns:a="http://schemas.openxmlformats.org/drawingml/2006/main" noGrp="1"/>
          </p:cNvSpPr>
          <p:nvPr/>
        </p:nvSpPr>
        <p:spPr>
          <a:xfrm xmlns:a="http://schemas.openxmlformats.org/drawingml/2006/main">
            <a:off x="7496175" y="5267325"/>
            <a:ext cx="2085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10243A"/>
                </a:solidFill>
              </a:defRPr>
            </a:defPPr>
          </a:lstStyle>
          <a:p xmlns:a="http://schemas.openxmlformats.org/drawingml/2006/main">
            <a:pPr algn="ctr">
              <a:defRPr sz="975" b="1">
                <a:solidFill>
                  <a:srgbClr val="10243A"/>
                </a:solidFill>
              </a:defRPr>
            </a:pPr>
            <a:r>
              <a:rPr sz="975" b="1">
                <a:solidFill>
                  <a:srgbClr val="10243A"/>
                </a:solidFill>
              </a:rPr>
              <a:t>Interactive results</a:t>
            </a:r>
          </a:p>
        </p:txBody>
      </p:sp>
    </p:spTree>
    <p:extLst>
      <p:ext uri="{BB962C8B-B14F-4D97-AF65-F5344CB8AC3E}">
        <p14:creationId xmlns:p14="http://schemas.microsoft.com/office/powerpoint/2010/main" val="2027255965"/>
      </p:ext>
    </p:extLst>
  </p:cSld>
</p:sld>
</file>

<file path=ppt/slides/slide7.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F7C4CF8-54E8-409C-BE46-1FDE51CA45D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3C7405-5477-4A96-A621-63CF54C0744D}"/>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BF907EB8-0120-4A2A-9BA6-A294D225FBA6}"/>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Methodology and Workflow</a:t>
            </a:r>
          </a:p>
        </p:txBody>
      </p:sp>
      <p:sp>
        <p:nvSpPr>
          <p:cNvPr id="4" name="">
            <a:extLst xmlns:a="http://schemas.openxmlformats.org/drawingml/2006/main">
              <a:ext uri="{FF2B5EF4-FFF2-40B4-BE49-F238E27FC236}">
                <a16:creationId xmlns:a16="http://schemas.microsoft.com/office/drawing/2014/main" id="{28A2598B-E5A6-40F2-98A2-21C8851FDA7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5CC517-2493-482F-966B-8C7816F36637}"/>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BF7FD0CC-A03A-44D8-BEF0-576362EAC705}"/>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07</a:t>
            </a:r>
          </a:p>
        </p:txBody>
      </p:sp>
      <p:sp>
        <p:nvSpPr>
          <p:cNvPr id="7" name="">
            <a:extLst xmlns:a="http://schemas.openxmlformats.org/drawingml/2006/main">
              <a:ext uri="{FF2B5EF4-FFF2-40B4-BE49-F238E27FC236}">
                <a16:creationId xmlns:a16="http://schemas.microsoft.com/office/drawing/2014/main" id="{528DD4CC-E138-4ED7-B7CE-BAAFD8B44834}"/>
              </a:ext>
            </a:extLst>
          </p:cNvPr>
          <p:cNvSpPr>
            <a:spLocks xmlns:a="http://schemas.openxmlformats.org/drawingml/2006/main" noGrp="1"/>
          </p:cNvSpPr>
          <p:nvPr/>
        </p:nvSpPr>
        <p:spPr>
          <a:xfrm xmlns:a="http://schemas.openxmlformats.org/drawingml/2006/main">
            <a:off x="762000" y="1809750"/>
            <a:ext cx="3333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8E2E8"/>
            </a:solidFill>
            <a:prstDash val="solid"/>
          </a:ln>
        </p:spPr>
      </p:sp>
      <p:sp>
        <p:nvSpPr>
          <p:cNvPr id="8" name="">
            <a:extLst xmlns:a="http://schemas.openxmlformats.org/drawingml/2006/main">
              <a:ext uri="{FF2B5EF4-FFF2-40B4-BE49-F238E27FC236}">
                <a16:creationId xmlns:a16="http://schemas.microsoft.com/office/drawing/2014/main" id="{4532BDC0-500B-45F4-B8B7-9D9B06EE7B88}"/>
              </a:ext>
            </a:extLst>
          </p:cNvPr>
          <p:cNvSpPr>
            <a:spLocks xmlns:a="http://schemas.openxmlformats.org/drawingml/2006/main" noGrp="1"/>
          </p:cNvSpPr>
          <p:nvPr/>
        </p:nvSpPr>
        <p:spPr>
          <a:xfrm xmlns:a="http://schemas.openxmlformats.org/drawingml/2006/main">
            <a:off x="914400" y="1981200"/>
            <a:ext cx="590550" cy="304800"/>
          </a:xfrm>
          <a:prstGeom xmlns:a="http://schemas.openxmlformats.org/drawingml/2006/main" prst="roundRect">
            <a:avLst>
              <a:gd name="adj" fmla="val 37500"/>
            </a:avLst>
          </a:prstGeom>
          <a:solidFill xmlns:a="http://schemas.openxmlformats.org/drawingml/2006/main">
            <a:srgbClr val="1024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B6BB522-0ACB-4F57-9BBB-AC414264C2ED}"/>
              </a:ext>
            </a:extLst>
          </p:cNvPr>
          <p:cNvSpPr>
            <a:spLocks xmlns:a="http://schemas.openxmlformats.org/drawingml/2006/main" noGrp="1"/>
          </p:cNvSpPr>
          <p:nvPr/>
        </p:nvSpPr>
        <p:spPr>
          <a:xfrm xmlns:a="http://schemas.openxmlformats.org/drawingml/2006/main">
            <a:off x="990600" y="200977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stStyle>
          <a:p xmlns:a="http://schemas.openxmlformats.org/drawingml/2006/main">
            <a:pPr algn="ctr">
              <a:defRPr sz="975" b="1">
                <a:solidFill>
                  <a:srgbClr val="FFFFFF"/>
                </a:solidFill>
              </a:defRPr>
            </a:pPr>
            <a:r>
              <a:rPr sz="975" b="1">
                <a:solidFill>
                  <a:srgbClr val="FFFFFF"/>
                </a:solidFill>
              </a:rPr>
              <a:t>01</a:t>
            </a:r>
          </a:p>
        </p:txBody>
      </p:sp>
      <p:sp>
        <p:nvSpPr>
          <p:cNvPr id="10" name="">
            <a:extLst xmlns:a="http://schemas.openxmlformats.org/drawingml/2006/main">
              <a:ext uri="{FF2B5EF4-FFF2-40B4-BE49-F238E27FC236}">
                <a16:creationId xmlns:a16="http://schemas.microsoft.com/office/drawing/2014/main" id="{FFF40759-34F0-4A5A-8F88-3CEE8B09D239}"/>
              </a:ext>
            </a:extLst>
          </p:cNvPr>
          <p:cNvSpPr>
            <a:spLocks xmlns:a="http://schemas.openxmlformats.org/drawingml/2006/main" noGrp="1"/>
          </p:cNvSpPr>
          <p:nvPr/>
        </p:nvSpPr>
        <p:spPr>
          <a:xfrm xmlns:a="http://schemas.openxmlformats.org/drawingml/2006/main">
            <a:off x="1543050" y="19812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Load</a:t>
            </a:r>
          </a:p>
        </p:txBody>
      </p:sp>
      <p:sp>
        <p:nvSpPr>
          <p:cNvPr id="11" name="">
            <a:extLst xmlns:a="http://schemas.openxmlformats.org/drawingml/2006/main">
              <a:ext uri="{FF2B5EF4-FFF2-40B4-BE49-F238E27FC236}">
                <a16:creationId xmlns:a16="http://schemas.microsoft.com/office/drawing/2014/main" id="{A4B01C0D-A253-4E78-BEA0-985BBA4A9A29}"/>
              </a:ext>
            </a:extLst>
          </p:cNvPr>
          <p:cNvSpPr>
            <a:spLocks xmlns:a="http://schemas.openxmlformats.org/drawingml/2006/main" noGrp="1"/>
          </p:cNvSpPr>
          <p:nvPr/>
        </p:nvSpPr>
        <p:spPr>
          <a:xfrm xmlns:a="http://schemas.openxmlformats.org/drawingml/2006/main">
            <a:off x="990600" y="25241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879"/>
                </a:solidFill>
              </a:defRPr>
            </a:defPPr>
          </a:lstStyle>
          <a:p xmlns:a="http://schemas.openxmlformats.org/drawingml/2006/main">
            <a:pPr>
              <a:defRPr sz="1350" b="0">
                <a:solidFill>
                  <a:srgbClr val="536879"/>
                </a:solidFill>
              </a:defRPr>
            </a:pPr>
            <a:r>
              <a:rPr sz="1350" b="0">
                <a:solidFill>
                  <a:srgbClr val="536879"/>
                </a:solidFill>
              </a:rPr>
              <a:t>Read the movie CSV</a:t>
            </a:r>
          </a:p>
        </p:txBody>
      </p:sp>
      <p:sp>
        <p:nvSpPr>
          <p:cNvPr id="12" name="">
            <a:extLst xmlns:a="http://schemas.openxmlformats.org/drawingml/2006/main">
              <a:ext uri="{FF2B5EF4-FFF2-40B4-BE49-F238E27FC236}">
                <a16:creationId xmlns:a16="http://schemas.microsoft.com/office/drawing/2014/main" id="{40BD551B-7DBD-4660-B87D-C175EDA4DC52}"/>
              </a:ext>
            </a:extLst>
          </p:cNvPr>
          <p:cNvSpPr>
            <a:spLocks xmlns:a="http://schemas.openxmlformats.org/drawingml/2006/main" noGrp="1"/>
          </p:cNvSpPr>
          <p:nvPr/>
        </p:nvSpPr>
        <p:spPr>
          <a:xfrm xmlns:a="http://schemas.openxmlformats.org/drawingml/2006/main">
            <a:off x="4476750" y="1809750"/>
            <a:ext cx="3333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8E2E8"/>
            </a:solidFill>
            <a:prstDash val="solid"/>
          </a:ln>
        </p:spPr>
      </p:sp>
      <p:sp>
        <p:nvSpPr>
          <p:cNvPr id="13" name="">
            <a:extLst xmlns:a="http://schemas.openxmlformats.org/drawingml/2006/main">
              <a:ext uri="{FF2B5EF4-FFF2-40B4-BE49-F238E27FC236}">
                <a16:creationId xmlns:a16="http://schemas.microsoft.com/office/drawing/2014/main" id="{5F2BADEC-7FE9-46D5-A1A2-5711C8190DD5}"/>
              </a:ext>
            </a:extLst>
          </p:cNvPr>
          <p:cNvSpPr>
            <a:spLocks xmlns:a="http://schemas.openxmlformats.org/drawingml/2006/main" noGrp="1"/>
          </p:cNvSpPr>
          <p:nvPr/>
        </p:nvSpPr>
        <p:spPr>
          <a:xfrm xmlns:a="http://schemas.openxmlformats.org/drawingml/2006/main">
            <a:off x="4629150" y="1981200"/>
            <a:ext cx="590550" cy="304800"/>
          </a:xfrm>
          <a:prstGeom xmlns:a="http://schemas.openxmlformats.org/drawingml/2006/main" prst="roundRect">
            <a:avLst>
              <a:gd name="adj" fmla="val 37500"/>
            </a:avLst>
          </a:prstGeom>
          <a:solidFill xmlns:a="http://schemas.openxmlformats.org/drawingml/2006/main">
            <a:srgbClr val="1024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1E5BDFF-3CF2-418B-A946-3B9111FA4FB2}"/>
              </a:ext>
            </a:extLst>
          </p:cNvPr>
          <p:cNvSpPr>
            <a:spLocks xmlns:a="http://schemas.openxmlformats.org/drawingml/2006/main" noGrp="1"/>
          </p:cNvSpPr>
          <p:nvPr/>
        </p:nvSpPr>
        <p:spPr>
          <a:xfrm xmlns:a="http://schemas.openxmlformats.org/drawingml/2006/main">
            <a:off x="4705350" y="200977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stStyle>
          <a:p xmlns:a="http://schemas.openxmlformats.org/drawingml/2006/main">
            <a:pPr algn="ctr">
              <a:defRPr sz="975" b="1">
                <a:solidFill>
                  <a:srgbClr val="FFFFFF"/>
                </a:solidFill>
              </a:defRPr>
            </a:pPr>
            <a:r>
              <a:rPr sz="975" b="1">
                <a:solidFill>
                  <a:srgbClr val="FFFFFF"/>
                </a:solidFill>
              </a:rPr>
              <a:t>02</a:t>
            </a:r>
          </a:p>
        </p:txBody>
      </p:sp>
      <p:sp>
        <p:nvSpPr>
          <p:cNvPr id="15" name="">
            <a:extLst xmlns:a="http://schemas.openxmlformats.org/drawingml/2006/main">
              <a:ext uri="{FF2B5EF4-FFF2-40B4-BE49-F238E27FC236}">
                <a16:creationId xmlns:a16="http://schemas.microsoft.com/office/drawing/2014/main" id="{D9A84463-C26D-4B38-BAC1-1163A7DEC082}"/>
              </a:ext>
            </a:extLst>
          </p:cNvPr>
          <p:cNvSpPr>
            <a:spLocks xmlns:a="http://schemas.openxmlformats.org/drawingml/2006/main" noGrp="1"/>
          </p:cNvSpPr>
          <p:nvPr/>
        </p:nvSpPr>
        <p:spPr>
          <a:xfrm xmlns:a="http://schemas.openxmlformats.org/drawingml/2006/main">
            <a:off x="5257800" y="19812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Prepare</a:t>
            </a:r>
          </a:p>
        </p:txBody>
      </p:sp>
      <p:sp>
        <p:nvSpPr>
          <p:cNvPr id="16" name="">
            <a:extLst xmlns:a="http://schemas.openxmlformats.org/drawingml/2006/main">
              <a:ext uri="{FF2B5EF4-FFF2-40B4-BE49-F238E27FC236}">
                <a16:creationId xmlns:a16="http://schemas.microsoft.com/office/drawing/2014/main" id="{69848886-10CE-48E3-9E38-3DB56B8BDE64}"/>
              </a:ext>
            </a:extLst>
          </p:cNvPr>
          <p:cNvSpPr>
            <a:spLocks xmlns:a="http://schemas.openxmlformats.org/drawingml/2006/main" noGrp="1"/>
          </p:cNvSpPr>
          <p:nvPr/>
        </p:nvSpPr>
        <p:spPr>
          <a:xfrm xmlns:a="http://schemas.openxmlformats.org/drawingml/2006/main">
            <a:off x="4705350" y="25241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879"/>
                </a:solidFill>
              </a:defRPr>
            </a:defPPr>
          </a:lstStyle>
          <a:p xmlns:a="http://schemas.openxmlformats.org/drawingml/2006/main">
            <a:pPr>
              <a:defRPr sz="1350" b="0">
                <a:solidFill>
                  <a:srgbClr val="536879"/>
                </a:solidFill>
              </a:defRPr>
            </a:pPr>
            <a:r>
              <a:rPr sz="1350" b="0">
                <a:solidFill>
                  <a:srgbClr val="536879"/>
                </a:solidFill>
              </a:rPr>
              <a:t>Canonicalize fields and preprocess</a:t>
            </a:r>
          </a:p>
        </p:txBody>
      </p:sp>
      <p:sp>
        <p:nvSpPr>
          <p:cNvPr id="17" name="">
            <a:extLst xmlns:a="http://schemas.openxmlformats.org/drawingml/2006/main">
              <a:ext uri="{FF2B5EF4-FFF2-40B4-BE49-F238E27FC236}">
                <a16:creationId xmlns:a16="http://schemas.microsoft.com/office/drawing/2014/main" id="{FD61599B-40DB-4E62-929B-0B662844512F}"/>
              </a:ext>
            </a:extLst>
          </p:cNvPr>
          <p:cNvSpPr>
            <a:spLocks xmlns:a="http://schemas.openxmlformats.org/drawingml/2006/main" noGrp="1"/>
          </p:cNvSpPr>
          <p:nvPr/>
        </p:nvSpPr>
        <p:spPr>
          <a:xfrm xmlns:a="http://schemas.openxmlformats.org/drawingml/2006/main">
            <a:off x="8191500" y="1809750"/>
            <a:ext cx="3333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8E2E8"/>
            </a:solidFill>
            <a:prstDash val="solid"/>
          </a:ln>
        </p:spPr>
      </p:sp>
      <p:sp>
        <p:nvSpPr>
          <p:cNvPr id="18" name="">
            <a:extLst xmlns:a="http://schemas.openxmlformats.org/drawingml/2006/main">
              <a:ext uri="{FF2B5EF4-FFF2-40B4-BE49-F238E27FC236}">
                <a16:creationId xmlns:a16="http://schemas.microsoft.com/office/drawing/2014/main" id="{7FC27F65-0BA7-4C68-994A-593782DA6A5F}"/>
              </a:ext>
            </a:extLst>
          </p:cNvPr>
          <p:cNvSpPr>
            <a:spLocks xmlns:a="http://schemas.openxmlformats.org/drawingml/2006/main" noGrp="1"/>
          </p:cNvSpPr>
          <p:nvPr/>
        </p:nvSpPr>
        <p:spPr>
          <a:xfrm xmlns:a="http://schemas.openxmlformats.org/drawingml/2006/main">
            <a:off x="8343900" y="1981200"/>
            <a:ext cx="590550" cy="304800"/>
          </a:xfrm>
          <a:prstGeom xmlns:a="http://schemas.openxmlformats.org/drawingml/2006/main" prst="roundRect">
            <a:avLst>
              <a:gd name="adj" fmla="val 37500"/>
            </a:avLst>
          </a:prstGeom>
          <a:solidFill xmlns:a="http://schemas.openxmlformats.org/drawingml/2006/main">
            <a:srgbClr val="1024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EA7DC77-CBC2-4251-A4DB-865DF8E33FFF}"/>
              </a:ext>
            </a:extLst>
          </p:cNvPr>
          <p:cNvSpPr>
            <a:spLocks xmlns:a="http://schemas.openxmlformats.org/drawingml/2006/main" noGrp="1"/>
          </p:cNvSpPr>
          <p:nvPr/>
        </p:nvSpPr>
        <p:spPr>
          <a:xfrm xmlns:a="http://schemas.openxmlformats.org/drawingml/2006/main">
            <a:off x="8420100" y="200977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stStyle>
          <a:p xmlns:a="http://schemas.openxmlformats.org/drawingml/2006/main">
            <a:pPr algn="ctr">
              <a:defRPr sz="975" b="1">
                <a:solidFill>
                  <a:srgbClr val="FFFFFF"/>
                </a:solidFill>
              </a:defRPr>
            </a:pPr>
            <a:r>
              <a:rPr sz="975" b="1">
                <a:solidFill>
                  <a:srgbClr val="FFFFFF"/>
                </a:solidFill>
              </a:rPr>
              <a:t>03</a:t>
            </a:r>
          </a:p>
        </p:txBody>
      </p:sp>
      <p:sp>
        <p:nvSpPr>
          <p:cNvPr id="20" name="">
            <a:extLst xmlns:a="http://schemas.openxmlformats.org/drawingml/2006/main">
              <a:ext uri="{FF2B5EF4-FFF2-40B4-BE49-F238E27FC236}">
                <a16:creationId xmlns:a16="http://schemas.microsoft.com/office/drawing/2014/main" id="{D14E2117-C6FB-4183-905F-9FF8F8DD1DC0}"/>
              </a:ext>
            </a:extLst>
          </p:cNvPr>
          <p:cNvSpPr>
            <a:spLocks xmlns:a="http://schemas.openxmlformats.org/drawingml/2006/main" noGrp="1"/>
          </p:cNvSpPr>
          <p:nvPr/>
        </p:nvSpPr>
        <p:spPr>
          <a:xfrm xmlns:a="http://schemas.openxmlformats.org/drawingml/2006/main">
            <a:off x="8972550" y="19812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Explore</a:t>
            </a:r>
          </a:p>
        </p:txBody>
      </p:sp>
      <p:sp>
        <p:nvSpPr>
          <p:cNvPr id="21" name="">
            <a:extLst xmlns:a="http://schemas.openxmlformats.org/drawingml/2006/main">
              <a:ext uri="{FF2B5EF4-FFF2-40B4-BE49-F238E27FC236}">
                <a16:creationId xmlns:a16="http://schemas.microsoft.com/office/drawing/2014/main" id="{D13E8A28-28CD-4DDB-AB51-4DB1C43033FB}"/>
              </a:ext>
            </a:extLst>
          </p:cNvPr>
          <p:cNvSpPr>
            <a:spLocks xmlns:a="http://schemas.openxmlformats.org/drawingml/2006/main" noGrp="1"/>
          </p:cNvSpPr>
          <p:nvPr/>
        </p:nvSpPr>
        <p:spPr>
          <a:xfrm xmlns:a="http://schemas.openxmlformats.org/drawingml/2006/main">
            <a:off x="8420100" y="25241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879"/>
                </a:solidFill>
              </a:defRPr>
            </a:defPPr>
          </a:lstStyle>
          <a:p xmlns:a="http://schemas.openxmlformats.org/drawingml/2006/main">
            <a:pPr>
              <a:defRPr sz="1350" b="0">
                <a:solidFill>
                  <a:srgbClr val="536879"/>
                </a:solidFill>
              </a:defRPr>
            </a:pPr>
            <a:r>
              <a:rPr sz="1350" b="0">
                <a:solidFill>
                  <a:srgbClr val="536879"/>
                </a:solidFill>
              </a:rPr>
              <a:t>Review missingness and distributions</a:t>
            </a:r>
          </a:p>
        </p:txBody>
      </p:sp>
      <p:sp>
        <p:nvSpPr>
          <p:cNvPr id="22" name="">
            <a:extLst xmlns:a="http://schemas.openxmlformats.org/drawingml/2006/main">
              <a:ext uri="{FF2B5EF4-FFF2-40B4-BE49-F238E27FC236}">
                <a16:creationId xmlns:a16="http://schemas.microsoft.com/office/drawing/2014/main" id="{428929A4-0584-498F-A029-32A2943A7B09}"/>
              </a:ext>
            </a:extLst>
          </p:cNvPr>
          <p:cNvSpPr>
            <a:spLocks xmlns:a="http://schemas.openxmlformats.org/drawingml/2006/main" noGrp="1"/>
          </p:cNvSpPr>
          <p:nvPr/>
        </p:nvSpPr>
        <p:spPr>
          <a:xfrm xmlns:a="http://schemas.openxmlformats.org/drawingml/2006/main">
            <a:off x="762000" y="3762375"/>
            <a:ext cx="3333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8E2E8"/>
            </a:solidFill>
            <a:prstDash val="solid"/>
          </a:ln>
        </p:spPr>
      </p:sp>
      <p:sp>
        <p:nvSpPr>
          <p:cNvPr id="23" name="">
            <a:extLst xmlns:a="http://schemas.openxmlformats.org/drawingml/2006/main">
              <a:ext uri="{FF2B5EF4-FFF2-40B4-BE49-F238E27FC236}">
                <a16:creationId xmlns:a16="http://schemas.microsoft.com/office/drawing/2014/main" id="{B3541042-63C6-4E7A-9E07-609E094618CD}"/>
              </a:ext>
            </a:extLst>
          </p:cNvPr>
          <p:cNvSpPr>
            <a:spLocks xmlns:a="http://schemas.openxmlformats.org/drawingml/2006/main" noGrp="1"/>
          </p:cNvSpPr>
          <p:nvPr/>
        </p:nvSpPr>
        <p:spPr>
          <a:xfrm xmlns:a="http://schemas.openxmlformats.org/drawingml/2006/main">
            <a:off x="914400" y="3933825"/>
            <a:ext cx="590550" cy="304800"/>
          </a:xfrm>
          <a:prstGeom xmlns:a="http://schemas.openxmlformats.org/drawingml/2006/main" prst="roundRect">
            <a:avLst>
              <a:gd name="adj" fmla="val 37500"/>
            </a:avLst>
          </a:prstGeom>
          <a:solidFill xmlns:a="http://schemas.openxmlformats.org/drawingml/2006/main">
            <a:srgbClr val="1024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8B12CA2-AA86-4EDB-B8A8-C385C5C33E99}"/>
              </a:ext>
            </a:extLst>
          </p:cNvPr>
          <p:cNvSpPr>
            <a:spLocks xmlns:a="http://schemas.openxmlformats.org/drawingml/2006/main" noGrp="1"/>
          </p:cNvSpPr>
          <p:nvPr/>
        </p:nvSpPr>
        <p:spPr>
          <a:xfrm xmlns:a="http://schemas.openxmlformats.org/drawingml/2006/main">
            <a:off x="990600" y="39624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stStyle>
          <a:p xmlns:a="http://schemas.openxmlformats.org/drawingml/2006/main">
            <a:pPr algn="ctr">
              <a:defRPr sz="975" b="1">
                <a:solidFill>
                  <a:srgbClr val="FFFFFF"/>
                </a:solidFill>
              </a:defRPr>
            </a:pPr>
            <a:r>
              <a:rPr sz="975" b="1">
                <a:solidFill>
                  <a:srgbClr val="FFFFFF"/>
                </a:solidFill>
              </a:rPr>
              <a:t>04</a:t>
            </a:r>
          </a:p>
        </p:txBody>
      </p:sp>
      <p:sp>
        <p:nvSpPr>
          <p:cNvPr id="25" name="">
            <a:extLst xmlns:a="http://schemas.openxmlformats.org/drawingml/2006/main">
              <a:ext uri="{FF2B5EF4-FFF2-40B4-BE49-F238E27FC236}">
                <a16:creationId xmlns:a16="http://schemas.microsoft.com/office/drawing/2014/main" id="{34E6D6D3-56F2-4B80-9EFF-63E7B4B25917}"/>
              </a:ext>
            </a:extLst>
          </p:cNvPr>
          <p:cNvSpPr>
            <a:spLocks xmlns:a="http://schemas.openxmlformats.org/drawingml/2006/main" noGrp="1"/>
          </p:cNvSpPr>
          <p:nvPr/>
        </p:nvSpPr>
        <p:spPr>
          <a:xfrm xmlns:a="http://schemas.openxmlformats.org/drawingml/2006/main">
            <a:off x="1543050" y="3933825"/>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Train</a:t>
            </a:r>
          </a:p>
        </p:txBody>
      </p:sp>
      <p:sp>
        <p:nvSpPr>
          <p:cNvPr id="26" name="">
            <a:extLst xmlns:a="http://schemas.openxmlformats.org/drawingml/2006/main">
              <a:ext uri="{FF2B5EF4-FFF2-40B4-BE49-F238E27FC236}">
                <a16:creationId xmlns:a16="http://schemas.microsoft.com/office/drawing/2014/main" id="{C405C51B-1C76-470A-BCFE-98ECDCC16061}"/>
              </a:ext>
            </a:extLst>
          </p:cNvPr>
          <p:cNvSpPr>
            <a:spLocks xmlns:a="http://schemas.openxmlformats.org/drawingml/2006/main" noGrp="1"/>
          </p:cNvSpPr>
          <p:nvPr/>
        </p:nvSpPr>
        <p:spPr>
          <a:xfrm xmlns:a="http://schemas.openxmlformats.org/drawingml/2006/main">
            <a:off x="990600" y="44767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879"/>
                </a:solidFill>
              </a:defRPr>
            </a:defPPr>
          </a:lstStyle>
          <a:p xmlns:a="http://schemas.openxmlformats.org/drawingml/2006/main">
            <a:pPr>
              <a:defRPr sz="1350" b="0">
                <a:solidFill>
                  <a:srgbClr val="536879"/>
                </a:solidFill>
              </a:defRPr>
            </a:pPr>
            <a:r>
              <a:rPr sz="1350" b="0">
                <a:solidFill>
                  <a:srgbClr val="536879"/>
                </a:solidFill>
              </a:rPr>
              <a:t>Split data and fit Elastic Net</a:t>
            </a:r>
          </a:p>
        </p:txBody>
      </p:sp>
      <p:sp>
        <p:nvSpPr>
          <p:cNvPr id="27" name="">
            <a:extLst xmlns:a="http://schemas.openxmlformats.org/drawingml/2006/main">
              <a:ext uri="{FF2B5EF4-FFF2-40B4-BE49-F238E27FC236}">
                <a16:creationId xmlns:a16="http://schemas.microsoft.com/office/drawing/2014/main" id="{BC59ACAB-72DC-417F-BD5E-B75F4DD5A04F}"/>
              </a:ext>
            </a:extLst>
          </p:cNvPr>
          <p:cNvSpPr>
            <a:spLocks xmlns:a="http://schemas.openxmlformats.org/drawingml/2006/main" noGrp="1"/>
          </p:cNvSpPr>
          <p:nvPr/>
        </p:nvSpPr>
        <p:spPr>
          <a:xfrm xmlns:a="http://schemas.openxmlformats.org/drawingml/2006/main">
            <a:off x="4476750" y="3762375"/>
            <a:ext cx="3333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8E2E8"/>
            </a:solidFill>
            <a:prstDash val="solid"/>
          </a:ln>
        </p:spPr>
      </p:sp>
      <p:sp>
        <p:nvSpPr>
          <p:cNvPr id="28" name="">
            <a:extLst xmlns:a="http://schemas.openxmlformats.org/drawingml/2006/main">
              <a:ext uri="{FF2B5EF4-FFF2-40B4-BE49-F238E27FC236}">
                <a16:creationId xmlns:a16="http://schemas.microsoft.com/office/drawing/2014/main" id="{5F8EC418-2B98-4A32-82E4-5C8A90A8C657}"/>
              </a:ext>
            </a:extLst>
          </p:cNvPr>
          <p:cNvSpPr>
            <a:spLocks xmlns:a="http://schemas.openxmlformats.org/drawingml/2006/main" noGrp="1"/>
          </p:cNvSpPr>
          <p:nvPr/>
        </p:nvSpPr>
        <p:spPr>
          <a:xfrm xmlns:a="http://schemas.openxmlformats.org/drawingml/2006/main">
            <a:off x="4629150" y="3933825"/>
            <a:ext cx="590550" cy="304800"/>
          </a:xfrm>
          <a:prstGeom xmlns:a="http://schemas.openxmlformats.org/drawingml/2006/main" prst="roundRect">
            <a:avLst>
              <a:gd name="adj" fmla="val 37500"/>
            </a:avLst>
          </a:prstGeom>
          <a:solidFill xmlns:a="http://schemas.openxmlformats.org/drawingml/2006/main">
            <a:srgbClr val="10243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63B77CB-D1B2-4FD9-A462-A4839137EFF7}"/>
              </a:ext>
            </a:extLst>
          </p:cNvPr>
          <p:cNvSpPr>
            <a:spLocks xmlns:a="http://schemas.openxmlformats.org/drawingml/2006/main" noGrp="1"/>
          </p:cNvSpPr>
          <p:nvPr/>
        </p:nvSpPr>
        <p:spPr>
          <a:xfrm xmlns:a="http://schemas.openxmlformats.org/drawingml/2006/main">
            <a:off x="4705350" y="39624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stStyle>
          <a:p xmlns:a="http://schemas.openxmlformats.org/drawingml/2006/main">
            <a:pPr algn="ctr">
              <a:defRPr sz="975" b="1">
                <a:solidFill>
                  <a:srgbClr val="FFFFFF"/>
                </a:solidFill>
              </a:defRPr>
            </a:pPr>
            <a:r>
              <a:rPr sz="975" b="1">
                <a:solidFill>
                  <a:srgbClr val="FFFFFF"/>
                </a:solidFill>
              </a:rPr>
              <a:t>05</a:t>
            </a:r>
          </a:p>
        </p:txBody>
      </p:sp>
      <p:sp>
        <p:nvSpPr>
          <p:cNvPr id="30" name="">
            <a:extLst xmlns:a="http://schemas.openxmlformats.org/drawingml/2006/main">
              <a:ext uri="{FF2B5EF4-FFF2-40B4-BE49-F238E27FC236}">
                <a16:creationId xmlns:a16="http://schemas.microsoft.com/office/drawing/2014/main" id="{047FDA2F-C6EA-430C-9196-15B9A6792D3B}"/>
              </a:ext>
            </a:extLst>
          </p:cNvPr>
          <p:cNvSpPr>
            <a:spLocks xmlns:a="http://schemas.openxmlformats.org/drawingml/2006/main" noGrp="1"/>
          </p:cNvSpPr>
          <p:nvPr/>
        </p:nvSpPr>
        <p:spPr>
          <a:xfrm xmlns:a="http://schemas.openxmlformats.org/drawingml/2006/main">
            <a:off x="5257800" y="3933825"/>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Evaluate</a:t>
            </a:r>
          </a:p>
        </p:txBody>
      </p:sp>
      <p:sp>
        <p:nvSpPr>
          <p:cNvPr id="31" name="">
            <a:extLst xmlns:a="http://schemas.openxmlformats.org/drawingml/2006/main">
              <a:ext uri="{FF2B5EF4-FFF2-40B4-BE49-F238E27FC236}">
                <a16:creationId xmlns:a16="http://schemas.microsoft.com/office/drawing/2014/main" id="{1652EB9C-4089-4883-85F7-7A450051878E}"/>
              </a:ext>
            </a:extLst>
          </p:cNvPr>
          <p:cNvSpPr>
            <a:spLocks xmlns:a="http://schemas.openxmlformats.org/drawingml/2006/main" noGrp="1"/>
          </p:cNvSpPr>
          <p:nvPr/>
        </p:nvSpPr>
        <p:spPr>
          <a:xfrm xmlns:a="http://schemas.openxmlformats.org/drawingml/2006/main">
            <a:off x="4705350" y="44767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879"/>
                </a:solidFill>
              </a:defRPr>
            </a:defPPr>
          </a:lstStyle>
          <a:p xmlns:a="http://schemas.openxmlformats.org/drawingml/2006/main">
            <a:pPr>
              <a:defRPr sz="1350" b="0">
                <a:solidFill>
                  <a:srgbClr val="536879"/>
                </a:solidFill>
              </a:defRPr>
            </a:pPr>
            <a:r>
              <a:rPr sz="1350" b="0">
                <a:solidFill>
                  <a:srgbClr val="536879"/>
                </a:solidFill>
              </a:rPr>
              <a:t>Calculate regression metrics</a:t>
            </a:r>
          </a:p>
        </p:txBody>
      </p:sp>
      <p:sp>
        <p:nvSpPr>
          <p:cNvPr id="32" name="">
            <a:extLst xmlns:a="http://schemas.openxmlformats.org/drawingml/2006/main">
              <a:ext uri="{FF2B5EF4-FFF2-40B4-BE49-F238E27FC236}">
                <a16:creationId xmlns:a16="http://schemas.microsoft.com/office/drawing/2014/main" id="{A02D02F3-55C3-40D7-B07B-33B3198BB8F0}"/>
              </a:ext>
            </a:extLst>
          </p:cNvPr>
          <p:cNvSpPr>
            <a:spLocks xmlns:a="http://schemas.openxmlformats.org/drawingml/2006/main" noGrp="1"/>
          </p:cNvSpPr>
          <p:nvPr/>
        </p:nvSpPr>
        <p:spPr>
          <a:xfrm xmlns:a="http://schemas.openxmlformats.org/drawingml/2006/main">
            <a:off x="8191500" y="3762375"/>
            <a:ext cx="3333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8E2E8"/>
            </a:solidFill>
            <a:prstDash val="solid"/>
          </a:ln>
        </p:spPr>
      </p:sp>
      <p:sp>
        <p:nvSpPr>
          <p:cNvPr id="33" name="">
            <a:extLst xmlns:a="http://schemas.openxmlformats.org/drawingml/2006/main">
              <a:ext uri="{FF2B5EF4-FFF2-40B4-BE49-F238E27FC236}">
                <a16:creationId xmlns:a16="http://schemas.microsoft.com/office/drawing/2014/main" id="{4F3C2659-16A2-4BE9-8E81-EAD113DD10EC}"/>
              </a:ext>
            </a:extLst>
          </p:cNvPr>
          <p:cNvSpPr>
            <a:spLocks xmlns:a="http://schemas.openxmlformats.org/drawingml/2006/main" noGrp="1"/>
          </p:cNvSpPr>
          <p:nvPr/>
        </p:nvSpPr>
        <p:spPr>
          <a:xfrm xmlns:a="http://schemas.openxmlformats.org/drawingml/2006/main">
            <a:off x="8343900" y="3933825"/>
            <a:ext cx="590550" cy="304800"/>
          </a:xfrm>
          <a:prstGeom xmlns:a="http://schemas.openxmlformats.org/drawingml/2006/main" prst="roundRect">
            <a:avLst>
              <a:gd name="adj" fmla="val 37500"/>
            </a:avLst>
          </a:prstGeom>
          <a:solidFill xmlns:a="http://schemas.openxmlformats.org/drawingml/2006/main">
            <a:srgbClr val="10243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BE5D287-ABAD-46B2-B64D-379A3D75A6F0}"/>
              </a:ext>
            </a:extLst>
          </p:cNvPr>
          <p:cNvSpPr>
            <a:spLocks xmlns:a="http://schemas.openxmlformats.org/drawingml/2006/main" noGrp="1"/>
          </p:cNvSpPr>
          <p:nvPr/>
        </p:nvSpPr>
        <p:spPr>
          <a:xfrm xmlns:a="http://schemas.openxmlformats.org/drawingml/2006/main">
            <a:off x="8420100" y="39624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stStyle>
          <a:p xmlns:a="http://schemas.openxmlformats.org/drawingml/2006/main">
            <a:pPr algn="ctr">
              <a:defRPr sz="975" b="1">
                <a:solidFill>
                  <a:srgbClr val="FFFFFF"/>
                </a:solidFill>
              </a:defRPr>
            </a:pPr>
            <a:r>
              <a:rPr sz="975" b="1">
                <a:solidFill>
                  <a:srgbClr val="FFFFFF"/>
                </a:solidFill>
              </a:rPr>
              <a:t>06</a:t>
            </a:r>
          </a:p>
        </p:txBody>
      </p:sp>
      <p:sp>
        <p:nvSpPr>
          <p:cNvPr id="35" name="">
            <a:extLst xmlns:a="http://schemas.openxmlformats.org/drawingml/2006/main">
              <a:ext uri="{FF2B5EF4-FFF2-40B4-BE49-F238E27FC236}">
                <a16:creationId xmlns:a16="http://schemas.microsoft.com/office/drawing/2014/main" id="{8974A246-1097-47AF-AFE3-97427F6FE517}"/>
              </a:ext>
            </a:extLst>
          </p:cNvPr>
          <p:cNvSpPr>
            <a:spLocks xmlns:a="http://schemas.openxmlformats.org/drawingml/2006/main" noGrp="1"/>
          </p:cNvSpPr>
          <p:nvPr/>
        </p:nvSpPr>
        <p:spPr>
          <a:xfrm xmlns:a="http://schemas.openxmlformats.org/drawingml/2006/main">
            <a:off x="8972550" y="3933825"/>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Serve</a:t>
            </a:r>
          </a:p>
        </p:txBody>
      </p:sp>
      <p:sp>
        <p:nvSpPr>
          <p:cNvPr id="36" name="">
            <a:extLst xmlns:a="http://schemas.openxmlformats.org/drawingml/2006/main">
              <a:ext uri="{FF2B5EF4-FFF2-40B4-BE49-F238E27FC236}">
                <a16:creationId xmlns:a16="http://schemas.microsoft.com/office/drawing/2014/main" id="{BC5A930B-C87C-44D7-B5D4-E2BC7D4ED63F}"/>
              </a:ext>
            </a:extLst>
          </p:cNvPr>
          <p:cNvSpPr>
            <a:spLocks xmlns:a="http://schemas.openxmlformats.org/drawingml/2006/main" noGrp="1"/>
          </p:cNvSpPr>
          <p:nvPr/>
        </p:nvSpPr>
        <p:spPr>
          <a:xfrm xmlns:a="http://schemas.openxmlformats.org/drawingml/2006/main">
            <a:off x="8420100" y="44767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879"/>
                </a:solidFill>
              </a:defRPr>
            </a:defPPr>
          </a:lstStyle>
          <a:p xmlns:a="http://schemas.openxmlformats.org/drawingml/2006/main">
            <a:pPr>
              <a:defRPr sz="1350" b="0">
                <a:solidFill>
                  <a:srgbClr val="536879"/>
                </a:solidFill>
              </a:defRPr>
            </a:pPr>
            <a:r>
              <a:rPr sz="1350" b="0">
                <a:solidFill>
                  <a:srgbClr val="536879"/>
                </a:solidFill>
              </a:rPr>
              <a:t>Show predictions and analytics</a:t>
            </a:r>
          </a:p>
        </p:txBody>
      </p:sp>
      <p:sp>
        <p:nvSpPr>
          <p:cNvPr id="37" name="">
            <a:extLst xmlns:a="http://schemas.openxmlformats.org/drawingml/2006/main">
              <a:ext uri="{FF2B5EF4-FFF2-40B4-BE49-F238E27FC236}">
                <a16:creationId xmlns:a16="http://schemas.microsoft.com/office/drawing/2014/main" id="{3BA8C2F7-7734-43E5-BC9F-033FA398AB3E}"/>
              </a:ext>
            </a:extLst>
          </p:cNvPr>
          <p:cNvSpPr>
            <a:spLocks xmlns:a="http://schemas.openxmlformats.org/drawingml/2006/main" noGrp="1"/>
          </p:cNvSpPr>
          <p:nvPr/>
        </p:nvSpPr>
        <p:spPr>
          <a:xfrm xmlns:a="http://schemas.openxmlformats.org/drawingml/2006/main">
            <a:off x="781050" y="58578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36879"/>
                </a:solidFill>
              </a:defRPr>
            </a:defPPr>
          </a:lstStyle>
          <a:p xmlns:a="http://schemas.openxmlformats.org/drawingml/2006/main">
            <a:pPr>
              <a:defRPr sz="1200" b="0">
                <a:solidFill>
                  <a:srgbClr val="536879"/>
                </a:solidFill>
              </a:defRPr>
            </a:pPr>
            <a:r>
              <a:rPr sz="1200" b="0">
                <a:solidFill>
                  <a:srgbClr val="536879"/>
                </a:solidFill>
              </a:rPr>
              <a:t>Training and evaluation code: src/train_model.py, src/tune_model.py, and src/evaluate_model.py</a:t>
            </a:r>
          </a:p>
        </p:txBody>
      </p:sp>
    </p:spTree>
    <p:extLst>
      <p:ext uri="{BB962C8B-B14F-4D97-AF65-F5344CB8AC3E}">
        <p14:creationId xmlns:p14="http://schemas.microsoft.com/office/powerpoint/2010/main" val="1613734713"/>
      </p:ext>
    </p:extLst>
  </p:cSld>
</p:sld>
</file>

<file path=ppt/slides/slide8.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EE4CBFE-C36B-436A-BA2D-AE5BDD5E57F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DB65D2-FF19-4260-8B35-1BED1AD5725C}"/>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B038BA7D-BA7A-4C65-9D4A-8C74533CD8F9}"/>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Technology Stack</a:t>
            </a:r>
          </a:p>
        </p:txBody>
      </p:sp>
      <p:sp>
        <p:nvSpPr>
          <p:cNvPr id="4" name="">
            <a:extLst xmlns:a="http://schemas.openxmlformats.org/drawingml/2006/main">
              <a:ext uri="{FF2B5EF4-FFF2-40B4-BE49-F238E27FC236}">
                <a16:creationId xmlns:a16="http://schemas.microsoft.com/office/drawing/2014/main" id="{E8A79028-F615-4358-8574-9D242EBACBEF}"/>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E78CEA1-F198-479D-8BE7-F9FA5C2A5B85}"/>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7ECFE2BC-092B-4039-B902-E0F426955B82}"/>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08</a:t>
            </a:r>
          </a:p>
        </p:txBody>
      </p:sp>
      <p:sp>
        <p:nvSpPr>
          <p:cNvPr id="7" name="">
            <a:extLst xmlns:a="http://schemas.openxmlformats.org/drawingml/2006/main">
              <a:ext uri="{FF2B5EF4-FFF2-40B4-BE49-F238E27FC236}">
                <a16:creationId xmlns:a16="http://schemas.microsoft.com/office/drawing/2014/main" id="{9C21DAED-5791-44E0-8707-A0E91246D115}"/>
              </a:ext>
            </a:extLst>
          </p:cNvPr>
          <p:cNvSpPr>
            <a:spLocks xmlns:a="http://schemas.openxmlformats.org/drawingml/2006/main" noGrp="1"/>
          </p:cNvSpPr>
          <p:nvPr/>
        </p:nvSpPr>
        <p:spPr>
          <a:xfrm xmlns:a="http://schemas.openxmlformats.org/drawingml/2006/main">
            <a:off x="762000" y="1695450"/>
            <a:ext cx="2952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8" name="">
            <a:extLst xmlns:a="http://schemas.openxmlformats.org/drawingml/2006/main">
              <a:ext uri="{FF2B5EF4-FFF2-40B4-BE49-F238E27FC236}">
                <a16:creationId xmlns:a16="http://schemas.microsoft.com/office/drawing/2014/main" id="{A3586523-DA71-4793-BF77-6EE073F39A57}"/>
              </a:ext>
            </a:extLst>
          </p:cNvPr>
          <p:cNvSpPr>
            <a:spLocks xmlns:a="http://schemas.openxmlformats.org/drawingml/2006/main" noGrp="1"/>
          </p:cNvSpPr>
          <p:nvPr/>
        </p:nvSpPr>
        <p:spPr>
          <a:xfrm xmlns:a="http://schemas.openxmlformats.org/drawingml/2006/main">
            <a:off x="933450" y="1790700"/>
            <a:ext cx="2619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43A"/>
                </a:solidFill>
              </a:defRPr>
            </a:defPPr>
          </a:lstStyle>
          <a:p xmlns:a="http://schemas.openxmlformats.org/drawingml/2006/main">
            <a:pPr>
              <a:defRPr sz="1425" b="1">
                <a:solidFill>
                  <a:srgbClr val="10243A"/>
                </a:solidFill>
              </a:defRPr>
            </a:pPr>
            <a:r>
              <a:rPr sz="1425" b="1">
                <a:solidFill>
                  <a:srgbClr val="10243A"/>
                </a:solidFill>
              </a:rPr>
              <a:t>Python</a:t>
            </a:r>
          </a:p>
        </p:txBody>
      </p:sp>
      <p:sp>
        <p:nvSpPr>
          <p:cNvPr id="9" name="">
            <a:extLst xmlns:a="http://schemas.openxmlformats.org/drawingml/2006/main">
              <a:ext uri="{FF2B5EF4-FFF2-40B4-BE49-F238E27FC236}">
                <a16:creationId xmlns:a16="http://schemas.microsoft.com/office/drawing/2014/main" id="{420E39A9-D066-41B1-89BB-86EF125D234C}"/>
              </a:ext>
            </a:extLst>
          </p:cNvPr>
          <p:cNvSpPr>
            <a:spLocks xmlns:a="http://schemas.openxmlformats.org/drawingml/2006/main" noGrp="1"/>
          </p:cNvSpPr>
          <p:nvPr/>
        </p:nvSpPr>
        <p:spPr>
          <a:xfrm xmlns:a="http://schemas.openxmlformats.org/drawingml/2006/main">
            <a:off x="3867150" y="1695450"/>
            <a:ext cx="7524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10" name="">
            <a:extLst xmlns:a="http://schemas.openxmlformats.org/drawingml/2006/main">
              <a:ext uri="{FF2B5EF4-FFF2-40B4-BE49-F238E27FC236}">
                <a16:creationId xmlns:a16="http://schemas.microsoft.com/office/drawing/2014/main" id="{B11F7A52-D808-47E6-AAFD-606C3A87DEC9}"/>
              </a:ext>
            </a:extLst>
          </p:cNvPr>
          <p:cNvSpPr>
            <a:spLocks xmlns:a="http://schemas.openxmlformats.org/drawingml/2006/main" noGrp="1"/>
          </p:cNvSpPr>
          <p:nvPr/>
        </p:nvSpPr>
        <p:spPr>
          <a:xfrm xmlns:a="http://schemas.openxmlformats.org/drawingml/2006/main">
            <a:off x="4076700" y="1790700"/>
            <a:ext cx="714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Data processing, regression, Streamlit UI</a:t>
            </a:r>
          </a:p>
        </p:txBody>
      </p:sp>
      <p:sp>
        <p:nvSpPr>
          <p:cNvPr id="11" name="">
            <a:extLst xmlns:a="http://schemas.openxmlformats.org/drawingml/2006/main">
              <a:ext uri="{FF2B5EF4-FFF2-40B4-BE49-F238E27FC236}">
                <a16:creationId xmlns:a16="http://schemas.microsoft.com/office/drawing/2014/main" id="{B3CF57E5-991C-4001-8C97-CEA8545A5BCA}"/>
              </a:ext>
            </a:extLst>
          </p:cNvPr>
          <p:cNvSpPr>
            <a:spLocks xmlns:a="http://schemas.openxmlformats.org/drawingml/2006/main" noGrp="1"/>
          </p:cNvSpPr>
          <p:nvPr/>
        </p:nvSpPr>
        <p:spPr>
          <a:xfrm xmlns:a="http://schemas.openxmlformats.org/drawingml/2006/main">
            <a:off x="762000" y="2333625"/>
            <a:ext cx="2952750" cy="495300"/>
          </a:xfrm>
          <a:prstGeom xmlns:a="http://schemas.openxmlformats.org/drawingml/2006/main" prst="roundRect">
            <a:avLst>
              <a:gd name="adj" fmla="val 23077"/>
            </a:avLst>
          </a:prstGeom>
          <a:solidFill xmlns:a="http://schemas.openxmlformats.org/drawingml/2006/main">
            <a:srgbClr val="F4F7F9"/>
          </a:solidFill>
          <a:ln xmlns:a="http://schemas.openxmlformats.org/drawingml/2006/main" w="9525">
            <a:solidFill>
              <a:srgbClr val="D8E2E8"/>
            </a:solidFill>
            <a:prstDash val="solid"/>
          </a:ln>
        </p:spPr>
      </p:sp>
      <p:sp>
        <p:nvSpPr>
          <p:cNvPr id="12" name="">
            <a:extLst xmlns:a="http://schemas.openxmlformats.org/drawingml/2006/main">
              <a:ext uri="{FF2B5EF4-FFF2-40B4-BE49-F238E27FC236}">
                <a16:creationId xmlns:a16="http://schemas.microsoft.com/office/drawing/2014/main" id="{1F99FCDA-D7BF-4C3A-AF91-DD793F14E1FE}"/>
              </a:ext>
            </a:extLst>
          </p:cNvPr>
          <p:cNvSpPr>
            <a:spLocks xmlns:a="http://schemas.openxmlformats.org/drawingml/2006/main" noGrp="1"/>
          </p:cNvSpPr>
          <p:nvPr/>
        </p:nvSpPr>
        <p:spPr>
          <a:xfrm xmlns:a="http://schemas.openxmlformats.org/drawingml/2006/main">
            <a:off x="933450" y="2428875"/>
            <a:ext cx="2619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43A"/>
                </a:solidFill>
              </a:defRPr>
            </a:defPPr>
          </a:lstStyle>
          <a:p xmlns:a="http://schemas.openxmlformats.org/drawingml/2006/main">
            <a:pPr>
              <a:defRPr sz="1425" b="1">
                <a:solidFill>
                  <a:srgbClr val="10243A"/>
                </a:solidFill>
              </a:defRPr>
            </a:pPr>
            <a:r>
              <a:rPr sz="1425" b="1">
                <a:solidFill>
                  <a:srgbClr val="10243A"/>
                </a:solidFill>
              </a:rPr>
              <a:t>Java</a:t>
            </a:r>
          </a:p>
        </p:txBody>
      </p:sp>
      <p:sp>
        <p:nvSpPr>
          <p:cNvPr id="13" name="">
            <a:extLst xmlns:a="http://schemas.openxmlformats.org/drawingml/2006/main">
              <a:ext uri="{FF2B5EF4-FFF2-40B4-BE49-F238E27FC236}">
                <a16:creationId xmlns:a16="http://schemas.microsoft.com/office/drawing/2014/main" id="{FDE14618-138D-424A-9B3C-AEC03A047DCE}"/>
              </a:ext>
            </a:extLst>
          </p:cNvPr>
          <p:cNvSpPr>
            <a:spLocks xmlns:a="http://schemas.openxmlformats.org/drawingml/2006/main" noGrp="1"/>
          </p:cNvSpPr>
          <p:nvPr/>
        </p:nvSpPr>
        <p:spPr>
          <a:xfrm xmlns:a="http://schemas.openxmlformats.org/drawingml/2006/main">
            <a:off x="3867150" y="2333625"/>
            <a:ext cx="7524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14" name="">
            <a:extLst xmlns:a="http://schemas.openxmlformats.org/drawingml/2006/main">
              <a:ext uri="{FF2B5EF4-FFF2-40B4-BE49-F238E27FC236}">
                <a16:creationId xmlns:a16="http://schemas.microsoft.com/office/drawing/2014/main" id="{2CAD3BF3-78B1-4E88-B5FF-BF56827EFC85}"/>
              </a:ext>
            </a:extLst>
          </p:cNvPr>
          <p:cNvSpPr>
            <a:spLocks xmlns:a="http://schemas.openxmlformats.org/drawingml/2006/main" noGrp="1"/>
          </p:cNvSpPr>
          <p:nvPr/>
        </p:nvSpPr>
        <p:spPr>
          <a:xfrm xmlns:a="http://schemas.openxmlformats.org/drawingml/2006/main">
            <a:off x="4076700" y="2428875"/>
            <a:ext cx="714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Search and recommendation algorithm engine</a:t>
            </a:r>
          </a:p>
        </p:txBody>
      </p:sp>
      <p:sp>
        <p:nvSpPr>
          <p:cNvPr id="15" name="">
            <a:extLst xmlns:a="http://schemas.openxmlformats.org/drawingml/2006/main">
              <a:ext uri="{FF2B5EF4-FFF2-40B4-BE49-F238E27FC236}">
                <a16:creationId xmlns:a16="http://schemas.microsoft.com/office/drawing/2014/main" id="{FECFCEC3-9325-439B-B71E-03C8DB166FEB}"/>
              </a:ext>
            </a:extLst>
          </p:cNvPr>
          <p:cNvSpPr>
            <a:spLocks xmlns:a="http://schemas.openxmlformats.org/drawingml/2006/main" noGrp="1"/>
          </p:cNvSpPr>
          <p:nvPr/>
        </p:nvSpPr>
        <p:spPr>
          <a:xfrm xmlns:a="http://schemas.openxmlformats.org/drawingml/2006/main">
            <a:off x="762000" y="2971800"/>
            <a:ext cx="2952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16" name="">
            <a:extLst xmlns:a="http://schemas.openxmlformats.org/drawingml/2006/main">
              <a:ext uri="{FF2B5EF4-FFF2-40B4-BE49-F238E27FC236}">
                <a16:creationId xmlns:a16="http://schemas.microsoft.com/office/drawing/2014/main" id="{6BD26962-B83E-4BF5-A6CD-2D2EB7E3D892}"/>
              </a:ext>
            </a:extLst>
          </p:cNvPr>
          <p:cNvSpPr>
            <a:spLocks xmlns:a="http://schemas.openxmlformats.org/drawingml/2006/main" noGrp="1"/>
          </p:cNvSpPr>
          <p:nvPr/>
        </p:nvSpPr>
        <p:spPr>
          <a:xfrm xmlns:a="http://schemas.openxmlformats.org/drawingml/2006/main">
            <a:off x="933450" y="3067050"/>
            <a:ext cx="2619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43A"/>
                </a:solidFill>
              </a:defRPr>
            </a:defPPr>
          </a:lstStyle>
          <a:p xmlns:a="http://schemas.openxmlformats.org/drawingml/2006/main">
            <a:pPr>
              <a:defRPr sz="1425" b="1">
                <a:solidFill>
                  <a:srgbClr val="10243A"/>
                </a:solidFill>
              </a:defRPr>
            </a:pPr>
            <a:r>
              <a:rPr sz="1425" b="1">
                <a:solidFill>
                  <a:srgbClr val="10243A"/>
                </a:solidFill>
              </a:rPr>
              <a:t>Pandas / NumPy</a:t>
            </a:r>
          </a:p>
        </p:txBody>
      </p:sp>
      <p:sp>
        <p:nvSpPr>
          <p:cNvPr id="17" name="">
            <a:extLst xmlns:a="http://schemas.openxmlformats.org/drawingml/2006/main">
              <a:ext uri="{FF2B5EF4-FFF2-40B4-BE49-F238E27FC236}">
                <a16:creationId xmlns:a16="http://schemas.microsoft.com/office/drawing/2014/main" id="{D0FBACFA-B0F9-4535-89A3-4E428A90549A}"/>
              </a:ext>
            </a:extLst>
          </p:cNvPr>
          <p:cNvSpPr>
            <a:spLocks xmlns:a="http://schemas.openxmlformats.org/drawingml/2006/main" noGrp="1"/>
          </p:cNvSpPr>
          <p:nvPr/>
        </p:nvSpPr>
        <p:spPr>
          <a:xfrm xmlns:a="http://schemas.openxmlformats.org/drawingml/2006/main">
            <a:off x="3867150" y="2971800"/>
            <a:ext cx="7524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18" name="">
            <a:extLst xmlns:a="http://schemas.openxmlformats.org/drawingml/2006/main">
              <a:ext uri="{FF2B5EF4-FFF2-40B4-BE49-F238E27FC236}">
                <a16:creationId xmlns:a16="http://schemas.microsoft.com/office/drawing/2014/main" id="{B0EFAEFE-2999-46CE-A9C7-3E78B8CF0FE8}"/>
              </a:ext>
            </a:extLst>
          </p:cNvPr>
          <p:cNvSpPr>
            <a:spLocks xmlns:a="http://schemas.openxmlformats.org/drawingml/2006/main" noGrp="1"/>
          </p:cNvSpPr>
          <p:nvPr/>
        </p:nvSpPr>
        <p:spPr>
          <a:xfrm xmlns:a="http://schemas.openxmlformats.org/drawingml/2006/main">
            <a:off x="4076700" y="3067050"/>
            <a:ext cx="714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Tabular data and numeric operations</a:t>
            </a:r>
          </a:p>
        </p:txBody>
      </p:sp>
      <p:sp>
        <p:nvSpPr>
          <p:cNvPr id="19" name="">
            <a:extLst xmlns:a="http://schemas.openxmlformats.org/drawingml/2006/main">
              <a:ext uri="{FF2B5EF4-FFF2-40B4-BE49-F238E27FC236}">
                <a16:creationId xmlns:a16="http://schemas.microsoft.com/office/drawing/2014/main" id="{73DB1DC8-A16A-40E8-A580-99502947FD83}"/>
              </a:ext>
            </a:extLst>
          </p:cNvPr>
          <p:cNvSpPr>
            <a:spLocks xmlns:a="http://schemas.openxmlformats.org/drawingml/2006/main" noGrp="1"/>
          </p:cNvSpPr>
          <p:nvPr/>
        </p:nvSpPr>
        <p:spPr>
          <a:xfrm xmlns:a="http://schemas.openxmlformats.org/drawingml/2006/main">
            <a:off x="762000" y="3609975"/>
            <a:ext cx="2952750" cy="495300"/>
          </a:xfrm>
          <a:prstGeom xmlns:a="http://schemas.openxmlformats.org/drawingml/2006/main" prst="roundRect">
            <a:avLst>
              <a:gd name="adj" fmla="val 23077"/>
            </a:avLst>
          </a:prstGeom>
          <a:solidFill xmlns:a="http://schemas.openxmlformats.org/drawingml/2006/main">
            <a:srgbClr val="F4F7F9"/>
          </a:solidFill>
          <a:ln xmlns:a="http://schemas.openxmlformats.org/drawingml/2006/main" w="9525">
            <a:solidFill>
              <a:srgbClr val="D8E2E8"/>
            </a:solidFill>
            <a:prstDash val="solid"/>
          </a:ln>
        </p:spPr>
      </p:sp>
      <p:sp>
        <p:nvSpPr>
          <p:cNvPr id="20" name="">
            <a:extLst xmlns:a="http://schemas.openxmlformats.org/drawingml/2006/main">
              <a:ext uri="{FF2B5EF4-FFF2-40B4-BE49-F238E27FC236}">
                <a16:creationId xmlns:a16="http://schemas.microsoft.com/office/drawing/2014/main" id="{161F0DD6-5E87-4C0F-9F30-0465B5D32277}"/>
              </a:ext>
            </a:extLst>
          </p:cNvPr>
          <p:cNvSpPr>
            <a:spLocks xmlns:a="http://schemas.openxmlformats.org/drawingml/2006/main" noGrp="1"/>
          </p:cNvSpPr>
          <p:nvPr/>
        </p:nvSpPr>
        <p:spPr>
          <a:xfrm xmlns:a="http://schemas.openxmlformats.org/drawingml/2006/main">
            <a:off x="933450" y="3705225"/>
            <a:ext cx="2619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43A"/>
                </a:solidFill>
              </a:defRPr>
            </a:defPPr>
          </a:lstStyle>
          <a:p xmlns:a="http://schemas.openxmlformats.org/drawingml/2006/main">
            <a:pPr>
              <a:defRPr sz="1425" b="1">
                <a:solidFill>
                  <a:srgbClr val="10243A"/>
                </a:solidFill>
              </a:defRPr>
            </a:pPr>
            <a:r>
              <a:rPr sz="1425" b="1">
                <a:solidFill>
                  <a:srgbClr val="10243A"/>
                </a:solidFill>
              </a:rPr>
              <a:t>scikit-learn</a:t>
            </a:r>
          </a:p>
        </p:txBody>
      </p:sp>
      <p:sp>
        <p:nvSpPr>
          <p:cNvPr id="21" name="">
            <a:extLst xmlns:a="http://schemas.openxmlformats.org/drawingml/2006/main">
              <a:ext uri="{FF2B5EF4-FFF2-40B4-BE49-F238E27FC236}">
                <a16:creationId xmlns:a16="http://schemas.microsoft.com/office/drawing/2014/main" id="{302499B6-E112-4335-A5A3-3084FCD5DD80}"/>
              </a:ext>
            </a:extLst>
          </p:cNvPr>
          <p:cNvSpPr>
            <a:spLocks xmlns:a="http://schemas.openxmlformats.org/drawingml/2006/main" noGrp="1"/>
          </p:cNvSpPr>
          <p:nvPr/>
        </p:nvSpPr>
        <p:spPr>
          <a:xfrm xmlns:a="http://schemas.openxmlformats.org/drawingml/2006/main">
            <a:off x="3867150" y="3609975"/>
            <a:ext cx="7524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22" name="">
            <a:extLst xmlns:a="http://schemas.openxmlformats.org/drawingml/2006/main">
              <a:ext uri="{FF2B5EF4-FFF2-40B4-BE49-F238E27FC236}">
                <a16:creationId xmlns:a16="http://schemas.microsoft.com/office/drawing/2014/main" id="{15C7B059-EA9B-4E63-96E7-F49AF2B420FD}"/>
              </a:ext>
            </a:extLst>
          </p:cNvPr>
          <p:cNvSpPr>
            <a:spLocks xmlns:a="http://schemas.openxmlformats.org/drawingml/2006/main" noGrp="1"/>
          </p:cNvSpPr>
          <p:nvPr/>
        </p:nvSpPr>
        <p:spPr>
          <a:xfrm xmlns:a="http://schemas.openxmlformats.org/drawingml/2006/main">
            <a:off x="4076700" y="3705225"/>
            <a:ext cx="714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Preprocessing, Elastic Net, evaluation</a:t>
            </a:r>
          </a:p>
        </p:txBody>
      </p:sp>
      <p:sp>
        <p:nvSpPr>
          <p:cNvPr id="23" name="">
            <a:extLst xmlns:a="http://schemas.openxmlformats.org/drawingml/2006/main">
              <a:ext uri="{FF2B5EF4-FFF2-40B4-BE49-F238E27FC236}">
                <a16:creationId xmlns:a16="http://schemas.microsoft.com/office/drawing/2014/main" id="{7EEF8747-BCCF-4CB4-B802-94738CC01E08}"/>
              </a:ext>
            </a:extLst>
          </p:cNvPr>
          <p:cNvSpPr>
            <a:spLocks xmlns:a="http://schemas.openxmlformats.org/drawingml/2006/main" noGrp="1"/>
          </p:cNvSpPr>
          <p:nvPr/>
        </p:nvSpPr>
        <p:spPr>
          <a:xfrm xmlns:a="http://schemas.openxmlformats.org/drawingml/2006/main">
            <a:off x="762000" y="4248150"/>
            <a:ext cx="2952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24" name="">
            <a:extLst xmlns:a="http://schemas.openxmlformats.org/drawingml/2006/main">
              <a:ext uri="{FF2B5EF4-FFF2-40B4-BE49-F238E27FC236}">
                <a16:creationId xmlns:a16="http://schemas.microsoft.com/office/drawing/2014/main" id="{8CC847D5-7298-4583-9B96-0F5AC9F7BFFB}"/>
              </a:ext>
            </a:extLst>
          </p:cNvPr>
          <p:cNvSpPr>
            <a:spLocks xmlns:a="http://schemas.openxmlformats.org/drawingml/2006/main" noGrp="1"/>
          </p:cNvSpPr>
          <p:nvPr/>
        </p:nvSpPr>
        <p:spPr>
          <a:xfrm xmlns:a="http://schemas.openxmlformats.org/drawingml/2006/main">
            <a:off x="933450" y="4343400"/>
            <a:ext cx="2619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43A"/>
                </a:solidFill>
              </a:defRPr>
            </a:defPPr>
          </a:lstStyle>
          <a:p xmlns:a="http://schemas.openxmlformats.org/drawingml/2006/main">
            <a:pPr>
              <a:defRPr sz="1425" b="1">
                <a:solidFill>
                  <a:srgbClr val="10243A"/>
                </a:solidFill>
              </a:defRPr>
            </a:pPr>
            <a:r>
              <a:rPr sz="1425" b="1">
                <a:solidFill>
                  <a:srgbClr val="10243A"/>
                </a:solidFill>
              </a:rPr>
              <a:t>Matplotlib</a:t>
            </a:r>
          </a:p>
        </p:txBody>
      </p:sp>
      <p:sp>
        <p:nvSpPr>
          <p:cNvPr id="25" name="">
            <a:extLst xmlns:a="http://schemas.openxmlformats.org/drawingml/2006/main">
              <a:ext uri="{FF2B5EF4-FFF2-40B4-BE49-F238E27FC236}">
                <a16:creationId xmlns:a16="http://schemas.microsoft.com/office/drawing/2014/main" id="{0808B488-0DEC-43E2-885B-BD9C4BEBA1C5}"/>
              </a:ext>
            </a:extLst>
          </p:cNvPr>
          <p:cNvSpPr>
            <a:spLocks xmlns:a="http://schemas.openxmlformats.org/drawingml/2006/main" noGrp="1"/>
          </p:cNvSpPr>
          <p:nvPr/>
        </p:nvSpPr>
        <p:spPr>
          <a:xfrm xmlns:a="http://schemas.openxmlformats.org/drawingml/2006/main">
            <a:off x="3867150" y="4248150"/>
            <a:ext cx="7524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26" name="">
            <a:extLst xmlns:a="http://schemas.openxmlformats.org/drawingml/2006/main">
              <a:ext uri="{FF2B5EF4-FFF2-40B4-BE49-F238E27FC236}">
                <a16:creationId xmlns:a16="http://schemas.microsoft.com/office/drawing/2014/main" id="{4049646C-66F5-4DA2-994A-27E52F365113}"/>
              </a:ext>
            </a:extLst>
          </p:cNvPr>
          <p:cNvSpPr>
            <a:spLocks xmlns:a="http://schemas.openxmlformats.org/drawingml/2006/main" noGrp="1"/>
          </p:cNvSpPr>
          <p:nvPr/>
        </p:nvSpPr>
        <p:spPr>
          <a:xfrm xmlns:a="http://schemas.openxmlformats.org/drawingml/2006/main">
            <a:off x="4076700" y="4343400"/>
            <a:ext cx="714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Model evaluation and visualizations</a:t>
            </a:r>
          </a:p>
        </p:txBody>
      </p:sp>
      <p:sp>
        <p:nvSpPr>
          <p:cNvPr id="27" name="">
            <a:extLst xmlns:a="http://schemas.openxmlformats.org/drawingml/2006/main">
              <a:ext uri="{FF2B5EF4-FFF2-40B4-BE49-F238E27FC236}">
                <a16:creationId xmlns:a16="http://schemas.microsoft.com/office/drawing/2014/main" id="{09096B02-DBB6-4BEB-A769-B4887B1E25DE}"/>
              </a:ext>
            </a:extLst>
          </p:cNvPr>
          <p:cNvSpPr>
            <a:spLocks xmlns:a="http://schemas.openxmlformats.org/drawingml/2006/main" noGrp="1"/>
          </p:cNvSpPr>
          <p:nvPr/>
        </p:nvSpPr>
        <p:spPr>
          <a:xfrm xmlns:a="http://schemas.openxmlformats.org/drawingml/2006/main">
            <a:off x="762000" y="4886325"/>
            <a:ext cx="2952750" cy="495300"/>
          </a:xfrm>
          <a:prstGeom xmlns:a="http://schemas.openxmlformats.org/drawingml/2006/main" prst="roundRect">
            <a:avLst>
              <a:gd name="adj" fmla="val 23077"/>
            </a:avLst>
          </a:prstGeom>
          <a:solidFill xmlns:a="http://schemas.openxmlformats.org/drawingml/2006/main">
            <a:srgbClr val="F4F7F9"/>
          </a:solidFill>
          <a:ln xmlns:a="http://schemas.openxmlformats.org/drawingml/2006/main" w="9525">
            <a:solidFill>
              <a:srgbClr val="D8E2E8"/>
            </a:solidFill>
            <a:prstDash val="solid"/>
          </a:ln>
        </p:spPr>
      </p:sp>
      <p:sp>
        <p:nvSpPr>
          <p:cNvPr id="28" name="">
            <a:extLst xmlns:a="http://schemas.openxmlformats.org/drawingml/2006/main">
              <a:ext uri="{FF2B5EF4-FFF2-40B4-BE49-F238E27FC236}">
                <a16:creationId xmlns:a16="http://schemas.microsoft.com/office/drawing/2014/main" id="{9F62ED1F-2E68-47D6-AFA7-6822AAEFC6DC}"/>
              </a:ext>
            </a:extLst>
          </p:cNvPr>
          <p:cNvSpPr>
            <a:spLocks xmlns:a="http://schemas.openxmlformats.org/drawingml/2006/main" noGrp="1"/>
          </p:cNvSpPr>
          <p:nvPr/>
        </p:nvSpPr>
        <p:spPr>
          <a:xfrm xmlns:a="http://schemas.openxmlformats.org/drawingml/2006/main">
            <a:off x="933450" y="4981575"/>
            <a:ext cx="2619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43A"/>
                </a:solidFill>
              </a:defRPr>
            </a:defPPr>
          </a:lstStyle>
          <a:p xmlns:a="http://schemas.openxmlformats.org/drawingml/2006/main">
            <a:pPr>
              <a:defRPr sz="1425" b="1">
                <a:solidFill>
                  <a:srgbClr val="10243A"/>
                </a:solidFill>
              </a:defRPr>
            </a:pPr>
            <a:r>
              <a:rPr sz="1425" b="1">
                <a:solidFill>
                  <a:srgbClr val="10243A"/>
                </a:solidFill>
              </a:rPr>
              <a:t>CSV + joblib</a:t>
            </a:r>
          </a:p>
        </p:txBody>
      </p:sp>
      <p:sp>
        <p:nvSpPr>
          <p:cNvPr id="29" name="">
            <a:extLst xmlns:a="http://schemas.openxmlformats.org/drawingml/2006/main">
              <a:ext uri="{FF2B5EF4-FFF2-40B4-BE49-F238E27FC236}">
                <a16:creationId xmlns:a16="http://schemas.microsoft.com/office/drawing/2014/main" id="{CC39369D-3A55-416A-841B-23FC781F46F1}"/>
              </a:ext>
            </a:extLst>
          </p:cNvPr>
          <p:cNvSpPr>
            <a:spLocks xmlns:a="http://schemas.openxmlformats.org/drawingml/2006/main" noGrp="1"/>
          </p:cNvSpPr>
          <p:nvPr/>
        </p:nvSpPr>
        <p:spPr>
          <a:xfrm xmlns:a="http://schemas.openxmlformats.org/drawingml/2006/main">
            <a:off x="3867150" y="4886325"/>
            <a:ext cx="7524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30" name="">
            <a:extLst xmlns:a="http://schemas.openxmlformats.org/drawingml/2006/main">
              <a:ext uri="{FF2B5EF4-FFF2-40B4-BE49-F238E27FC236}">
                <a16:creationId xmlns:a16="http://schemas.microsoft.com/office/drawing/2014/main" id="{C4E3B642-8D19-4D49-86A7-BD44FEEE9E4C}"/>
              </a:ext>
            </a:extLst>
          </p:cNvPr>
          <p:cNvSpPr>
            <a:spLocks xmlns:a="http://schemas.openxmlformats.org/drawingml/2006/main" noGrp="1"/>
          </p:cNvSpPr>
          <p:nvPr/>
        </p:nvSpPr>
        <p:spPr>
          <a:xfrm xmlns:a="http://schemas.openxmlformats.org/drawingml/2006/main">
            <a:off x="4076700" y="4981575"/>
            <a:ext cx="714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Dataset input and serialized model artifacts</a:t>
            </a:r>
          </a:p>
        </p:txBody>
      </p:sp>
      <p:sp>
        <p:nvSpPr>
          <p:cNvPr id="31" name="">
            <a:extLst xmlns:a="http://schemas.openxmlformats.org/drawingml/2006/main">
              <a:ext uri="{FF2B5EF4-FFF2-40B4-BE49-F238E27FC236}">
                <a16:creationId xmlns:a16="http://schemas.microsoft.com/office/drawing/2014/main" id="{DB4C5001-F5A5-4AF6-BEF0-4FC7F0ED0C05}"/>
              </a:ext>
            </a:extLst>
          </p:cNvPr>
          <p:cNvSpPr>
            <a:spLocks xmlns:a="http://schemas.openxmlformats.org/drawingml/2006/main" noGrp="1"/>
          </p:cNvSpPr>
          <p:nvPr/>
        </p:nvSpPr>
        <p:spPr>
          <a:xfrm xmlns:a="http://schemas.openxmlformats.org/drawingml/2006/main">
            <a:off x="762000" y="5524500"/>
            <a:ext cx="2952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32" name="">
            <a:extLst xmlns:a="http://schemas.openxmlformats.org/drawingml/2006/main">
              <a:ext uri="{FF2B5EF4-FFF2-40B4-BE49-F238E27FC236}">
                <a16:creationId xmlns:a16="http://schemas.microsoft.com/office/drawing/2014/main" id="{580C90BF-B914-47B5-9752-1B3F6A8E0FE0}"/>
              </a:ext>
            </a:extLst>
          </p:cNvPr>
          <p:cNvSpPr>
            <a:spLocks xmlns:a="http://schemas.openxmlformats.org/drawingml/2006/main" noGrp="1"/>
          </p:cNvSpPr>
          <p:nvPr/>
        </p:nvSpPr>
        <p:spPr>
          <a:xfrm xmlns:a="http://schemas.openxmlformats.org/drawingml/2006/main">
            <a:off x="933450" y="5619750"/>
            <a:ext cx="2619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43A"/>
                </a:solidFill>
              </a:defRPr>
            </a:defPPr>
          </a:lstStyle>
          <a:p xmlns:a="http://schemas.openxmlformats.org/drawingml/2006/main">
            <a:pPr>
              <a:defRPr sz="1425" b="1">
                <a:solidFill>
                  <a:srgbClr val="10243A"/>
                </a:solidFill>
              </a:defRPr>
            </a:pPr>
            <a:r>
              <a:rPr sz="1425" b="1">
                <a:solidFill>
                  <a:srgbClr val="10243A"/>
                </a:solidFill>
              </a:rPr>
              <a:t>Hardware</a:t>
            </a:r>
          </a:p>
        </p:txBody>
      </p:sp>
      <p:sp>
        <p:nvSpPr>
          <p:cNvPr id="33" name="">
            <a:extLst xmlns:a="http://schemas.openxmlformats.org/drawingml/2006/main">
              <a:ext uri="{FF2B5EF4-FFF2-40B4-BE49-F238E27FC236}">
                <a16:creationId xmlns:a16="http://schemas.microsoft.com/office/drawing/2014/main" id="{842EE823-2344-407A-98ED-D46378D7F521}"/>
              </a:ext>
            </a:extLst>
          </p:cNvPr>
          <p:cNvSpPr>
            <a:spLocks xmlns:a="http://schemas.openxmlformats.org/drawingml/2006/main" noGrp="1"/>
          </p:cNvSpPr>
          <p:nvPr/>
        </p:nvSpPr>
        <p:spPr>
          <a:xfrm xmlns:a="http://schemas.openxmlformats.org/drawingml/2006/main">
            <a:off x="3867150" y="5524500"/>
            <a:ext cx="752475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9525">
            <a:solidFill>
              <a:srgbClr val="D8E2E8"/>
            </a:solidFill>
            <a:prstDash val="solid"/>
          </a:ln>
        </p:spPr>
      </p:sp>
      <p:sp>
        <p:nvSpPr>
          <p:cNvPr id="34" name="">
            <a:extLst xmlns:a="http://schemas.openxmlformats.org/drawingml/2006/main">
              <a:ext uri="{FF2B5EF4-FFF2-40B4-BE49-F238E27FC236}">
                <a16:creationId xmlns:a16="http://schemas.microsoft.com/office/drawing/2014/main" id="{3D879C9C-34EA-47EB-908A-93F683946418}"/>
              </a:ext>
            </a:extLst>
          </p:cNvPr>
          <p:cNvSpPr>
            <a:spLocks xmlns:a="http://schemas.openxmlformats.org/drawingml/2006/main" noGrp="1"/>
          </p:cNvSpPr>
          <p:nvPr/>
        </p:nvSpPr>
        <p:spPr>
          <a:xfrm xmlns:a="http://schemas.openxmlformats.org/drawingml/2006/main">
            <a:off x="4076700" y="5619750"/>
            <a:ext cx="714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Standard laptop; 8 GB RAM minimum (project requirements)</a:t>
            </a:r>
          </a:p>
        </p:txBody>
      </p:sp>
    </p:spTree>
    <p:extLst>
      <p:ext uri="{BB962C8B-B14F-4D97-AF65-F5344CB8AC3E}">
        <p14:creationId xmlns:p14="http://schemas.microsoft.com/office/powerpoint/2010/main" val="882584920"/>
      </p:ext>
    </p:extLst>
  </p:cSld>
</p:sld>
</file>

<file path=ppt/slides/slide9.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CABD5B9-F0F3-4887-8811-209EC754D99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A3571C-4A46-4DD6-9242-96A3FBEE564A}"/>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601D70C5-2633-4E05-97E1-274B3DCACD42}"/>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System Modules</a:t>
            </a:r>
          </a:p>
        </p:txBody>
      </p:sp>
      <p:sp>
        <p:nvSpPr>
          <p:cNvPr id="4" name="">
            <a:extLst xmlns:a="http://schemas.openxmlformats.org/drawingml/2006/main">
              <a:ext uri="{FF2B5EF4-FFF2-40B4-BE49-F238E27FC236}">
                <a16:creationId xmlns:a16="http://schemas.microsoft.com/office/drawing/2014/main" id="{C457B1C2-AD8C-4E92-A45D-4C5B1D8D1A8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D668E3-105C-488F-9C48-ED78BB7AAF5A}"/>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5A3621F8-395E-4AFE-B2F3-9CD94577B2BD}"/>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09</a:t>
            </a:r>
          </a:p>
        </p:txBody>
      </p:sp>
      <p:sp>
        <p:nvSpPr>
          <p:cNvPr id="7" name="">
            <a:extLst xmlns:a="http://schemas.openxmlformats.org/drawingml/2006/main">
              <a:ext uri="{FF2B5EF4-FFF2-40B4-BE49-F238E27FC236}">
                <a16:creationId xmlns:a16="http://schemas.microsoft.com/office/drawing/2014/main" id="{C543DD40-20D3-4456-BF4C-0B8DFF383979}"/>
              </a:ext>
            </a:extLst>
          </p:cNvPr>
          <p:cNvSpPr>
            <a:spLocks xmlns:a="http://schemas.openxmlformats.org/drawingml/2006/main" noGrp="1"/>
          </p:cNvSpPr>
          <p:nvPr/>
        </p:nvSpPr>
        <p:spPr>
          <a:xfrm xmlns:a="http://schemas.openxmlformats.org/drawingml/2006/main">
            <a:off x="714375" y="1666875"/>
            <a:ext cx="5143500" cy="1190625"/>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9525">
            <a:solidFill>
              <a:srgbClr val="D8E2E8"/>
            </a:solidFill>
            <a:prstDash val="solid"/>
          </a:ln>
        </p:spPr>
      </p:sp>
      <p:sp>
        <p:nvSpPr>
          <p:cNvPr id="8" name="">
            <a:extLst xmlns:a="http://schemas.openxmlformats.org/drawingml/2006/main">
              <a:ext uri="{FF2B5EF4-FFF2-40B4-BE49-F238E27FC236}">
                <a16:creationId xmlns:a16="http://schemas.microsoft.com/office/drawing/2014/main" id="{07BFD364-2CEC-4CD9-A552-9ACFAA3F91F2}"/>
              </a:ext>
            </a:extLst>
          </p:cNvPr>
          <p:cNvSpPr>
            <a:spLocks xmlns:a="http://schemas.openxmlformats.org/drawingml/2006/main" noGrp="1"/>
          </p:cNvSpPr>
          <p:nvPr/>
        </p:nvSpPr>
        <p:spPr>
          <a:xfrm xmlns:a="http://schemas.openxmlformats.org/drawingml/2006/main">
            <a:off x="714375" y="1666875"/>
            <a:ext cx="76200" cy="1190625"/>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673D58-522D-455E-B630-3E8EDAD39E1C}"/>
              </a:ext>
            </a:extLst>
          </p:cNvPr>
          <p:cNvSpPr>
            <a:spLocks xmlns:a="http://schemas.openxmlformats.org/drawingml/2006/main" noGrp="1"/>
          </p:cNvSpPr>
          <p:nvPr/>
        </p:nvSpPr>
        <p:spPr>
          <a:xfrm xmlns:a="http://schemas.openxmlformats.org/drawingml/2006/main">
            <a:off x="981075" y="1857375"/>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User interface</a:t>
            </a:r>
          </a:p>
        </p:txBody>
      </p:sp>
      <p:sp>
        <p:nvSpPr>
          <p:cNvPr id="10" name="">
            <a:extLst xmlns:a="http://schemas.openxmlformats.org/drawingml/2006/main">
              <a:ext uri="{FF2B5EF4-FFF2-40B4-BE49-F238E27FC236}">
                <a16:creationId xmlns:a16="http://schemas.microsoft.com/office/drawing/2014/main" id="{8D280C5C-D195-4A51-978C-63F17A2B3A6B}"/>
              </a:ext>
            </a:extLst>
          </p:cNvPr>
          <p:cNvSpPr>
            <a:spLocks xmlns:a="http://schemas.openxmlformats.org/drawingml/2006/main" noGrp="1"/>
          </p:cNvSpPr>
          <p:nvPr/>
        </p:nvSpPr>
        <p:spPr>
          <a:xfrm xmlns:a="http://schemas.openxmlformats.org/drawingml/2006/main">
            <a:off x="981075" y="2228850"/>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36879"/>
                </a:solidFill>
              </a:defRPr>
            </a:defPPr>
          </a:lstStyle>
          <a:p xmlns:a="http://schemas.openxmlformats.org/drawingml/2006/main">
            <a:pPr>
              <a:defRPr sz="1200" b="0">
                <a:solidFill>
                  <a:srgbClr val="536879"/>
                </a:solidFill>
              </a:defRPr>
            </a:pPr>
            <a:r>
              <a:rPr sz="1200" b="0">
                <a:solidFill>
                  <a:srgbClr val="536879"/>
                </a:solidFill>
              </a:rPr>
              <a:t>Streamlit pages for search, prediction, analytics, model comparison, and about</a:t>
            </a:r>
          </a:p>
        </p:txBody>
      </p:sp>
      <p:sp>
        <p:nvSpPr>
          <p:cNvPr id="11" name="">
            <a:extLst xmlns:a="http://schemas.openxmlformats.org/drawingml/2006/main">
              <a:ext uri="{FF2B5EF4-FFF2-40B4-BE49-F238E27FC236}">
                <a16:creationId xmlns:a16="http://schemas.microsoft.com/office/drawing/2014/main" id="{E2DB2705-5CAB-4E0B-A390-2CFBBD286F1A}"/>
              </a:ext>
            </a:extLst>
          </p:cNvPr>
          <p:cNvSpPr>
            <a:spLocks xmlns:a="http://schemas.openxmlformats.org/drawingml/2006/main" noGrp="1"/>
          </p:cNvSpPr>
          <p:nvPr/>
        </p:nvSpPr>
        <p:spPr>
          <a:xfrm xmlns:a="http://schemas.openxmlformats.org/drawingml/2006/main">
            <a:off x="6238875" y="1666875"/>
            <a:ext cx="5143500" cy="1190625"/>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9525">
            <a:solidFill>
              <a:srgbClr val="D8E2E8"/>
            </a:solidFill>
            <a:prstDash val="solid"/>
          </a:ln>
        </p:spPr>
      </p:sp>
      <p:sp>
        <p:nvSpPr>
          <p:cNvPr id="12" name="">
            <a:extLst xmlns:a="http://schemas.openxmlformats.org/drawingml/2006/main">
              <a:ext uri="{FF2B5EF4-FFF2-40B4-BE49-F238E27FC236}">
                <a16:creationId xmlns:a16="http://schemas.microsoft.com/office/drawing/2014/main" id="{32527D7C-8B60-4AAE-9182-2CFAEC49C62F}"/>
              </a:ext>
            </a:extLst>
          </p:cNvPr>
          <p:cNvSpPr>
            <a:spLocks xmlns:a="http://schemas.openxmlformats.org/drawingml/2006/main" noGrp="1"/>
          </p:cNvSpPr>
          <p:nvPr/>
        </p:nvSpPr>
        <p:spPr>
          <a:xfrm xmlns:a="http://schemas.openxmlformats.org/drawingml/2006/main">
            <a:off x="6238875" y="1666875"/>
            <a:ext cx="76200" cy="1190625"/>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CC8615-7EC2-40E2-9A6C-CC3BCFC1F6C6}"/>
              </a:ext>
            </a:extLst>
          </p:cNvPr>
          <p:cNvSpPr>
            <a:spLocks xmlns:a="http://schemas.openxmlformats.org/drawingml/2006/main" noGrp="1"/>
          </p:cNvSpPr>
          <p:nvPr/>
        </p:nvSpPr>
        <p:spPr>
          <a:xfrm xmlns:a="http://schemas.openxmlformats.org/drawingml/2006/main">
            <a:off x="6505575" y="1857375"/>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Data preparation</a:t>
            </a:r>
          </a:p>
        </p:txBody>
      </p:sp>
      <p:sp>
        <p:nvSpPr>
          <p:cNvPr id="14" name="">
            <a:extLst xmlns:a="http://schemas.openxmlformats.org/drawingml/2006/main">
              <a:ext uri="{FF2B5EF4-FFF2-40B4-BE49-F238E27FC236}">
                <a16:creationId xmlns:a16="http://schemas.microsoft.com/office/drawing/2014/main" id="{67F1F29A-3629-4214-87B7-1D63666DEA33}"/>
              </a:ext>
            </a:extLst>
          </p:cNvPr>
          <p:cNvSpPr>
            <a:spLocks xmlns:a="http://schemas.openxmlformats.org/drawingml/2006/main" noGrp="1"/>
          </p:cNvSpPr>
          <p:nvPr/>
        </p:nvSpPr>
        <p:spPr>
          <a:xfrm xmlns:a="http://schemas.openxmlformats.org/drawingml/2006/main">
            <a:off x="6505575" y="2228850"/>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36879"/>
                </a:solidFill>
              </a:defRPr>
            </a:defPPr>
          </a:lstStyle>
          <a:p xmlns:a="http://schemas.openxmlformats.org/drawingml/2006/main">
            <a:pPr>
              <a:defRPr sz="1200" b="0">
                <a:solidFill>
                  <a:srgbClr val="536879"/>
                </a:solidFill>
              </a:defRPr>
            </a:pPr>
            <a:r>
              <a:rPr sz="1200" b="0">
                <a:solidFill>
                  <a:srgbClr val="536879"/>
                </a:solidFill>
              </a:rPr>
              <a:t>Schema aliases, cleaning, feature preparation, processed CSVs</a:t>
            </a:r>
          </a:p>
        </p:txBody>
      </p:sp>
      <p:sp>
        <p:nvSpPr>
          <p:cNvPr id="15" name="">
            <a:extLst xmlns:a="http://schemas.openxmlformats.org/drawingml/2006/main">
              <a:ext uri="{FF2B5EF4-FFF2-40B4-BE49-F238E27FC236}">
                <a16:creationId xmlns:a16="http://schemas.microsoft.com/office/drawing/2014/main" id="{2D5EBABF-9ED5-424B-9C1A-98DAB493003C}"/>
              </a:ext>
            </a:extLst>
          </p:cNvPr>
          <p:cNvSpPr>
            <a:spLocks xmlns:a="http://schemas.openxmlformats.org/drawingml/2006/main" noGrp="1"/>
          </p:cNvSpPr>
          <p:nvPr/>
        </p:nvSpPr>
        <p:spPr>
          <a:xfrm xmlns:a="http://schemas.openxmlformats.org/drawingml/2006/main">
            <a:off x="714375" y="3143250"/>
            <a:ext cx="5143500" cy="1190625"/>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9525">
            <a:solidFill>
              <a:srgbClr val="D8E2E8"/>
            </a:solidFill>
            <a:prstDash val="solid"/>
          </a:ln>
        </p:spPr>
      </p:sp>
      <p:sp>
        <p:nvSpPr>
          <p:cNvPr id="16" name="">
            <a:extLst xmlns:a="http://schemas.openxmlformats.org/drawingml/2006/main">
              <a:ext uri="{FF2B5EF4-FFF2-40B4-BE49-F238E27FC236}">
                <a16:creationId xmlns:a16="http://schemas.microsoft.com/office/drawing/2014/main" id="{6F06A8E9-45AE-4C86-8881-FD53EF69B9EC}"/>
              </a:ext>
            </a:extLst>
          </p:cNvPr>
          <p:cNvSpPr>
            <a:spLocks xmlns:a="http://schemas.openxmlformats.org/drawingml/2006/main" noGrp="1"/>
          </p:cNvSpPr>
          <p:nvPr/>
        </p:nvSpPr>
        <p:spPr>
          <a:xfrm xmlns:a="http://schemas.openxmlformats.org/drawingml/2006/main">
            <a:off x="714375" y="3143250"/>
            <a:ext cx="76200" cy="1190625"/>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CD6FCC1-BBB4-4C81-8112-A2A68E2422C0}"/>
              </a:ext>
            </a:extLst>
          </p:cNvPr>
          <p:cNvSpPr>
            <a:spLocks xmlns:a="http://schemas.openxmlformats.org/drawingml/2006/main" noGrp="1"/>
          </p:cNvSpPr>
          <p:nvPr/>
        </p:nvSpPr>
        <p:spPr>
          <a:xfrm xmlns:a="http://schemas.openxmlformats.org/drawingml/2006/main">
            <a:off x="981075" y="33337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Prediction</a:t>
            </a:r>
          </a:p>
        </p:txBody>
      </p:sp>
      <p:sp>
        <p:nvSpPr>
          <p:cNvPr id="18" name="">
            <a:extLst xmlns:a="http://schemas.openxmlformats.org/drawingml/2006/main">
              <a:ext uri="{FF2B5EF4-FFF2-40B4-BE49-F238E27FC236}">
                <a16:creationId xmlns:a16="http://schemas.microsoft.com/office/drawing/2014/main" id="{B4EFA9F4-08EB-43CE-86F4-9E0BEE9DD812}"/>
              </a:ext>
            </a:extLst>
          </p:cNvPr>
          <p:cNvSpPr>
            <a:spLocks xmlns:a="http://schemas.openxmlformats.org/drawingml/2006/main" noGrp="1"/>
          </p:cNvSpPr>
          <p:nvPr/>
        </p:nvSpPr>
        <p:spPr>
          <a:xfrm xmlns:a="http://schemas.openxmlformats.org/drawingml/2006/main">
            <a:off x="981075" y="3705225"/>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36879"/>
                </a:solidFill>
              </a:defRPr>
            </a:defPPr>
          </a:lstStyle>
          <a:p xmlns:a="http://schemas.openxmlformats.org/drawingml/2006/main">
            <a:pPr>
              <a:defRPr sz="1200" b="0">
                <a:solidFill>
                  <a:srgbClr val="536879"/>
                </a:solidFill>
              </a:defRPr>
            </a:pPr>
            <a:r>
              <a:rPr sz="1200" b="0">
                <a:solidFill>
                  <a:srgbClr val="536879"/>
                </a:solidFill>
              </a:rPr>
              <a:t>Elastic Net pipeline with standardized numeric and one-hot categorical inputs</a:t>
            </a:r>
          </a:p>
        </p:txBody>
      </p:sp>
      <p:sp>
        <p:nvSpPr>
          <p:cNvPr id="19" name="">
            <a:extLst xmlns:a="http://schemas.openxmlformats.org/drawingml/2006/main">
              <a:ext uri="{FF2B5EF4-FFF2-40B4-BE49-F238E27FC236}">
                <a16:creationId xmlns:a16="http://schemas.microsoft.com/office/drawing/2014/main" id="{548B53C4-41E0-4BE6-9B11-B90CED6096E5}"/>
              </a:ext>
            </a:extLst>
          </p:cNvPr>
          <p:cNvSpPr>
            <a:spLocks xmlns:a="http://schemas.openxmlformats.org/drawingml/2006/main" noGrp="1"/>
          </p:cNvSpPr>
          <p:nvPr/>
        </p:nvSpPr>
        <p:spPr>
          <a:xfrm xmlns:a="http://schemas.openxmlformats.org/drawingml/2006/main">
            <a:off x="6238875" y="3143250"/>
            <a:ext cx="5143500" cy="1190625"/>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9525">
            <a:solidFill>
              <a:srgbClr val="D8E2E8"/>
            </a:solidFill>
            <a:prstDash val="solid"/>
          </a:ln>
        </p:spPr>
      </p:sp>
      <p:sp>
        <p:nvSpPr>
          <p:cNvPr id="20" name="">
            <a:extLst xmlns:a="http://schemas.openxmlformats.org/drawingml/2006/main">
              <a:ext uri="{FF2B5EF4-FFF2-40B4-BE49-F238E27FC236}">
                <a16:creationId xmlns:a16="http://schemas.microsoft.com/office/drawing/2014/main" id="{56D2A139-F62B-40CE-BF38-72B0639AEAE4}"/>
              </a:ext>
            </a:extLst>
          </p:cNvPr>
          <p:cNvSpPr>
            <a:spLocks xmlns:a="http://schemas.openxmlformats.org/drawingml/2006/main" noGrp="1"/>
          </p:cNvSpPr>
          <p:nvPr/>
        </p:nvSpPr>
        <p:spPr>
          <a:xfrm xmlns:a="http://schemas.openxmlformats.org/drawingml/2006/main">
            <a:off x="6238875" y="3143250"/>
            <a:ext cx="76200" cy="1190625"/>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983026-913A-4ED7-8314-E4C87546987F}"/>
              </a:ext>
            </a:extLst>
          </p:cNvPr>
          <p:cNvSpPr>
            <a:spLocks xmlns:a="http://schemas.openxmlformats.org/drawingml/2006/main" noGrp="1"/>
          </p:cNvSpPr>
          <p:nvPr/>
        </p:nvSpPr>
        <p:spPr>
          <a:xfrm xmlns:a="http://schemas.openxmlformats.org/drawingml/2006/main">
            <a:off x="6505575" y="33337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Movie search</a:t>
            </a:r>
          </a:p>
        </p:txBody>
      </p:sp>
      <p:sp>
        <p:nvSpPr>
          <p:cNvPr id="22" name="">
            <a:extLst xmlns:a="http://schemas.openxmlformats.org/drawingml/2006/main">
              <a:ext uri="{FF2B5EF4-FFF2-40B4-BE49-F238E27FC236}">
                <a16:creationId xmlns:a16="http://schemas.microsoft.com/office/drawing/2014/main" id="{8730EFB0-31F5-4FAA-B935-3FD5A7A5A418}"/>
              </a:ext>
            </a:extLst>
          </p:cNvPr>
          <p:cNvSpPr>
            <a:spLocks xmlns:a="http://schemas.openxmlformats.org/drawingml/2006/main" noGrp="1"/>
          </p:cNvSpPr>
          <p:nvPr/>
        </p:nvSpPr>
        <p:spPr>
          <a:xfrm xmlns:a="http://schemas.openxmlformats.org/drawingml/2006/main">
            <a:off x="6505575" y="3705225"/>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36879"/>
                </a:solidFill>
              </a:defRPr>
            </a:defPPr>
          </a:lstStyle>
          <a:p xmlns:a="http://schemas.openxmlformats.org/drawingml/2006/main">
            <a:pPr>
              <a:defRPr sz="1200" b="0">
                <a:solidFill>
                  <a:srgbClr val="536879"/>
                </a:solidFill>
              </a:defRPr>
            </a:pPr>
            <a:r>
              <a:rPr sz="1200" b="0">
                <a:solidFill>
                  <a:srgbClr val="536879"/>
                </a:solidFill>
              </a:rPr>
              <a:t>KMP, Rabin–Karp, edit distance, and suffix-array matching</a:t>
            </a:r>
          </a:p>
        </p:txBody>
      </p:sp>
      <p:sp>
        <p:nvSpPr>
          <p:cNvPr id="23" name="">
            <a:extLst xmlns:a="http://schemas.openxmlformats.org/drawingml/2006/main">
              <a:ext uri="{FF2B5EF4-FFF2-40B4-BE49-F238E27FC236}">
                <a16:creationId xmlns:a16="http://schemas.microsoft.com/office/drawing/2014/main" id="{0412673A-9CEE-46AE-A9CE-5423B3944B62}"/>
              </a:ext>
            </a:extLst>
          </p:cNvPr>
          <p:cNvSpPr>
            <a:spLocks xmlns:a="http://schemas.openxmlformats.org/drawingml/2006/main" noGrp="1"/>
          </p:cNvSpPr>
          <p:nvPr/>
        </p:nvSpPr>
        <p:spPr>
          <a:xfrm xmlns:a="http://schemas.openxmlformats.org/drawingml/2006/main">
            <a:off x="714375" y="4619625"/>
            <a:ext cx="5143500" cy="1190625"/>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9525">
            <a:solidFill>
              <a:srgbClr val="D8E2E8"/>
            </a:solidFill>
            <a:prstDash val="solid"/>
          </a:ln>
        </p:spPr>
      </p:sp>
      <p:sp>
        <p:nvSpPr>
          <p:cNvPr id="24" name="">
            <a:extLst xmlns:a="http://schemas.openxmlformats.org/drawingml/2006/main">
              <a:ext uri="{FF2B5EF4-FFF2-40B4-BE49-F238E27FC236}">
                <a16:creationId xmlns:a16="http://schemas.microsoft.com/office/drawing/2014/main" id="{89F7762B-2BA2-4FF8-AFFA-D474FA6F8FB3}"/>
              </a:ext>
            </a:extLst>
          </p:cNvPr>
          <p:cNvSpPr>
            <a:spLocks xmlns:a="http://schemas.openxmlformats.org/drawingml/2006/main" noGrp="1"/>
          </p:cNvSpPr>
          <p:nvPr/>
        </p:nvSpPr>
        <p:spPr>
          <a:xfrm xmlns:a="http://schemas.openxmlformats.org/drawingml/2006/main">
            <a:off x="714375" y="4619625"/>
            <a:ext cx="76200" cy="1190625"/>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31D33F5-646B-42A0-8093-68308F6985E9}"/>
              </a:ext>
            </a:extLst>
          </p:cNvPr>
          <p:cNvSpPr>
            <a:spLocks xmlns:a="http://schemas.openxmlformats.org/drawingml/2006/main" noGrp="1"/>
          </p:cNvSpPr>
          <p:nvPr/>
        </p:nvSpPr>
        <p:spPr>
          <a:xfrm xmlns:a="http://schemas.openxmlformats.org/drawingml/2006/main">
            <a:off x="981075" y="4810125"/>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Recommendations</a:t>
            </a:r>
          </a:p>
        </p:txBody>
      </p:sp>
      <p:sp>
        <p:nvSpPr>
          <p:cNvPr id="26" name="">
            <a:extLst xmlns:a="http://schemas.openxmlformats.org/drawingml/2006/main">
              <a:ext uri="{FF2B5EF4-FFF2-40B4-BE49-F238E27FC236}">
                <a16:creationId xmlns:a16="http://schemas.microsoft.com/office/drawing/2014/main" id="{247C7613-0055-4BC4-AF02-45C2DC92F9B4}"/>
              </a:ext>
            </a:extLst>
          </p:cNvPr>
          <p:cNvSpPr>
            <a:spLocks xmlns:a="http://schemas.openxmlformats.org/drawingml/2006/main" noGrp="1"/>
          </p:cNvSpPr>
          <p:nvPr/>
        </p:nvSpPr>
        <p:spPr>
          <a:xfrm xmlns:a="http://schemas.openxmlformats.org/drawingml/2006/main">
            <a:off x="981075" y="5181600"/>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36879"/>
                </a:solidFill>
              </a:defRPr>
            </a:defPPr>
          </a:lstStyle>
          <a:p xmlns:a="http://schemas.openxmlformats.org/drawingml/2006/main">
            <a:pPr>
              <a:defRPr sz="1200" b="0">
                <a:solidFill>
                  <a:srgbClr val="536879"/>
                </a:solidFill>
              </a:defRPr>
            </a:pPr>
            <a:r>
              <a:rPr sz="1200" b="0">
                <a:solidFill>
                  <a:srgbClr val="536879"/>
                </a:solidFill>
              </a:rPr>
              <a:t>Metadata graph, max-flow methods, greedy coverage, randomized tie-break</a:t>
            </a:r>
          </a:p>
        </p:txBody>
      </p:sp>
      <p:sp>
        <p:nvSpPr>
          <p:cNvPr id="27" name="">
            <a:extLst xmlns:a="http://schemas.openxmlformats.org/drawingml/2006/main">
              <a:ext uri="{FF2B5EF4-FFF2-40B4-BE49-F238E27FC236}">
                <a16:creationId xmlns:a16="http://schemas.microsoft.com/office/drawing/2014/main" id="{7B1A24F8-BA68-4950-894C-24075B475B86}"/>
              </a:ext>
            </a:extLst>
          </p:cNvPr>
          <p:cNvSpPr>
            <a:spLocks xmlns:a="http://schemas.openxmlformats.org/drawingml/2006/main" noGrp="1"/>
          </p:cNvSpPr>
          <p:nvPr/>
        </p:nvSpPr>
        <p:spPr>
          <a:xfrm xmlns:a="http://schemas.openxmlformats.org/drawingml/2006/main">
            <a:off x="6238875" y="4619625"/>
            <a:ext cx="5143500" cy="1190625"/>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9525">
            <a:solidFill>
              <a:srgbClr val="D8E2E8"/>
            </a:solidFill>
            <a:prstDash val="solid"/>
          </a:ln>
        </p:spPr>
      </p:sp>
      <p:sp>
        <p:nvSpPr>
          <p:cNvPr id="28" name="">
            <a:extLst xmlns:a="http://schemas.openxmlformats.org/drawingml/2006/main">
              <a:ext uri="{FF2B5EF4-FFF2-40B4-BE49-F238E27FC236}">
                <a16:creationId xmlns:a16="http://schemas.microsoft.com/office/drawing/2014/main" id="{F5E91F0B-C5F5-4518-B9CD-60450102468D}"/>
              </a:ext>
            </a:extLst>
          </p:cNvPr>
          <p:cNvSpPr>
            <a:spLocks xmlns:a="http://schemas.openxmlformats.org/drawingml/2006/main" noGrp="1"/>
          </p:cNvSpPr>
          <p:nvPr/>
        </p:nvSpPr>
        <p:spPr>
          <a:xfrm xmlns:a="http://schemas.openxmlformats.org/drawingml/2006/main">
            <a:off x="6238875" y="4619625"/>
            <a:ext cx="76200" cy="1190625"/>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9B0B72E-E8D9-46E1-AE3F-C947A2A4F8D2}"/>
              </a:ext>
            </a:extLst>
          </p:cNvPr>
          <p:cNvSpPr>
            <a:spLocks xmlns:a="http://schemas.openxmlformats.org/drawingml/2006/main" noGrp="1"/>
          </p:cNvSpPr>
          <p:nvPr/>
        </p:nvSpPr>
        <p:spPr>
          <a:xfrm xmlns:a="http://schemas.openxmlformats.org/drawingml/2006/main">
            <a:off x="6505575" y="4810125"/>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Visualization</a:t>
            </a:r>
          </a:p>
        </p:txBody>
      </p:sp>
      <p:sp>
        <p:nvSpPr>
          <p:cNvPr id="30" name="">
            <a:extLst xmlns:a="http://schemas.openxmlformats.org/drawingml/2006/main">
              <a:ext uri="{FF2B5EF4-FFF2-40B4-BE49-F238E27FC236}">
                <a16:creationId xmlns:a16="http://schemas.microsoft.com/office/drawing/2014/main" id="{332C40EF-D506-4D0A-BB50-33055593D02E}"/>
              </a:ext>
            </a:extLst>
          </p:cNvPr>
          <p:cNvSpPr>
            <a:spLocks xmlns:a="http://schemas.openxmlformats.org/drawingml/2006/main" noGrp="1"/>
          </p:cNvSpPr>
          <p:nvPr/>
        </p:nvSpPr>
        <p:spPr>
          <a:xfrm xmlns:a="http://schemas.openxmlformats.org/drawingml/2006/main">
            <a:off x="6505575" y="5181600"/>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536879"/>
                </a:solidFill>
              </a:defRPr>
            </a:defPPr>
          </a:lstStyle>
          <a:p xmlns:a="http://schemas.openxmlformats.org/drawingml/2006/main">
            <a:pPr>
              <a:defRPr sz="1200" b="0">
                <a:solidFill>
                  <a:srgbClr val="536879"/>
                </a:solidFill>
              </a:defRPr>
            </a:pPr>
            <a:r>
              <a:rPr sz="1200" b="0">
                <a:solidFill>
                  <a:srgbClr val="536879"/>
                </a:solidFill>
              </a:rPr>
              <a:t>Dataset overview, distribution/scatter plots, and evaluation graph</a:t>
            </a:r>
          </a:p>
        </p:txBody>
      </p:sp>
    </p:spTree>
    <p:extLst>
      <p:ext uri="{BB962C8B-B14F-4D97-AF65-F5344CB8AC3E}">
        <p14:creationId xmlns:p14="http://schemas.microsoft.com/office/powerpoint/2010/main" val="1752317560"/>
      </p:ext>
    </p:extLst>
  </p:cSld>
</p:sld>
</file>

<file path=ppt/slides/slide10.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5E84B6B-BC93-40CF-8E59-9F04CD5C368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BA3D3F-EBFE-40FD-8C58-631D47773171}"/>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18AC9C32-AA00-4416-9D47-82BE6EA9D7AB}"/>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Dataset and EDA</a:t>
            </a:r>
          </a:p>
        </p:txBody>
      </p:sp>
      <p:sp>
        <p:nvSpPr>
          <p:cNvPr id="4" name="">
            <a:extLst xmlns:a="http://schemas.openxmlformats.org/drawingml/2006/main">
              <a:ext uri="{FF2B5EF4-FFF2-40B4-BE49-F238E27FC236}">
                <a16:creationId xmlns:a16="http://schemas.microsoft.com/office/drawing/2014/main" id="{E7745BC6-0A63-4A1E-9946-40D04E939E13}"/>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20D77EB-3790-4B19-858A-9C13580524F3}"/>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1C9E15F7-CF68-4083-A8DE-A886D5DE3EB1}"/>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10</a:t>
            </a:r>
          </a:p>
        </p:txBody>
      </p:sp>
      <p:sp>
        <p:nvSpPr>
          <p:cNvPr id="7" name="">
            <a:extLst xmlns:a="http://schemas.openxmlformats.org/drawingml/2006/main">
              <a:ext uri="{FF2B5EF4-FFF2-40B4-BE49-F238E27FC236}">
                <a16:creationId xmlns:a16="http://schemas.microsoft.com/office/drawing/2014/main" id="{91172BF3-66AF-42E1-8BB0-C3BB0B5D2BF5}"/>
              </a:ext>
            </a:extLst>
          </p:cNvPr>
          <p:cNvSpPr>
            <a:spLocks xmlns:a="http://schemas.openxmlformats.org/drawingml/2006/main" noGrp="1"/>
          </p:cNvSpPr>
          <p:nvPr/>
        </p:nvSpPr>
        <p:spPr>
          <a:xfrm xmlns:a="http://schemas.openxmlformats.org/drawingml/2006/main">
            <a:off x="723900" y="15716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5,000 films  |  13 columns  |  2000–2024</a:t>
            </a:r>
          </a:p>
        </p:txBody>
      </p:sp>
      <p:sp>
        <p:nvSpPr>
          <p:cNvPr id="8" name="">
            <a:extLst xmlns:a="http://schemas.openxmlformats.org/drawingml/2006/main">
              <a:ext uri="{FF2B5EF4-FFF2-40B4-BE49-F238E27FC236}">
                <a16:creationId xmlns:a16="http://schemas.microsoft.com/office/drawing/2014/main" id="{724790C5-BA4C-4169-B6EC-9D60DA042966}"/>
              </a:ext>
            </a:extLst>
          </p:cNvPr>
          <p:cNvSpPr>
            <a:spLocks xmlns:a="http://schemas.openxmlformats.org/drawingml/2006/main" noGrp="1"/>
          </p:cNvSpPr>
          <p:nvPr/>
        </p:nvSpPr>
        <p:spPr>
          <a:xfrm xmlns:a="http://schemas.openxmlformats.org/drawingml/2006/main">
            <a:off x="723900" y="19812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879"/>
                </a:solidFill>
              </a:defRPr>
            </a:defPPr>
          </a:lstStyle>
          <a:p xmlns:a="http://schemas.openxmlformats.org/drawingml/2006/main">
            <a:pPr>
              <a:defRPr sz="1350" b="0">
                <a:solidFill>
                  <a:srgbClr val="536879"/>
                </a:solidFill>
              </a:defRPr>
            </a:pPr>
            <a:r>
              <a:rPr sz="1350" b="0">
                <a:solidFill>
                  <a:srgbClr val="536879"/>
                </a:solidFill>
              </a:rPr>
              <a:t>Dataset: data/movies.csv  |  Target: worldwide gross revenue</a:t>
            </a:r>
          </a:p>
        </p:txBody>
      </p:sp>
      <p:sp>
        <p:nvSpPr>
          <p:cNvPr id="9" name="">
            <a:extLst xmlns:a="http://schemas.openxmlformats.org/drawingml/2006/main">
              <a:ext uri="{FF2B5EF4-FFF2-40B4-BE49-F238E27FC236}">
                <a16:creationId xmlns:a16="http://schemas.microsoft.com/office/drawing/2014/main" id="{A0AD44CB-467C-4A71-BC01-C6631F432D02}"/>
              </a:ext>
            </a:extLst>
          </p:cNvPr>
          <p:cNvSpPr>
            <a:spLocks xmlns:a="http://schemas.openxmlformats.org/drawingml/2006/main" noGrp="1"/>
          </p:cNvSpPr>
          <p:nvPr/>
        </p:nvSpPr>
        <p:spPr>
          <a:xfrm xmlns:a="http://schemas.openxmlformats.org/drawingml/2006/main">
            <a:off x="723900" y="235267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36879"/>
                </a:solidFill>
              </a:defRPr>
            </a:defPPr>
          </a:lstStyle>
          <a:p xmlns:a="http://schemas.openxmlformats.org/drawingml/2006/main">
            <a:pPr>
              <a:defRPr sz="1125" b="0">
                <a:solidFill>
                  <a:srgbClr val="536879"/>
                </a:solidFill>
              </a:defRPr>
            </a:pPr>
            <a:r>
              <a:rPr sz="1125" b="0">
                <a:solidFill>
                  <a:srgbClr val="536879"/>
                </a:solidFill>
              </a:rPr>
              <a:t>Features: year, genres, rating, votes, language, production countries</a:t>
            </a:r>
          </a:p>
        </p:txBody>
      </p:sp>
      <p:sp>
        <p:nvSpPr>
          <p:cNvPr id="10" name="">
            <a:extLst xmlns:a="http://schemas.openxmlformats.org/drawingml/2006/main">
              <a:ext uri="{FF2B5EF4-FFF2-40B4-BE49-F238E27FC236}">
                <a16:creationId xmlns:a16="http://schemas.microsoft.com/office/drawing/2014/main" id="{B3444C9B-0032-495B-966F-062DDC600C11}"/>
              </a:ext>
            </a:extLst>
          </p:cNvPr>
          <p:cNvSpPr>
            <a:spLocks xmlns:a="http://schemas.openxmlformats.org/drawingml/2006/main" noGrp="1"/>
          </p:cNvSpPr>
          <p:nvPr/>
        </p:nvSpPr>
        <p:spPr>
          <a:xfrm xmlns:a="http://schemas.openxmlformats.org/drawingml/2006/main">
            <a:off x="723900" y="256222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536879"/>
                </a:solidFill>
              </a:defRPr>
            </a:defPPr>
          </a:lstStyle>
          <a:p xmlns:a="http://schemas.openxmlformats.org/drawingml/2006/main">
            <a:pPr>
              <a:defRPr sz="1050" b="0">
                <a:solidFill>
                  <a:srgbClr val="536879"/>
                </a:solidFill>
              </a:defRPr>
            </a:pPr>
            <a:r>
              <a:rPr sz="1050" b="0">
                <a:solidFill>
                  <a:srgbClr val="536879"/>
                </a:solidFill>
              </a:rPr>
              <a:t>Bars use square-root heights to keep the long revenue tail readable.</a:t>
            </a:r>
          </a:p>
        </p:txBody>
      </p:sp>
      <p:sp>
        <p:nvSpPr>
          <p:cNvPr id="11" name="">
            <a:extLst xmlns:a="http://schemas.openxmlformats.org/drawingml/2006/main">
              <a:ext uri="{FF2B5EF4-FFF2-40B4-BE49-F238E27FC236}">
                <a16:creationId xmlns:a16="http://schemas.microsoft.com/office/drawing/2014/main" id="{31D90D97-8369-4061-8350-AAA8C2B0FB04}"/>
              </a:ext>
            </a:extLst>
          </p:cNvPr>
          <p:cNvSpPr>
            <a:spLocks xmlns:a="http://schemas.openxmlformats.org/drawingml/2006/main" noGrp="1"/>
          </p:cNvSpPr>
          <p:nvPr/>
        </p:nvSpPr>
        <p:spPr>
          <a:xfrm xmlns:a="http://schemas.openxmlformats.org/drawingml/2006/main">
            <a:off x="1524000" y="2762250"/>
            <a:ext cx="72390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2EBFF6-F122-4430-A7DA-B70A270224DE}"/>
              </a:ext>
            </a:extLst>
          </p:cNvPr>
          <p:cNvSpPr>
            <a:spLocks xmlns:a="http://schemas.openxmlformats.org/drawingml/2006/main" noGrp="1"/>
          </p:cNvSpPr>
          <p:nvPr/>
        </p:nvSpPr>
        <p:spPr>
          <a:xfrm xmlns:a="http://schemas.openxmlformats.org/drawingml/2006/main">
            <a:off x="1524000" y="5238750"/>
            <a:ext cx="7239000" cy="19050"/>
          </a:xfrm>
          <a:prstGeom xmlns:a="http://schemas.openxmlformats.org/drawingml/2006/main" prst="rect">
            <a:avLst/>
          </a:prstGeom>
          <a:solidFill xmlns:a="http://schemas.openxmlformats.org/drawingml/2006/main">
            <a:srgbClr val="1024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7B8E9E3-90D8-4552-AA52-452D2585195A}"/>
              </a:ext>
            </a:extLst>
          </p:cNvPr>
          <p:cNvSpPr>
            <a:spLocks xmlns:a="http://schemas.openxmlformats.org/drawingml/2006/main" noGrp="1"/>
          </p:cNvSpPr>
          <p:nvPr/>
        </p:nvSpPr>
        <p:spPr>
          <a:xfrm xmlns:a="http://schemas.openxmlformats.org/drawingml/2006/main">
            <a:off x="1809750" y="5178335"/>
            <a:ext cx="904875" cy="60415"/>
          </a:xfrm>
          <a:prstGeom xmlns:a="http://schemas.openxmlformats.org/drawingml/2006/main" prst="roundRect">
            <a:avLst>
              <a:gd name="adj" fmla="val 50000"/>
            </a:avLst>
          </a:prstGeom>
          <a:solidFill xmlns:a="http://schemas.openxmlformats.org/drawingml/2006/main">
            <a:srgbClr val="BCEB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8913BB-831C-43F9-B810-2AEA8F10440C}"/>
              </a:ext>
            </a:extLst>
          </p:cNvPr>
          <p:cNvSpPr>
            <a:spLocks xmlns:a="http://schemas.openxmlformats.org/drawingml/2006/main" noGrp="1"/>
          </p:cNvSpPr>
          <p:nvPr/>
        </p:nvSpPr>
        <p:spPr>
          <a:xfrm xmlns:a="http://schemas.openxmlformats.org/drawingml/2006/main">
            <a:off x="1562100" y="533400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172B3D"/>
                </a:solidFill>
              </a:defRPr>
            </a:defPPr>
          </a:lstStyle>
          <a:p xmlns:a="http://schemas.openxmlformats.org/drawingml/2006/main">
            <a:pPr algn="ctr">
              <a:defRPr sz="1125" b="1">
                <a:solidFill>
                  <a:srgbClr val="172B3D"/>
                </a:solidFill>
              </a:defRPr>
            </a:pPr>
            <a:r>
              <a:rPr sz="1125" b="1">
                <a:solidFill>
                  <a:srgbClr val="172B3D"/>
                </a:solidFill>
              </a:rPr>
              <a:t>USD 1.66M</a:t>
            </a:r>
          </a:p>
        </p:txBody>
      </p:sp>
      <p:sp>
        <p:nvSpPr>
          <p:cNvPr id="15" name="">
            <a:extLst xmlns:a="http://schemas.openxmlformats.org/drawingml/2006/main">
              <a:ext uri="{FF2B5EF4-FFF2-40B4-BE49-F238E27FC236}">
                <a16:creationId xmlns:a16="http://schemas.microsoft.com/office/drawing/2014/main" id="{23C110D7-03A9-42EF-BBDD-23613287FCE3}"/>
              </a:ext>
            </a:extLst>
          </p:cNvPr>
          <p:cNvSpPr>
            <a:spLocks xmlns:a="http://schemas.openxmlformats.org/drawingml/2006/main" noGrp="1"/>
          </p:cNvSpPr>
          <p:nvPr/>
        </p:nvSpPr>
        <p:spPr>
          <a:xfrm xmlns:a="http://schemas.openxmlformats.org/drawingml/2006/main">
            <a:off x="3524250" y="4912953"/>
            <a:ext cx="904875" cy="325797"/>
          </a:xfrm>
          <a:prstGeom xmlns:a="http://schemas.openxmlformats.org/drawingml/2006/main" prst="roundRect">
            <a:avLst>
              <a:gd name="adj" fmla="val 35083"/>
            </a:avLst>
          </a:prstGeom>
          <a:solidFill xmlns:a="http://schemas.openxmlformats.org/drawingml/2006/main">
            <a:srgbClr val="16A6A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CEE5C8E-E936-42D9-90A5-AA493B70C516}"/>
              </a:ext>
            </a:extLst>
          </p:cNvPr>
          <p:cNvSpPr>
            <a:spLocks xmlns:a="http://schemas.openxmlformats.org/drawingml/2006/main" noGrp="1"/>
          </p:cNvSpPr>
          <p:nvPr/>
        </p:nvSpPr>
        <p:spPr>
          <a:xfrm xmlns:a="http://schemas.openxmlformats.org/drawingml/2006/main">
            <a:off x="3276600" y="533400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172B3D"/>
                </a:solidFill>
              </a:defRPr>
            </a:defPPr>
          </a:lstStyle>
          <a:p xmlns:a="http://schemas.openxmlformats.org/drawingml/2006/main">
            <a:pPr algn="ctr">
              <a:defRPr sz="1125" b="1">
                <a:solidFill>
                  <a:srgbClr val="172B3D"/>
                </a:solidFill>
              </a:defRPr>
            </a:pPr>
            <a:r>
              <a:rPr sz="1125" b="1">
                <a:solidFill>
                  <a:srgbClr val="172B3D"/>
                </a:solidFill>
              </a:rPr>
              <a:t>$48.4M median</a:t>
            </a:r>
          </a:p>
        </p:txBody>
      </p:sp>
      <p:sp>
        <p:nvSpPr>
          <p:cNvPr id="17" name="">
            <a:extLst xmlns:a="http://schemas.openxmlformats.org/drawingml/2006/main">
              <a:ext uri="{FF2B5EF4-FFF2-40B4-BE49-F238E27FC236}">
                <a16:creationId xmlns:a16="http://schemas.microsoft.com/office/drawing/2014/main" id="{A5B1C461-BCB7-460A-8A92-46FD256880BB}"/>
              </a:ext>
            </a:extLst>
          </p:cNvPr>
          <p:cNvSpPr>
            <a:spLocks xmlns:a="http://schemas.openxmlformats.org/drawingml/2006/main" noGrp="1"/>
          </p:cNvSpPr>
          <p:nvPr/>
        </p:nvSpPr>
        <p:spPr>
          <a:xfrm xmlns:a="http://schemas.openxmlformats.org/drawingml/2006/main">
            <a:off x="5238750" y="4727697"/>
            <a:ext cx="904875" cy="511053"/>
          </a:xfrm>
          <a:prstGeom xmlns:a="http://schemas.openxmlformats.org/drawingml/2006/main" prst="roundRect">
            <a:avLst>
              <a:gd name="adj" fmla="val 22366"/>
            </a:avLst>
          </a:prstGeom>
          <a:solidFill xmlns:a="http://schemas.openxmlformats.org/drawingml/2006/main">
            <a:srgbClr val="17365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F4C930A-1A2F-4C01-872E-33F8E4ABFCE2}"/>
              </a:ext>
            </a:extLst>
          </p:cNvPr>
          <p:cNvSpPr>
            <a:spLocks xmlns:a="http://schemas.openxmlformats.org/drawingml/2006/main" noGrp="1"/>
          </p:cNvSpPr>
          <p:nvPr/>
        </p:nvSpPr>
        <p:spPr>
          <a:xfrm xmlns:a="http://schemas.openxmlformats.org/drawingml/2006/main">
            <a:off x="4991100" y="533400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172B3D"/>
                </a:solidFill>
              </a:defRPr>
            </a:defPPr>
          </a:lstStyle>
          <a:p xmlns:a="http://schemas.openxmlformats.org/drawingml/2006/main">
            <a:pPr algn="ctr">
              <a:defRPr sz="1125" b="1">
                <a:solidFill>
                  <a:srgbClr val="172B3D"/>
                </a:solidFill>
              </a:defRPr>
            </a:pPr>
            <a:r>
              <a:rPr sz="1125" b="1">
                <a:solidFill>
                  <a:srgbClr val="172B3D"/>
                </a:solidFill>
              </a:rPr>
              <a:t>$119.2M mean</a:t>
            </a:r>
          </a:p>
        </p:txBody>
      </p:sp>
      <p:sp>
        <p:nvSpPr>
          <p:cNvPr id="19" name="">
            <a:extLst xmlns:a="http://schemas.openxmlformats.org/drawingml/2006/main">
              <a:ext uri="{FF2B5EF4-FFF2-40B4-BE49-F238E27FC236}">
                <a16:creationId xmlns:a16="http://schemas.microsoft.com/office/drawing/2014/main" id="{F3EC7C78-C035-4841-8B9D-25AF4F0CC334}"/>
              </a:ext>
            </a:extLst>
          </p:cNvPr>
          <p:cNvSpPr>
            <a:spLocks xmlns:a="http://schemas.openxmlformats.org/drawingml/2006/main" noGrp="1"/>
          </p:cNvSpPr>
          <p:nvPr/>
        </p:nvSpPr>
        <p:spPr>
          <a:xfrm xmlns:a="http://schemas.openxmlformats.org/drawingml/2006/main">
            <a:off x="6953250" y="2762250"/>
            <a:ext cx="904875" cy="2476500"/>
          </a:xfrm>
          <a:prstGeom xmlns:a="http://schemas.openxmlformats.org/drawingml/2006/main" prst="roundRect">
            <a:avLst>
              <a:gd name="adj" fmla="val 12632"/>
            </a:avLst>
          </a:prstGeom>
          <a:solidFill xmlns:a="http://schemas.openxmlformats.org/drawingml/2006/main">
            <a:srgbClr val="F1B85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366213A-C280-45D1-A6C5-6C14721ACAD4}"/>
              </a:ext>
            </a:extLst>
          </p:cNvPr>
          <p:cNvSpPr>
            <a:spLocks xmlns:a="http://schemas.openxmlformats.org/drawingml/2006/main" noGrp="1"/>
          </p:cNvSpPr>
          <p:nvPr/>
        </p:nvSpPr>
        <p:spPr>
          <a:xfrm xmlns:a="http://schemas.openxmlformats.org/drawingml/2006/main">
            <a:off x="6705600" y="533400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172B3D"/>
                </a:solidFill>
              </a:defRPr>
            </a:defPPr>
          </a:lstStyle>
          <a:p xmlns:a="http://schemas.openxmlformats.org/drawingml/2006/main">
            <a:pPr algn="ctr">
              <a:defRPr sz="1125" b="1">
                <a:solidFill>
                  <a:srgbClr val="172B3D"/>
                </a:solidFill>
              </a:defRPr>
            </a:pPr>
            <a:r>
              <a:rPr sz="1125" b="1">
                <a:solidFill>
                  <a:srgbClr val="172B3D"/>
                </a:solidFill>
              </a:rPr>
              <a:t>$2.80B maximum</a:t>
            </a:r>
          </a:p>
        </p:txBody>
      </p:sp>
      <p:sp>
        <p:nvSpPr>
          <p:cNvPr id="21" name="">
            <a:extLst xmlns:a="http://schemas.openxmlformats.org/drawingml/2006/main">
              <a:ext uri="{FF2B5EF4-FFF2-40B4-BE49-F238E27FC236}">
                <a16:creationId xmlns:a16="http://schemas.microsoft.com/office/drawing/2014/main" id="{BB2302E4-1C64-4595-A103-3EAA3AB67B4B}"/>
              </a:ext>
            </a:extLst>
          </p:cNvPr>
          <p:cNvSpPr>
            <a:spLocks xmlns:a="http://schemas.openxmlformats.org/drawingml/2006/main" noGrp="1"/>
          </p:cNvSpPr>
          <p:nvPr/>
        </p:nvSpPr>
        <p:spPr>
          <a:xfrm xmlns:a="http://schemas.openxmlformats.org/drawingml/2006/main">
            <a:off x="9144000" y="20002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16A6A1"/>
                </a:solidFill>
              </a:defRPr>
            </a:defPPr>
          </a:lstStyle>
          <a:p xmlns:a="http://schemas.openxmlformats.org/drawingml/2006/main">
            <a:pPr>
              <a:defRPr sz="1050" b="1">
                <a:solidFill>
                  <a:srgbClr val="16A6A1"/>
                </a:solidFill>
              </a:defRPr>
            </a:pPr>
            <a:r>
              <a:rPr sz="1050" b="1">
                <a:solidFill>
                  <a:srgbClr val="16A6A1"/>
                </a:solidFill>
              </a:rPr>
              <a:t>DATA QUALITY</a:t>
            </a:r>
          </a:p>
        </p:txBody>
      </p:sp>
      <p:sp>
        <p:nvSpPr>
          <p:cNvPr id="22" name="">
            <a:extLst xmlns:a="http://schemas.openxmlformats.org/drawingml/2006/main">
              <a:ext uri="{FF2B5EF4-FFF2-40B4-BE49-F238E27FC236}">
                <a16:creationId xmlns:a16="http://schemas.microsoft.com/office/drawing/2014/main" id="{05F5EED8-BEAF-4543-BDDF-E4EA3F59990E}"/>
              </a:ext>
            </a:extLst>
          </p:cNvPr>
          <p:cNvSpPr>
            <a:spLocks xmlns:a="http://schemas.openxmlformats.org/drawingml/2006/main" noGrp="1"/>
          </p:cNvSpPr>
          <p:nvPr/>
        </p:nvSpPr>
        <p:spPr>
          <a:xfrm xmlns:a="http://schemas.openxmlformats.org/drawingml/2006/main">
            <a:off x="9144000" y="2381250"/>
            <a:ext cx="2381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Missing values</a:t>
            </a:r>
          </a:p>
          <a:p xmlns:a="http://schemas.openxmlformats.org/drawingml/2006/main">
            <a:pPr>
              <a:defRPr sz="1275" b="0">
                <a:solidFill>
                  <a:srgbClr val="172B3D"/>
                </a:solidFill>
              </a:defRPr>
            </a:pPr>
            <a:r>
              <a:rPr sz="1275" b="0">
                <a:solidFill>
                  <a:srgbClr val="172B3D"/>
                </a:solidFill>
              </a:rPr>
              <a:t>Genres: 178</a:t>
            </a:r>
          </a:p>
          <a:p xmlns:a="http://schemas.openxmlformats.org/drawingml/2006/main">
            <a:pPr>
              <a:defRPr sz="1275" b="0">
                <a:solidFill>
                  <a:srgbClr val="172B3D"/>
                </a:solidFill>
              </a:defRPr>
            </a:pPr>
            <a:r>
              <a:rPr sz="1275" b="0">
                <a:solidFill>
                  <a:srgbClr val="172B3D"/>
                </a:solidFill>
              </a:rPr>
              <a:t>Rating: 170</a:t>
            </a:r>
          </a:p>
          <a:p xmlns:a="http://schemas.openxmlformats.org/drawingml/2006/main">
            <a:pPr>
              <a:defRPr sz="1275" b="0">
                <a:solidFill>
                  <a:srgbClr val="172B3D"/>
                </a:solidFill>
              </a:defRPr>
            </a:pPr>
            <a:r>
              <a:rPr sz="1275" b="0">
                <a:solidFill>
                  <a:srgbClr val="172B3D"/>
                </a:solidFill>
              </a:rPr>
              <a:t>Vote count: 170</a:t>
            </a:r>
          </a:p>
          <a:p xmlns:a="http://schemas.openxmlformats.org/drawingml/2006/main">
            <a:pPr>
              <a:defRPr sz="1275" b="0">
                <a:solidFill>
                  <a:srgbClr val="172B3D"/>
                </a:solidFill>
              </a:defRPr>
            </a:pPr>
            <a:r>
              <a:rPr sz="1275" b="0">
                <a:solidFill>
                  <a:srgbClr val="172B3D"/>
                </a:solidFill>
              </a:rPr>
              <a:t>Language: 170</a:t>
            </a:r>
          </a:p>
          <a:p xmlns:a="http://schemas.openxmlformats.org/drawingml/2006/main">
            <a:pPr>
              <a:defRPr sz="1275" b="0">
                <a:solidFill>
                  <a:srgbClr val="172B3D"/>
                </a:solidFill>
              </a:defRPr>
            </a:pPr>
            <a:r>
              <a:rPr sz="1275" b="0">
                <a:solidFill>
                  <a:srgbClr val="172B3D"/>
                </a:solidFill>
              </a:rPr>
              <a:t>Countries: 200</a:t>
            </a:r>
          </a:p>
          <a:p xmlns:a="http://schemas.openxmlformats.org/drawingml/2006/main">
            <a:r>
              <a:t/>
            </a:r>
          </a:p>
          <a:p xmlns:a="http://schemas.openxmlformats.org/drawingml/2006/main">
            <a:pPr>
              <a:defRPr sz="1275" b="0">
                <a:solidFill>
                  <a:srgbClr val="172B3D"/>
                </a:solidFill>
              </a:defRPr>
            </a:pPr>
            <a:r>
              <a:rPr sz="1275" b="0">
                <a:solidFill>
                  <a:srgbClr val="172B3D"/>
                </a:solidFill>
              </a:rPr>
              <a:t>Rows with any missing field: 203</a:t>
            </a:r>
          </a:p>
        </p:txBody>
      </p:sp>
      <p:sp>
        <p:nvSpPr>
          <p:cNvPr id="23" name="">
            <a:extLst xmlns:a="http://schemas.openxmlformats.org/drawingml/2006/main">
              <a:ext uri="{FF2B5EF4-FFF2-40B4-BE49-F238E27FC236}">
                <a16:creationId xmlns:a16="http://schemas.microsoft.com/office/drawing/2014/main" id="{6F0CA248-B0E7-470F-84FB-F262BA8A925B}"/>
              </a:ext>
            </a:extLst>
          </p:cNvPr>
          <p:cNvSpPr>
            <a:spLocks xmlns:a="http://schemas.openxmlformats.org/drawingml/2006/main" noGrp="1"/>
          </p:cNvSpPr>
          <p:nvPr/>
        </p:nvSpPr>
        <p:spPr>
          <a:xfrm xmlns:a="http://schemas.openxmlformats.org/drawingml/2006/main">
            <a:off x="723900" y="59531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C55B55"/>
                </a:solidFill>
              </a:defRPr>
            </a:defPPr>
          </a:lstStyle>
          <a:p xmlns:a="http://schemas.openxmlformats.org/drawingml/2006/main">
            <a:pPr>
              <a:defRPr sz="1275" b="1">
                <a:solidFill>
                  <a:srgbClr val="C55B55"/>
                </a:solidFill>
              </a:defRPr>
            </a:pPr>
            <a:r>
              <a:rPr sz="1275" b="1">
                <a:solidFill>
                  <a:srgbClr val="C55B55"/>
                </a:solidFill>
              </a:rPr>
              <a:t>Worldwide gross is strongly right-skewed (mean well above median).</a:t>
            </a:r>
          </a:p>
        </p:txBody>
      </p:sp>
    </p:spTree>
    <p:extLst>
      <p:ext uri="{BB962C8B-B14F-4D97-AF65-F5344CB8AC3E}">
        <p14:creationId xmlns:p14="http://schemas.microsoft.com/office/powerpoint/2010/main" val="265185702"/>
      </p:ext>
    </p:extLst>
  </p:cSld>
</p:sld>
</file>

<file path=ppt/slides/slide11.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D592006-DC56-44FA-B9C3-0B7ADBEBC42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5B9781-68B9-42C2-BA1D-CB6E07F9E91D}"/>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5DE34D1F-9303-4408-9077-026890F8CEA6}"/>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Algorithms and Model</a:t>
            </a:r>
          </a:p>
        </p:txBody>
      </p:sp>
      <p:sp>
        <p:nvSpPr>
          <p:cNvPr id="4" name="">
            <a:extLst xmlns:a="http://schemas.openxmlformats.org/drawingml/2006/main">
              <a:ext uri="{FF2B5EF4-FFF2-40B4-BE49-F238E27FC236}">
                <a16:creationId xmlns:a16="http://schemas.microsoft.com/office/drawing/2014/main" id="{BA761CCB-B30F-40FA-A6BF-76CCC67FB82C}"/>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187BF6-5BE6-49B8-AE95-0B63F3C7CF94}"/>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917D8AB9-B3CD-418A-A943-779559437828}"/>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11</a:t>
            </a:r>
          </a:p>
        </p:txBody>
      </p:sp>
      <p:sp>
        <p:nvSpPr>
          <p:cNvPr id="7" name="">
            <a:extLst xmlns:a="http://schemas.openxmlformats.org/drawingml/2006/main">
              <a:ext uri="{FF2B5EF4-FFF2-40B4-BE49-F238E27FC236}">
                <a16:creationId xmlns:a16="http://schemas.microsoft.com/office/drawing/2014/main" id="{2CF47EFB-C29D-444E-9442-8D4AEC6B2B60}"/>
              </a:ext>
            </a:extLst>
          </p:cNvPr>
          <p:cNvSpPr>
            <a:spLocks xmlns:a="http://schemas.openxmlformats.org/drawingml/2006/main" noGrp="1"/>
          </p:cNvSpPr>
          <p:nvPr/>
        </p:nvSpPr>
        <p:spPr>
          <a:xfrm xmlns:a="http://schemas.openxmlformats.org/drawingml/2006/main">
            <a:off x="714375" y="1666875"/>
            <a:ext cx="5191125" cy="40005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8E2E8"/>
            </a:solidFill>
            <a:prstDash val="solid"/>
          </a:ln>
        </p:spPr>
      </p:sp>
      <p:sp>
        <p:nvSpPr>
          <p:cNvPr id="8" name="">
            <a:extLst xmlns:a="http://schemas.openxmlformats.org/drawingml/2006/main">
              <a:ext uri="{FF2B5EF4-FFF2-40B4-BE49-F238E27FC236}">
                <a16:creationId xmlns:a16="http://schemas.microsoft.com/office/drawing/2014/main" id="{C379FAA5-D17A-4B19-B738-407C918F43A1}"/>
              </a:ext>
            </a:extLst>
          </p:cNvPr>
          <p:cNvSpPr>
            <a:spLocks xmlns:a="http://schemas.openxmlformats.org/drawingml/2006/main" noGrp="1"/>
          </p:cNvSpPr>
          <p:nvPr/>
        </p:nvSpPr>
        <p:spPr>
          <a:xfrm xmlns:a="http://schemas.openxmlformats.org/drawingml/2006/main">
            <a:off x="6286500" y="1666875"/>
            <a:ext cx="5191125" cy="40005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8E2E8"/>
            </a:solidFill>
            <a:prstDash val="solid"/>
          </a:ln>
        </p:spPr>
      </p:sp>
      <p:sp>
        <p:nvSpPr>
          <p:cNvPr id="9" name="">
            <a:extLst xmlns:a="http://schemas.openxmlformats.org/drawingml/2006/main">
              <a:ext uri="{FF2B5EF4-FFF2-40B4-BE49-F238E27FC236}">
                <a16:creationId xmlns:a16="http://schemas.microsoft.com/office/drawing/2014/main" id="{CA4611FF-3BE4-4ADC-99DE-C5541D6346B1}"/>
              </a:ext>
            </a:extLst>
          </p:cNvPr>
          <p:cNvSpPr>
            <a:spLocks xmlns:a="http://schemas.openxmlformats.org/drawingml/2006/main" noGrp="1"/>
          </p:cNvSpPr>
          <p:nvPr/>
        </p:nvSpPr>
        <p:spPr>
          <a:xfrm xmlns:a="http://schemas.openxmlformats.org/drawingml/2006/main">
            <a:off x="1000125" y="1905000"/>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0243A"/>
                </a:solidFill>
              </a:defRPr>
            </a:defPPr>
          </a:lstStyle>
          <a:p xmlns:a="http://schemas.openxmlformats.org/drawingml/2006/main">
            <a:pPr>
              <a:defRPr sz="1575" b="1">
                <a:solidFill>
                  <a:srgbClr val="10243A"/>
                </a:solidFill>
              </a:defRPr>
            </a:pPr>
            <a:r>
              <a:rPr sz="1575" b="1">
                <a:solidFill>
                  <a:srgbClr val="10243A"/>
                </a:solidFill>
              </a:rPr>
              <a:t>DSA search and recommendations</a:t>
            </a:r>
          </a:p>
        </p:txBody>
      </p:sp>
      <p:sp>
        <p:nvSpPr>
          <p:cNvPr id="10" name="">
            <a:extLst xmlns:a="http://schemas.openxmlformats.org/drawingml/2006/main">
              <a:ext uri="{FF2B5EF4-FFF2-40B4-BE49-F238E27FC236}">
                <a16:creationId xmlns:a16="http://schemas.microsoft.com/office/drawing/2014/main" id="{216426EF-EC3D-4D11-B212-672E7CAA5FBF}"/>
              </a:ext>
            </a:extLst>
          </p:cNvPr>
          <p:cNvSpPr>
            <a:spLocks xmlns:a="http://schemas.openxmlformats.org/drawingml/2006/main" noGrp="1"/>
          </p:cNvSpPr>
          <p:nvPr/>
        </p:nvSpPr>
        <p:spPr>
          <a:xfrm xmlns:a="http://schemas.openxmlformats.org/drawingml/2006/main">
            <a:off x="1000125" y="24765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C17F80-4026-4CF1-9D21-2F887A55B821}"/>
              </a:ext>
            </a:extLst>
          </p:cNvPr>
          <p:cNvSpPr>
            <a:spLocks xmlns:a="http://schemas.openxmlformats.org/drawingml/2006/main" noGrp="1"/>
          </p:cNvSpPr>
          <p:nvPr/>
        </p:nvSpPr>
        <p:spPr>
          <a:xfrm xmlns:a="http://schemas.openxmlformats.org/drawingml/2006/main">
            <a:off x="1209675" y="24003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KMP: prefix table for exact search</a:t>
            </a:r>
          </a:p>
        </p:txBody>
      </p:sp>
      <p:sp>
        <p:nvSpPr>
          <p:cNvPr id="12" name="">
            <a:extLst xmlns:a="http://schemas.openxmlformats.org/drawingml/2006/main">
              <a:ext uri="{FF2B5EF4-FFF2-40B4-BE49-F238E27FC236}">
                <a16:creationId xmlns:a16="http://schemas.microsoft.com/office/drawing/2014/main" id="{B3CE5628-145A-4B23-8662-14AD08E163B7}"/>
              </a:ext>
            </a:extLst>
          </p:cNvPr>
          <p:cNvSpPr>
            <a:spLocks xmlns:a="http://schemas.openxmlformats.org/drawingml/2006/main" noGrp="1"/>
          </p:cNvSpPr>
          <p:nvPr/>
        </p:nvSpPr>
        <p:spPr>
          <a:xfrm xmlns:a="http://schemas.openxmlformats.org/drawingml/2006/main">
            <a:off x="1000125" y="29718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EF66166-CB6D-4D61-A040-633BCE17E715}"/>
              </a:ext>
            </a:extLst>
          </p:cNvPr>
          <p:cNvSpPr>
            <a:spLocks xmlns:a="http://schemas.openxmlformats.org/drawingml/2006/main" noGrp="1"/>
          </p:cNvSpPr>
          <p:nvPr/>
        </p:nvSpPr>
        <p:spPr>
          <a:xfrm xmlns:a="http://schemas.openxmlformats.org/drawingml/2006/main">
            <a:off x="1209675" y="2895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Rabin–Karp: rolling hash</a:t>
            </a:r>
          </a:p>
        </p:txBody>
      </p:sp>
      <p:sp>
        <p:nvSpPr>
          <p:cNvPr id="14" name="">
            <a:extLst xmlns:a="http://schemas.openxmlformats.org/drawingml/2006/main">
              <a:ext uri="{FF2B5EF4-FFF2-40B4-BE49-F238E27FC236}">
                <a16:creationId xmlns:a16="http://schemas.microsoft.com/office/drawing/2014/main" id="{B2F5145F-3EBA-422B-93CD-D8B986924458}"/>
              </a:ext>
            </a:extLst>
          </p:cNvPr>
          <p:cNvSpPr>
            <a:spLocks xmlns:a="http://schemas.openxmlformats.org/drawingml/2006/main" noGrp="1"/>
          </p:cNvSpPr>
          <p:nvPr/>
        </p:nvSpPr>
        <p:spPr>
          <a:xfrm xmlns:a="http://schemas.openxmlformats.org/drawingml/2006/main">
            <a:off x="1000125" y="34671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9E28B7-B7E2-48BB-BEFB-5FE8C2E2C366}"/>
              </a:ext>
            </a:extLst>
          </p:cNvPr>
          <p:cNvSpPr>
            <a:spLocks xmlns:a="http://schemas.openxmlformats.org/drawingml/2006/main" noGrp="1"/>
          </p:cNvSpPr>
          <p:nvPr/>
        </p:nvSpPr>
        <p:spPr>
          <a:xfrm xmlns:a="http://schemas.openxmlformats.org/drawingml/2006/main">
            <a:off x="1209675" y="33909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Edit distance: dynamic programming</a:t>
            </a:r>
          </a:p>
        </p:txBody>
      </p:sp>
      <p:sp>
        <p:nvSpPr>
          <p:cNvPr id="16" name="">
            <a:extLst xmlns:a="http://schemas.openxmlformats.org/drawingml/2006/main">
              <a:ext uri="{FF2B5EF4-FFF2-40B4-BE49-F238E27FC236}">
                <a16:creationId xmlns:a16="http://schemas.microsoft.com/office/drawing/2014/main" id="{77E9A8B8-AC01-4008-9D9B-850665F52F39}"/>
              </a:ext>
            </a:extLst>
          </p:cNvPr>
          <p:cNvSpPr>
            <a:spLocks xmlns:a="http://schemas.openxmlformats.org/drawingml/2006/main" noGrp="1"/>
          </p:cNvSpPr>
          <p:nvPr/>
        </p:nvSpPr>
        <p:spPr>
          <a:xfrm xmlns:a="http://schemas.openxmlformats.org/drawingml/2006/main">
            <a:off x="1000125" y="39624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CA4DD9C-0122-454F-A76D-C18933EDA03D}"/>
              </a:ext>
            </a:extLst>
          </p:cNvPr>
          <p:cNvSpPr>
            <a:spLocks xmlns:a="http://schemas.openxmlformats.org/drawingml/2006/main" noGrp="1"/>
          </p:cNvSpPr>
          <p:nvPr/>
        </p:nvSpPr>
        <p:spPr>
          <a:xfrm xmlns:a="http://schemas.openxmlformats.org/drawingml/2006/main">
            <a:off x="1209675" y="38862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Suffix array: approximate title matching</a:t>
            </a:r>
          </a:p>
        </p:txBody>
      </p:sp>
      <p:sp>
        <p:nvSpPr>
          <p:cNvPr id="18" name="">
            <a:extLst xmlns:a="http://schemas.openxmlformats.org/drawingml/2006/main">
              <a:ext uri="{FF2B5EF4-FFF2-40B4-BE49-F238E27FC236}">
                <a16:creationId xmlns:a16="http://schemas.microsoft.com/office/drawing/2014/main" id="{FEB15D66-FB66-4B31-8167-0FF0610E19E6}"/>
              </a:ext>
            </a:extLst>
          </p:cNvPr>
          <p:cNvSpPr>
            <a:spLocks xmlns:a="http://schemas.openxmlformats.org/drawingml/2006/main" noGrp="1"/>
          </p:cNvSpPr>
          <p:nvPr/>
        </p:nvSpPr>
        <p:spPr>
          <a:xfrm xmlns:a="http://schemas.openxmlformats.org/drawingml/2006/main">
            <a:off x="1000125" y="44577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7A0D9D0-85C1-4F10-A5FD-384141ADD644}"/>
              </a:ext>
            </a:extLst>
          </p:cNvPr>
          <p:cNvSpPr>
            <a:spLocks xmlns:a="http://schemas.openxmlformats.org/drawingml/2006/main" noGrp="1"/>
          </p:cNvSpPr>
          <p:nvPr/>
        </p:nvSpPr>
        <p:spPr>
          <a:xfrm xmlns:a="http://schemas.openxmlformats.org/drawingml/2006/main">
            <a:off x="1209675" y="43815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Ford–Fulkerson / Edmonds–Karp: graph flow</a:t>
            </a:r>
          </a:p>
        </p:txBody>
      </p:sp>
      <p:sp>
        <p:nvSpPr>
          <p:cNvPr id="20" name="">
            <a:extLst xmlns:a="http://schemas.openxmlformats.org/drawingml/2006/main">
              <a:ext uri="{FF2B5EF4-FFF2-40B4-BE49-F238E27FC236}">
                <a16:creationId xmlns:a16="http://schemas.microsoft.com/office/drawing/2014/main" id="{701A593D-1005-40EE-84CD-65B5DDF4D4EC}"/>
              </a:ext>
            </a:extLst>
          </p:cNvPr>
          <p:cNvSpPr>
            <a:spLocks xmlns:a="http://schemas.openxmlformats.org/drawingml/2006/main" noGrp="1"/>
          </p:cNvSpPr>
          <p:nvPr/>
        </p:nvSpPr>
        <p:spPr>
          <a:xfrm xmlns:a="http://schemas.openxmlformats.org/drawingml/2006/main">
            <a:off x="1000125" y="49530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916F5A0-4276-41F8-BFA9-2914A82F2F34}"/>
              </a:ext>
            </a:extLst>
          </p:cNvPr>
          <p:cNvSpPr>
            <a:spLocks xmlns:a="http://schemas.openxmlformats.org/drawingml/2006/main" noGrp="1"/>
          </p:cNvSpPr>
          <p:nvPr/>
        </p:nvSpPr>
        <p:spPr>
          <a:xfrm xmlns:a="http://schemas.openxmlformats.org/drawingml/2006/main">
            <a:off x="1209675" y="48768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Greedy coverage + seeded tie-breaking</a:t>
            </a:r>
          </a:p>
        </p:txBody>
      </p:sp>
      <p:sp>
        <p:nvSpPr>
          <p:cNvPr id="22" name="">
            <a:extLst xmlns:a="http://schemas.openxmlformats.org/drawingml/2006/main">
              <a:ext uri="{FF2B5EF4-FFF2-40B4-BE49-F238E27FC236}">
                <a16:creationId xmlns:a16="http://schemas.microsoft.com/office/drawing/2014/main" id="{3DC59337-DCA0-4A3E-8AF2-A1A2057B312C}"/>
              </a:ext>
            </a:extLst>
          </p:cNvPr>
          <p:cNvSpPr>
            <a:spLocks xmlns:a="http://schemas.openxmlformats.org/drawingml/2006/main" noGrp="1"/>
          </p:cNvSpPr>
          <p:nvPr/>
        </p:nvSpPr>
        <p:spPr>
          <a:xfrm xmlns:a="http://schemas.openxmlformats.org/drawingml/2006/main">
            <a:off x="6572250" y="1905000"/>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0243A"/>
                </a:solidFill>
              </a:defRPr>
            </a:defPPr>
          </a:lstStyle>
          <a:p xmlns:a="http://schemas.openxmlformats.org/drawingml/2006/main">
            <a:pPr>
              <a:defRPr sz="1575" b="1">
                <a:solidFill>
                  <a:srgbClr val="10243A"/>
                </a:solidFill>
              </a:defRPr>
            </a:pPr>
            <a:r>
              <a:rPr sz="1575" b="1">
                <a:solidFill>
                  <a:srgbClr val="10243A"/>
                </a:solidFill>
              </a:rPr>
              <a:t>Elastic Net regression</a:t>
            </a:r>
          </a:p>
        </p:txBody>
      </p:sp>
      <p:sp>
        <p:nvSpPr>
          <p:cNvPr id="23" name="">
            <a:extLst xmlns:a="http://schemas.openxmlformats.org/drawingml/2006/main">
              <a:ext uri="{FF2B5EF4-FFF2-40B4-BE49-F238E27FC236}">
                <a16:creationId xmlns:a16="http://schemas.microsoft.com/office/drawing/2014/main" id="{F148A2CA-89E4-4A10-B6A6-1BFCC213F901}"/>
              </a:ext>
            </a:extLst>
          </p:cNvPr>
          <p:cNvSpPr>
            <a:spLocks xmlns:a="http://schemas.openxmlformats.org/drawingml/2006/main" noGrp="1"/>
          </p:cNvSpPr>
          <p:nvPr/>
        </p:nvSpPr>
        <p:spPr>
          <a:xfrm xmlns:a="http://schemas.openxmlformats.org/drawingml/2006/main">
            <a:off x="6572250" y="24765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67D45AD-528F-490F-BB24-8487590F9587}"/>
              </a:ext>
            </a:extLst>
          </p:cNvPr>
          <p:cNvSpPr>
            <a:spLocks xmlns:a="http://schemas.openxmlformats.org/drawingml/2006/main" noGrp="1"/>
          </p:cNvSpPr>
          <p:nvPr/>
        </p:nvSpPr>
        <p:spPr>
          <a:xfrm xmlns:a="http://schemas.openxmlformats.org/drawingml/2006/main">
            <a:off x="6781800" y="240030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Regression target: worldwide revenue</a:t>
            </a:r>
          </a:p>
        </p:txBody>
      </p:sp>
      <p:sp>
        <p:nvSpPr>
          <p:cNvPr id="25" name="">
            <a:extLst xmlns:a="http://schemas.openxmlformats.org/drawingml/2006/main">
              <a:ext uri="{FF2B5EF4-FFF2-40B4-BE49-F238E27FC236}">
                <a16:creationId xmlns:a16="http://schemas.microsoft.com/office/drawing/2014/main" id="{DA6129A0-33B8-464F-BDB3-2D273B9DAC89}"/>
              </a:ext>
            </a:extLst>
          </p:cNvPr>
          <p:cNvSpPr>
            <a:spLocks xmlns:a="http://schemas.openxmlformats.org/drawingml/2006/main" noGrp="1"/>
          </p:cNvSpPr>
          <p:nvPr/>
        </p:nvSpPr>
        <p:spPr>
          <a:xfrm xmlns:a="http://schemas.openxmlformats.org/drawingml/2006/main">
            <a:off x="6572250" y="29718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6863393-C180-4959-BE85-032F61EF98C2}"/>
              </a:ext>
            </a:extLst>
          </p:cNvPr>
          <p:cNvSpPr>
            <a:spLocks xmlns:a="http://schemas.openxmlformats.org/drawingml/2006/main" noGrp="1"/>
          </p:cNvSpPr>
          <p:nvPr/>
        </p:nvSpPr>
        <p:spPr>
          <a:xfrm xmlns:a="http://schemas.openxmlformats.org/drawingml/2006/main">
            <a:off x="6781800" y="289560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Numeric inputs standardized</a:t>
            </a:r>
          </a:p>
        </p:txBody>
      </p:sp>
      <p:sp>
        <p:nvSpPr>
          <p:cNvPr id="27" name="">
            <a:extLst xmlns:a="http://schemas.openxmlformats.org/drawingml/2006/main">
              <a:ext uri="{FF2B5EF4-FFF2-40B4-BE49-F238E27FC236}">
                <a16:creationId xmlns:a16="http://schemas.microsoft.com/office/drawing/2014/main" id="{65ED996A-D3C8-471F-B491-A4E4DF7DBAAD}"/>
              </a:ext>
            </a:extLst>
          </p:cNvPr>
          <p:cNvSpPr>
            <a:spLocks xmlns:a="http://schemas.openxmlformats.org/drawingml/2006/main" noGrp="1"/>
          </p:cNvSpPr>
          <p:nvPr/>
        </p:nvSpPr>
        <p:spPr>
          <a:xfrm xmlns:a="http://schemas.openxmlformats.org/drawingml/2006/main">
            <a:off x="6572250" y="34671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64AB8F7-8835-4DC7-B0BD-CA240D1D4106}"/>
              </a:ext>
            </a:extLst>
          </p:cNvPr>
          <p:cNvSpPr>
            <a:spLocks xmlns:a="http://schemas.openxmlformats.org/drawingml/2006/main" noGrp="1"/>
          </p:cNvSpPr>
          <p:nvPr/>
        </p:nvSpPr>
        <p:spPr>
          <a:xfrm xmlns:a="http://schemas.openxmlformats.org/drawingml/2006/main">
            <a:off x="6781800" y="339090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Categorical inputs one-hot encoded</a:t>
            </a:r>
          </a:p>
        </p:txBody>
      </p:sp>
      <p:sp>
        <p:nvSpPr>
          <p:cNvPr id="29" name="">
            <a:extLst xmlns:a="http://schemas.openxmlformats.org/drawingml/2006/main">
              <a:ext uri="{FF2B5EF4-FFF2-40B4-BE49-F238E27FC236}">
                <a16:creationId xmlns:a16="http://schemas.microsoft.com/office/drawing/2014/main" id="{259375EF-6A5A-4F33-97F7-8C7F58918D03}"/>
              </a:ext>
            </a:extLst>
          </p:cNvPr>
          <p:cNvSpPr>
            <a:spLocks xmlns:a="http://schemas.openxmlformats.org/drawingml/2006/main" noGrp="1"/>
          </p:cNvSpPr>
          <p:nvPr/>
        </p:nvSpPr>
        <p:spPr>
          <a:xfrm xmlns:a="http://schemas.openxmlformats.org/drawingml/2006/main">
            <a:off x="6572250" y="39624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CFF366E-0FC3-4892-9A77-0F8E92A92A7B}"/>
              </a:ext>
            </a:extLst>
          </p:cNvPr>
          <p:cNvSpPr>
            <a:spLocks xmlns:a="http://schemas.openxmlformats.org/drawingml/2006/main" noGrp="1"/>
          </p:cNvSpPr>
          <p:nvPr/>
        </p:nvSpPr>
        <p:spPr>
          <a:xfrm xmlns:a="http://schemas.openxmlformats.org/drawingml/2006/main">
            <a:off x="6781800" y="388620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L1 + L2 regularization</a:t>
            </a:r>
          </a:p>
        </p:txBody>
      </p:sp>
      <p:sp>
        <p:nvSpPr>
          <p:cNvPr id="31" name="">
            <a:extLst xmlns:a="http://schemas.openxmlformats.org/drawingml/2006/main">
              <a:ext uri="{FF2B5EF4-FFF2-40B4-BE49-F238E27FC236}">
                <a16:creationId xmlns:a16="http://schemas.microsoft.com/office/drawing/2014/main" id="{86ABA0FB-F83D-4C7B-8975-A1836D246C11}"/>
              </a:ext>
            </a:extLst>
          </p:cNvPr>
          <p:cNvSpPr>
            <a:spLocks xmlns:a="http://schemas.openxmlformats.org/drawingml/2006/main" noGrp="1"/>
          </p:cNvSpPr>
          <p:nvPr/>
        </p:nvSpPr>
        <p:spPr>
          <a:xfrm xmlns:a="http://schemas.openxmlformats.org/drawingml/2006/main">
            <a:off x="6572250" y="44577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E07D4A7-30EC-46AF-8BB0-33195D37FEB7}"/>
              </a:ext>
            </a:extLst>
          </p:cNvPr>
          <p:cNvSpPr>
            <a:spLocks xmlns:a="http://schemas.openxmlformats.org/drawingml/2006/main" noGrp="1"/>
          </p:cNvSpPr>
          <p:nvPr/>
        </p:nvSpPr>
        <p:spPr>
          <a:xfrm xmlns:a="http://schemas.openxmlformats.org/drawingml/2006/main">
            <a:off x="6781800" y="438150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Baseline alpha = 0.1; L1 ratio = 0.5</a:t>
            </a:r>
          </a:p>
        </p:txBody>
      </p:sp>
      <p:sp>
        <p:nvSpPr>
          <p:cNvPr id="33" name="">
            <a:extLst xmlns:a="http://schemas.openxmlformats.org/drawingml/2006/main">
              <a:ext uri="{FF2B5EF4-FFF2-40B4-BE49-F238E27FC236}">
                <a16:creationId xmlns:a16="http://schemas.microsoft.com/office/drawing/2014/main" id="{E7F24D50-846A-42A4-AE54-5E448FC4E3BF}"/>
              </a:ext>
            </a:extLst>
          </p:cNvPr>
          <p:cNvSpPr>
            <a:spLocks xmlns:a="http://schemas.openxmlformats.org/drawingml/2006/main" noGrp="1"/>
          </p:cNvSpPr>
          <p:nvPr/>
        </p:nvSpPr>
        <p:spPr>
          <a:xfrm xmlns:a="http://schemas.openxmlformats.org/drawingml/2006/main">
            <a:off x="6572250" y="49530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35B4AD1-A611-4217-A706-8BA44B3B0B99}"/>
              </a:ext>
            </a:extLst>
          </p:cNvPr>
          <p:cNvSpPr>
            <a:spLocks xmlns:a="http://schemas.openxmlformats.org/drawingml/2006/main" noGrp="1"/>
          </p:cNvSpPr>
          <p:nvPr/>
        </p:nvSpPr>
        <p:spPr>
          <a:xfrm xmlns:a="http://schemas.openxmlformats.org/drawingml/2006/main">
            <a:off x="6781800" y="4876800"/>
            <a:ext cx="426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80/20 random split in baseline training</a:t>
            </a:r>
          </a:p>
        </p:txBody>
      </p:sp>
    </p:spTree>
    <p:extLst>
      <p:ext uri="{BB962C8B-B14F-4D97-AF65-F5344CB8AC3E}">
        <p14:creationId xmlns:p14="http://schemas.microsoft.com/office/powerpoint/2010/main" val="1873438479"/>
      </p:ext>
    </p:extLst>
  </p:cSld>
</p:sld>
</file>

<file path=ppt/slides/slide1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9CE617A-526F-46A9-9C3F-E3D87F7832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8EFAF8-4E0F-44BC-9DA9-03EFCB4B73A0}"/>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89CCA38B-2378-4A5F-B307-4148A1418925}"/>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Current Results and Outputs</a:t>
            </a:r>
          </a:p>
        </p:txBody>
      </p:sp>
      <p:sp>
        <p:nvSpPr>
          <p:cNvPr id="4" name="">
            <a:extLst xmlns:a="http://schemas.openxmlformats.org/drawingml/2006/main">
              <a:ext uri="{FF2B5EF4-FFF2-40B4-BE49-F238E27FC236}">
                <a16:creationId xmlns:a16="http://schemas.microsoft.com/office/drawing/2014/main" id="{5D5452A1-79E4-4A0C-9D82-920E538B49F9}"/>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9E83F3-7076-4BD6-9CCE-3AA68D2D8CEB}"/>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44035CEE-5861-4C88-B108-640B902BA2D3}"/>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12</a:t>
            </a:r>
          </a:p>
        </p:txBody>
      </p:sp>
      <p:sp>
        <p:nvSpPr>
          <p:cNvPr id="7" name="">
            <a:extLst xmlns:a="http://schemas.openxmlformats.org/drawingml/2006/main">
              <a:ext uri="{FF2B5EF4-FFF2-40B4-BE49-F238E27FC236}">
                <a16:creationId xmlns:a16="http://schemas.microsoft.com/office/drawing/2014/main" id="{6BD76D2C-9CBE-4689-AB70-7E7A92621895}"/>
              </a:ext>
            </a:extLst>
          </p:cNvPr>
          <p:cNvSpPr>
            <a:spLocks xmlns:a="http://schemas.openxmlformats.org/drawingml/2006/main" noGrp="1"/>
          </p:cNvSpPr>
          <p:nvPr/>
        </p:nvSpPr>
        <p:spPr>
          <a:xfrm xmlns:a="http://schemas.openxmlformats.org/drawingml/2006/main">
            <a:off x="762000" y="16383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0243A"/>
                </a:solidFill>
              </a:defRPr>
            </a:defPPr>
          </a:lstStyle>
          <a:p xmlns:a="http://schemas.openxmlformats.org/drawingml/2006/main">
            <a:pPr>
              <a:defRPr sz="1800" b="1">
                <a:solidFill>
                  <a:srgbClr val="10243A"/>
                </a:solidFill>
              </a:defRPr>
            </a:pPr>
            <a:r>
              <a:rPr sz="1800" b="1">
                <a:solidFill>
                  <a:srgbClr val="10243A"/>
                </a:solidFill>
              </a:rPr>
              <a:t>What the repository currently demonstrates</a:t>
            </a:r>
          </a:p>
        </p:txBody>
      </p:sp>
      <p:sp>
        <p:nvSpPr>
          <p:cNvPr id="8" name="">
            <a:extLst xmlns:a="http://schemas.openxmlformats.org/drawingml/2006/main">
              <a:ext uri="{FF2B5EF4-FFF2-40B4-BE49-F238E27FC236}">
                <a16:creationId xmlns:a16="http://schemas.microsoft.com/office/drawing/2014/main" id="{DD032093-A645-4080-9EB5-E8DF954A52FA}"/>
              </a:ext>
            </a:extLst>
          </p:cNvPr>
          <p:cNvSpPr>
            <a:spLocks xmlns:a="http://schemas.openxmlformats.org/drawingml/2006/main" noGrp="1"/>
          </p:cNvSpPr>
          <p:nvPr/>
        </p:nvSpPr>
        <p:spPr>
          <a:xfrm xmlns:a="http://schemas.openxmlformats.org/drawingml/2006/main">
            <a:off x="762000" y="2333625"/>
            <a:ext cx="48577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8E2E8"/>
            </a:solidFill>
            <a:prstDash val="solid"/>
          </a:ln>
        </p:spPr>
      </p:sp>
      <p:sp>
        <p:nvSpPr>
          <p:cNvPr id="9" name="">
            <a:extLst xmlns:a="http://schemas.openxmlformats.org/drawingml/2006/main">
              <a:ext uri="{FF2B5EF4-FFF2-40B4-BE49-F238E27FC236}">
                <a16:creationId xmlns:a16="http://schemas.microsoft.com/office/drawing/2014/main" id="{3537E16B-8AB2-4C72-A266-11BF89227C0C}"/>
              </a:ext>
            </a:extLst>
          </p:cNvPr>
          <p:cNvSpPr>
            <a:spLocks xmlns:a="http://schemas.openxmlformats.org/drawingml/2006/main" noGrp="1"/>
          </p:cNvSpPr>
          <p:nvPr/>
        </p:nvSpPr>
        <p:spPr>
          <a:xfrm xmlns:a="http://schemas.openxmlformats.org/drawingml/2006/main">
            <a:off x="990600" y="2524125"/>
            <a:ext cx="4381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6A6A1"/>
                </a:solidFill>
              </a:defRPr>
            </a:defPPr>
          </a:lstStyle>
          <a:p xmlns:a="http://schemas.openxmlformats.org/drawingml/2006/main">
            <a:pPr>
              <a:defRPr sz="1350" b="1">
                <a:solidFill>
                  <a:srgbClr val="16A6A1"/>
                </a:solidFill>
              </a:defRPr>
            </a:pPr>
            <a:r>
              <a:rPr sz="1350" b="1">
                <a:solidFill>
                  <a:srgbClr val="16A6A1"/>
                </a:solidFill>
              </a:rPr>
              <a:t>Catalogue</a:t>
            </a:r>
          </a:p>
        </p:txBody>
      </p:sp>
      <p:sp>
        <p:nvSpPr>
          <p:cNvPr id="10" name="">
            <a:extLst xmlns:a="http://schemas.openxmlformats.org/drawingml/2006/main">
              <a:ext uri="{FF2B5EF4-FFF2-40B4-BE49-F238E27FC236}">
                <a16:creationId xmlns:a16="http://schemas.microsoft.com/office/drawing/2014/main" id="{673EDFC0-1F42-445D-9737-27FE78BF5D38}"/>
              </a:ext>
            </a:extLst>
          </p:cNvPr>
          <p:cNvSpPr>
            <a:spLocks xmlns:a="http://schemas.openxmlformats.org/drawingml/2006/main" noGrp="1"/>
          </p:cNvSpPr>
          <p:nvPr/>
        </p:nvSpPr>
        <p:spPr>
          <a:xfrm xmlns:a="http://schemas.openxmlformats.org/drawingml/2006/main">
            <a:off x="990600" y="2886075"/>
            <a:ext cx="4400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5,000 movie records available for exploration</a:t>
            </a:r>
          </a:p>
        </p:txBody>
      </p:sp>
      <p:sp>
        <p:nvSpPr>
          <p:cNvPr id="11" name="">
            <a:extLst xmlns:a="http://schemas.openxmlformats.org/drawingml/2006/main">
              <a:ext uri="{FF2B5EF4-FFF2-40B4-BE49-F238E27FC236}">
                <a16:creationId xmlns:a16="http://schemas.microsoft.com/office/drawing/2014/main" id="{D35C2DDE-3597-4C47-A9E1-71FBFA268554}"/>
              </a:ext>
            </a:extLst>
          </p:cNvPr>
          <p:cNvSpPr>
            <a:spLocks xmlns:a="http://schemas.openxmlformats.org/drawingml/2006/main" noGrp="1"/>
          </p:cNvSpPr>
          <p:nvPr/>
        </p:nvSpPr>
        <p:spPr>
          <a:xfrm xmlns:a="http://schemas.openxmlformats.org/drawingml/2006/main">
            <a:off x="6096000" y="2333625"/>
            <a:ext cx="48577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8E2E8"/>
            </a:solidFill>
            <a:prstDash val="solid"/>
          </a:ln>
        </p:spPr>
      </p:sp>
      <p:sp>
        <p:nvSpPr>
          <p:cNvPr id="12" name="">
            <a:extLst xmlns:a="http://schemas.openxmlformats.org/drawingml/2006/main">
              <a:ext uri="{FF2B5EF4-FFF2-40B4-BE49-F238E27FC236}">
                <a16:creationId xmlns:a16="http://schemas.microsoft.com/office/drawing/2014/main" id="{9B9756D7-4C5D-493A-B9AA-0BF2AD57FC4C}"/>
              </a:ext>
            </a:extLst>
          </p:cNvPr>
          <p:cNvSpPr>
            <a:spLocks xmlns:a="http://schemas.openxmlformats.org/drawingml/2006/main" noGrp="1"/>
          </p:cNvSpPr>
          <p:nvPr/>
        </p:nvSpPr>
        <p:spPr>
          <a:xfrm xmlns:a="http://schemas.openxmlformats.org/drawingml/2006/main">
            <a:off x="6324600" y="2524125"/>
            <a:ext cx="4381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6A6A1"/>
                </a:solidFill>
              </a:defRPr>
            </a:defPPr>
          </a:lstStyle>
          <a:p xmlns:a="http://schemas.openxmlformats.org/drawingml/2006/main">
            <a:pPr>
              <a:defRPr sz="1350" b="1">
                <a:solidFill>
                  <a:srgbClr val="16A6A1"/>
                </a:solidFill>
              </a:defRPr>
            </a:pPr>
            <a:r>
              <a:rPr sz="1350" b="1">
                <a:solidFill>
                  <a:srgbClr val="16A6A1"/>
                </a:solidFill>
              </a:rPr>
              <a:t>EDA</a:t>
            </a:r>
          </a:p>
        </p:txBody>
      </p:sp>
      <p:sp>
        <p:nvSpPr>
          <p:cNvPr id="13" name="">
            <a:extLst xmlns:a="http://schemas.openxmlformats.org/drawingml/2006/main">
              <a:ext uri="{FF2B5EF4-FFF2-40B4-BE49-F238E27FC236}">
                <a16:creationId xmlns:a16="http://schemas.microsoft.com/office/drawing/2014/main" id="{0124FE6B-D71A-4BF0-81F1-65C00A50F308}"/>
              </a:ext>
            </a:extLst>
          </p:cNvPr>
          <p:cNvSpPr>
            <a:spLocks xmlns:a="http://schemas.openxmlformats.org/drawingml/2006/main" noGrp="1"/>
          </p:cNvSpPr>
          <p:nvPr/>
        </p:nvSpPr>
        <p:spPr>
          <a:xfrm xmlns:a="http://schemas.openxmlformats.org/drawingml/2006/main">
            <a:off x="6324600" y="2886075"/>
            <a:ext cx="4400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Dataset overview and charts in the Streamlit Analytics page</a:t>
            </a:r>
          </a:p>
        </p:txBody>
      </p:sp>
      <p:sp>
        <p:nvSpPr>
          <p:cNvPr id="14" name="">
            <a:extLst xmlns:a="http://schemas.openxmlformats.org/drawingml/2006/main">
              <a:ext uri="{FF2B5EF4-FFF2-40B4-BE49-F238E27FC236}">
                <a16:creationId xmlns:a16="http://schemas.microsoft.com/office/drawing/2014/main" id="{389925BE-7DF5-4044-BC70-32476DA82CFD}"/>
              </a:ext>
            </a:extLst>
          </p:cNvPr>
          <p:cNvSpPr>
            <a:spLocks xmlns:a="http://schemas.openxmlformats.org/drawingml/2006/main" noGrp="1"/>
          </p:cNvSpPr>
          <p:nvPr/>
        </p:nvSpPr>
        <p:spPr>
          <a:xfrm xmlns:a="http://schemas.openxmlformats.org/drawingml/2006/main">
            <a:off x="762000" y="3762375"/>
            <a:ext cx="48577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8E2E8"/>
            </a:solidFill>
            <a:prstDash val="solid"/>
          </a:ln>
        </p:spPr>
      </p:sp>
      <p:sp>
        <p:nvSpPr>
          <p:cNvPr id="15" name="">
            <a:extLst xmlns:a="http://schemas.openxmlformats.org/drawingml/2006/main">
              <a:ext uri="{FF2B5EF4-FFF2-40B4-BE49-F238E27FC236}">
                <a16:creationId xmlns:a16="http://schemas.microsoft.com/office/drawing/2014/main" id="{744E6613-3F87-47F5-81EA-7EFAD341AB82}"/>
              </a:ext>
            </a:extLst>
          </p:cNvPr>
          <p:cNvSpPr>
            <a:spLocks xmlns:a="http://schemas.openxmlformats.org/drawingml/2006/main" noGrp="1"/>
          </p:cNvSpPr>
          <p:nvPr/>
        </p:nvSpPr>
        <p:spPr>
          <a:xfrm xmlns:a="http://schemas.openxmlformats.org/drawingml/2006/main">
            <a:off x="990600" y="3952875"/>
            <a:ext cx="4381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6A6A1"/>
                </a:solidFill>
              </a:defRPr>
            </a:defPPr>
          </a:lstStyle>
          <a:p xmlns:a="http://schemas.openxmlformats.org/drawingml/2006/main">
            <a:pPr>
              <a:defRPr sz="1350" b="1">
                <a:solidFill>
                  <a:srgbClr val="16A6A1"/>
                </a:solidFill>
              </a:defRPr>
            </a:pPr>
            <a:r>
              <a:rPr sz="1350" b="1">
                <a:solidFill>
                  <a:srgbClr val="16A6A1"/>
                </a:solidFill>
              </a:rPr>
              <a:t>Model artifact</a:t>
            </a:r>
          </a:p>
        </p:txBody>
      </p:sp>
      <p:sp>
        <p:nvSpPr>
          <p:cNvPr id="16" name="">
            <a:extLst xmlns:a="http://schemas.openxmlformats.org/drawingml/2006/main">
              <a:ext uri="{FF2B5EF4-FFF2-40B4-BE49-F238E27FC236}">
                <a16:creationId xmlns:a16="http://schemas.microsoft.com/office/drawing/2014/main" id="{7717DC4A-C505-4691-981B-54A1B4D38134}"/>
              </a:ext>
            </a:extLst>
          </p:cNvPr>
          <p:cNvSpPr>
            <a:spLocks xmlns:a="http://schemas.openxmlformats.org/drawingml/2006/main" noGrp="1"/>
          </p:cNvSpPr>
          <p:nvPr/>
        </p:nvSpPr>
        <p:spPr>
          <a:xfrm xmlns:a="http://schemas.openxmlformats.org/drawingml/2006/main">
            <a:off x="990600" y="4314825"/>
            <a:ext cx="4400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Elastic Net models saved under models/</a:t>
            </a:r>
          </a:p>
        </p:txBody>
      </p:sp>
      <p:sp>
        <p:nvSpPr>
          <p:cNvPr id="17" name="">
            <a:extLst xmlns:a="http://schemas.openxmlformats.org/drawingml/2006/main">
              <a:ext uri="{FF2B5EF4-FFF2-40B4-BE49-F238E27FC236}">
                <a16:creationId xmlns:a16="http://schemas.microsoft.com/office/drawing/2014/main" id="{4726564C-7E09-4C68-AD2C-09C37D5B58C0}"/>
              </a:ext>
            </a:extLst>
          </p:cNvPr>
          <p:cNvSpPr>
            <a:spLocks xmlns:a="http://schemas.openxmlformats.org/drawingml/2006/main" noGrp="1"/>
          </p:cNvSpPr>
          <p:nvPr/>
        </p:nvSpPr>
        <p:spPr>
          <a:xfrm xmlns:a="http://schemas.openxmlformats.org/drawingml/2006/main">
            <a:off x="6096000" y="3762375"/>
            <a:ext cx="48577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8E2E8"/>
            </a:solidFill>
            <a:prstDash val="solid"/>
          </a:ln>
        </p:spPr>
      </p:sp>
      <p:sp>
        <p:nvSpPr>
          <p:cNvPr id="18" name="">
            <a:extLst xmlns:a="http://schemas.openxmlformats.org/drawingml/2006/main">
              <a:ext uri="{FF2B5EF4-FFF2-40B4-BE49-F238E27FC236}">
                <a16:creationId xmlns:a16="http://schemas.microsoft.com/office/drawing/2014/main" id="{65ED09E3-AE31-4E9B-B622-EB220B2E0577}"/>
              </a:ext>
            </a:extLst>
          </p:cNvPr>
          <p:cNvSpPr>
            <a:spLocks xmlns:a="http://schemas.openxmlformats.org/drawingml/2006/main" noGrp="1"/>
          </p:cNvSpPr>
          <p:nvPr/>
        </p:nvSpPr>
        <p:spPr>
          <a:xfrm xmlns:a="http://schemas.openxmlformats.org/drawingml/2006/main">
            <a:off x="6324600" y="3952875"/>
            <a:ext cx="4381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6A6A1"/>
                </a:solidFill>
              </a:defRPr>
            </a:defPPr>
          </a:lstStyle>
          <a:p xmlns:a="http://schemas.openxmlformats.org/drawingml/2006/main">
            <a:pPr>
              <a:defRPr sz="1350" b="1">
                <a:solidFill>
                  <a:srgbClr val="16A6A1"/>
                </a:solidFill>
              </a:defRPr>
            </a:pPr>
            <a:r>
              <a:rPr sz="1350" b="1">
                <a:solidFill>
                  <a:srgbClr val="16A6A1"/>
                </a:solidFill>
              </a:rPr>
              <a:t>Evaluation visual</a:t>
            </a:r>
          </a:p>
        </p:txBody>
      </p:sp>
      <p:sp>
        <p:nvSpPr>
          <p:cNvPr id="19" name="">
            <a:extLst xmlns:a="http://schemas.openxmlformats.org/drawingml/2006/main">
              <a:ext uri="{FF2B5EF4-FFF2-40B4-BE49-F238E27FC236}">
                <a16:creationId xmlns:a16="http://schemas.microsoft.com/office/drawing/2014/main" id="{013AA999-DC72-4D0F-8E02-17FD1304614E}"/>
              </a:ext>
            </a:extLst>
          </p:cNvPr>
          <p:cNvSpPr>
            <a:spLocks xmlns:a="http://schemas.openxmlformats.org/drawingml/2006/main" noGrp="1"/>
          </p:cNvSpPr>
          <p:nvPr/>
        </p:nvSpPr>
        <p:spPr>
          <a:xfrm xmlns:a="http://schemas.openxmlformats.org/drawingml/2006/main">
            <a:off x="6324600" y="4314825"/>
            <a:ext cx="4400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graphs/actual_vs_predicted.png</a:t>
            </a:r>
          </a:p>
        </p:txBody>
      </p:sp>
      <p:sp>
        <p:nvSpPr>
          <p:cNvPr id="20" name="">
            <a:extLst xmlns:a="http://schemas.openxmlformats.org/drawingml/2006/main">
              <a:ext uri="{FF2B5EF4-FFF2-40B4-BE49-F238E27FC236}">
                <a16:creationId xmlns:a16="http://schemas.microsoft.com/office/drawing/2014/main" id="{2DCDE139-C7B8-4B0E-B062-9179972A17BC}"/>
              </a:ext>
            </a:extLst>
          </p:cNvPr>
          <p:cNvSpPr>
            <a:spLocks xmlns:a="http://schemas.openxmlformats.org/drawingml/2006/main" noGrp="1"/>
          </p:cNvSpPr>
          <p:nvPr/>
        </p:nvSpPr>
        <p:spPr>
          <a:xfrm xmlns:a="http://schemas.openxmlformats.org/drawingml/2006/main">
            <a:off x="762000" y="5286375"/>
            <a:ext cx="10382250" cy="638175"/>
          </a:xfrm>
          <a:prstGeom xmlns:a="http://schemas.openxmlformats.org/drawingml/2006/main" prst="roundRect">
            <a:avLst>
              <a:gd name="adj" fmla="val 17910"/>
            </a:avLst>
          </a:prstGeom>
          <a:solidFill xmlns:a="http://schemas.openxmlformats.org/drawingml/2006/main">
            <a:srgbClr val="FFF3DD"/>
          </a:solidFill>
          <a:ln xmlns:a="http://schemas.openxmlformats.org/drawingml/2006/main" w="9525">
            <a:solidFill>
              <a:srgbClr val="EDD9B8"/>
            </a:solidFill>
            <a:prstDash val="solid"/>
          </a:ln>
        </p:spPr>
      </p:sp>
      <p:sp>
        <p:nvSpPr>
          <p:cNvPr id="21" name="">
            <a:extLst xmlns:a="http://schemas.openxmlformats.org/drawingml/2006/main">
              <a:ext uri="{FF2B5EF4-FFF2-40B4-BE49-F238E27FC236}">
                <a16:creationId xmlns:a16="http://schemas.microsoft.com/office/drawing/2014/main" id="{94FC37D0-EAE3-4285-BB52-CB48F7BAAE20}"/>
              </a:ext>
            </a:extLst>
          </p:cNvPr>
          <p:cNvSpPr>
            <a:spLocks xmlns:a="http://schemas.openxmlformats.org/drawingml/2006/main" noGrp="1"/>
          </p:cNvSpPr>
          <p:nvPr/>
        </p:nvSpPr>
        <p:spPr>
          <a:xfrm xmlns:a="http://schemas.openxmlformats.org/drawingml/2006/main">
            <a:off x="971550" y="5429250"/>
            <a:ext cx="995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10243A"/>
                </a:solidFill>
              </a:defRPr>
            </a:defPPr>
          </a:lstStyle>
          <a:p xmlns:a="http://schemas.openxmlformats.org/drawingml/2006/main">
            <a:pPr>
              <a:defRPr sz="1275" b="1">
                <a:solidFill>
                  <a:srgbClr val="10243A"/>
                </a:solidFill>
              </a:defRPr>
            </a:pPr>
            <a:r>
              <a:rPr sz="1275" b="1">
                <a:solidFill>
                  <a:srgbClr val="10243A"/>
                </a:solidFill>
              </a:rPr>
              <a:t>Populate MAE, RMSE, and R² from a fresh run of the evaluation pipeline before the final defense.</a:t>
            </a:r>
          </a:p>
        </p:txBody>
      </p:sp>
    </p:spTree>
    <p:extLst>
      <p:ext uri="{BB962C8B-B14F-4D97-AF65-F5344CB8AC3E}">
        <p14:creationId xmlns:p14="http://schemas.microsoft.com/office/powerpoint/2010/main" val="1368670819"/>
      </p:ext>
    </p:extLst>
  </p:cSld>
</p:sld>
</file>

<file path=ppt/slides/slide13.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0532E62-906D-47F7-836E-F4297F29958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5B3040-D373-40E3-9B81-8B969DECEFD3}"/>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72EEE206-8C3E-4336-B115-864972A24DA0}"/>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Application Demo Sequence</a:t>
            </a:r>
          </a:p>
        </p:txBody>
      </p:sp>
      <p:sp>
        <p:nvSpPr>
          <p:cNvPr id="4" name="">
            <a:extLst xmlns:a="http://schemas.openxmlformats.org/drawingml/2006/main">
              <a:ext uri="{FF2B5EF4-FFF2-40B4-BE49-F238E27FC236}">
                <a16:creationId xmlns:a16="http://schemas.microsoft.com/office/drawing/2014/main" id="{E2F44DA3-B5BE-4DCF-8A94-F77E7EB9FF8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0A42CF-D3F2-49D0-B109-93CB73DD416D}"/>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13893C62-9F15-41E3-9838-E69E1639301A}"/>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13</a:t>
            </a:r>
          </a:p>
        </p:txBody>
      </p:sp>
      <p:sp>
        <p:nvSpPr>
          <p:cNvPr id="7" name="">
            <a:extLst xmlns:a="http://schemas.openxmlformats.org/drawingml/2006/main">
              <a:ext uri="{FF2B5EF4-FFF2-40B4-BE49-F238E27FC236}">
                <a16:creationId xmlns:a16="http://schemas.microsoft.com/office/drawing/2014/main" id="{41D49E3D-43CC-427F-A5AD-F7C56F375B7A}"/>
              </a:ext>
            </a:extLst>
          </p:cNvPr>
          <p:cNvSpPr>
            <a:spLocks xmlns:a="http://schemas.openxmlformats.org/drawingml/2006/main" noGrp="1"/>
          </p:cNvSpPr>
          <p:nvPr/>
        </p:nvSpPr>
        <p:spPr>
          <a:xfrm xmlns:a="http://schemas.openxmlformats.org/drawingml/2006/main">
            <a:off x="714375" y="1952625"/>
            <a:ext cx="2428875"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8E2E8"/>
            </a:solidFill>
            <a:prstDash val="solid"/>
          </a:ln>
        </p:spPr>
      </p:sp>
      <p:sp>
        <p:nvSpPr>
          <p:cNvPr id="8" name="">
            <a:extLst xmlns:a="http://schemas.openxmlformats.org/drawingml/2006/main">
              <a:ext uri="{FF2B5EF4-FFF2-40B4-BE49-F238E27FC236}">
                <a16:creationId xmlns:a16="http://schemas.microsoft.com/office/drawing/2014/main" id="{74945DDE-8A13-43C4-B079-7C1CE15750FA}"/>
              </a:ext>
            </a:extLst>
          </p:cNvPr>
          <p:cNvSpPr>
            <a:spLocks xmlns:a="http://schemas.openxmlformats.org/drawingml/2006/main" noGrp="1"/>
          </p:cNvSpPr>
          <p:nvPr/>
        </p:nvSpPr>
        <p:spPr>
          <a:xfrm xmlns:a="http://schemas.openxmlformats.org/drawingml/2006/main">
            <a:off x="714375" y="1952625"/>
            <a:ext cx="2428875" cy="104775"/>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EE7C329-BE93-4470-A4BA-3C79FC46285A}"/>
              </a:ext>
            </a:extLst>
          </p:cNvPr>
          <p:cNvSpPr>
            <a:spLocks xmlns:a="http://schemas.openxmlformats.org/drawingml/2006/main" noGrp="1"/>
          </p:cNvSpPr>
          <p:nvPr/>
        </p:nvSpPr>
        <p:spPr>
          <a:xfrm xmlns:a="http://schemas.openxmlformats.org/drawingml/2006/main">
            <a:off x="904875" y="22860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Movie Search</a:t>
            </a:r>
          </a:p>
        </p:txBody>
      </p:sp>
      <p:sp>
        <p:nvSpPr>
          <p:cNvPr id="10" name="">
            <a:extLst xmlns:a="http://schemas.openxmlformats.org/drawingml/2006/main">
              <a:ext uri="{FF2B5EF4-FFF2-40B4-BE49-F238E27FC236}">
                <a16:creationId xmlns:a16="http://schemas.microsoft.com/office/drawing/2014/main" id="{C868DBFA-5252-4560-A7B4-E5F42211E397}"/>
              </a:ext>
            </a:extLst>
          </p:cNvPr>
          <p:cNvSpPr>
            <a:spLocks xmlns:a="http://schemas.openxmlformats.org/drawingml/2006/main" noGrp="1"/>
          </p:cNvSpPr>
          <p:nvPr/>
        </p:nvSpPr>
        <p:spPr>
          <a:xfrm xmlns:a="http://schemas.openxmlformats.org/drawingml/2006/main">
            <a:off x="904875" y="2857500"/>
            <a:ext cx="2047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536879"/>
                </a:solidFill>
              </a:defRPr>
            </a:defPPr>
          </a:lstStyle>
          <a:p xmlns:a="http://schemas.openxmlformats.org/drawingml/2006/main">
            <a:pPr>
              <a:defRPr sz="1275" b="0">
                <a:solidFill>
                  <a:srgbClr val="536879"/>
                </a:solidFill>
              </a:defRPr>
            </a:pPr>
            <a:r>
              <a:rPr sz="1275" b="0">
                <a:solidFill>
                  <a:srgbClr val="536879"/>
                </a:solidFill>
              </a:rPr>
              <a:t>Title lookup and typo-tolerant search</a:t>
            </a:r>
          </a:p>
        </p:txBody>
      </p:sp>
      <p:sp>
        <p:nvSpPr>
          <p:cNvPr id="11" name="">
            <a:extLst xmlns:a="http://schemas.openxmlformats.org/drawingml/2006/main">
              <a:ext uri="{FF2B5EF4-FFF2-40B4-BE49-F238E27FC236}">
                <a16:creationId xmlns:a16="http://schemas.microsoft.com/office/drawing/2014/main" id="{D22A673D-861C-459D-8B55-3FD20F1D2218}"/>
              </a:ext>
            </a:extLst>
          </p:cNvPr>
          <p:cNvSpPr>
            <a:spLocks xmlns:a="http://schemas.openxmlformats.org/drawingml/2006/main" noGrp="1"/>
          </p:cNvSpPr>
          <p:nvPr/>
        </p:nvSpPr>
        <p:spPr>
          <a:xfrm xmlns:a="http://schemas.openxmlformats.org/drawingml/2006/main">
            <a:off x="3476625" y="1952625"/>
            <a:ext cx="2428875"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8E2E8"/>
            </a:solidFill>
            <a:prstDash val="solid"/>
          </a:ln>
        </p:spPr>
      </p:sp>
      <p:sp>
        <p:nvSpPr>
          <p:cNvPr id="12" name="">
            <a:extLst xmlns:a="http://schemas.openxmlformats.org/drawingml/2006/main">
              <a:ext uri="{FF2B5EF4-FFF2-40B4-BE49-F238E27FC236}">
                <a16:creationId xmlns:a16="http://schemas.microsoft.com/office/drawing/2014/main" id="{7FBCEF73-AAA6-495F-987F-43447602D14C}"/>
              </a:ext>
            </a:extLst>
          </p:cNvPr>
          <p:cNvSpPr>
            <a:spLocks xmlns:a="http://schemas.openxmlformats.org/drawingml/2006/main" noGrp="1"/>
          </p:cNvSpPr>
          <p:nvPr/>
        </p:nvSpPr>
        <p:spPr>
          <a:xfrm xmlns:a="http://schemas.openxmlformats.org/drawingml/2006/main">
            <a:off x="3476625" y="1952625"/>
            <a:ext cx="2428875" cy="104775"/>
          </a:xfrm>
          <a:prstGeom xmlns:a="http://schemas.openxmlformats.org/drawingml/2006/main" prst="rect">
            <a:avLst/>
          </a:prstGeom>
          <a:solidFill xmlns:a="http://schemas.openxmlformats.org/drawingml/2006/main">
            <a:srgbClr val="17365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E7CDBC-8C3D-4B10-9785-B0885BC4AB1E}"/>
              </a:ext>
            </a:extLst>
          </p:cNvPr>
          <p:cNvSpPr>
            <a:spLocks xmlns:a="http://schemas.openxmlformats.org/drawingml/2006/main" noGrp="1"/>
          </p:cNvSpPr>
          <p:nvPr/>
        </p:nvSpPr>
        <p:spPr>
          <a:xfrm xmlns:a="http://schemas.openxmlformats.org/drawingml/2006/main">
            <a:off x="3667125" y="22860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Prediction</a:t>
            </a:r>
          </a:p>
        </p:txBody>
      </p:sp>
      <p:sp>
        <p:nvSpPr>
          <p:cNvPr id="14" name="">
            <a:extLst xmlns:a="http://schemas.openxmlformats.org/drawingml/2006/main">
              <a:ext uri="{FF2B5EF4-FFF2-40B4-BE49-F238E27FC236}">
                <a16:creationId xmlns:a16="http://schemas.microsoft.com/office/drawing/2014/main" id="{9B07013E-DC42-4DEF-B8BA-0C0EE1FBE306}"/>
              </a:ext>
            </a:extLst>
          </p:cNvPr>
          <p:cNvSpPr>
            <a:spLocks xmlns:a="http://schemas.openxmlformats.org/drawingml/2006/main" noGrp="1"/>
          </p:cNvSpPr>
          <p:nvPr/>
        </p:nvSpPr>
        <p:spPr>
          <a:xfrm xmlns:a="http://schemas.openxmlformats.org/drawingml/2006/main">
            <a:off x="3667125" y="2857500"/>
            <a:ext cx="2047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536879"/>
                </a:solidFill>
              </a:defRPr>
            </a:defPPr>
          </a:lstStyle>
          <a:p xmlns:a="http://schemas.openxmlformats.org/drawingml/2006/main">
            <a:pPr>
              <a:defRPr sz="1275" b="0">
                <a:solidFill>
                  <a:srgbClr val="536879"/>
                </a:solidFill>
              </a:defRPr>
            </a:pPr>
            <a:r>
              <a:rPr sz="1275" b="0">
                <a:solidFill>
                  <a:srgbClr val="536879"/>
                </a:solidFill>
              </a:rPr>
              <a:t>Enter supported movie features and request revenue estimate</a:t>
            </a:r>
          </a:p>
        </p:txBody>
      </p:sp>
      <p:sp>
        <p:nvSpPr>
          <p:cNvPr id="15" name="">
            <a:extLst xmlns:a="http://schemas.openxmlformats.org/drawingml/2006/main">
              <a:ext uri="{FF2B5EF4-FFF2-40B4-BE49-F238E27FC236}">
                <a16:creationId xmlns:a16="http://schemas.microsoft.com/office/drawing/2014/main" id="{6C5BE35B-17FF-4DC0-B20E-3E09B26E8124}"/>
              </a:ext>
            </a:extLst>
          </p:cNvPr>
          <p:cNvSpPr>
            <a:spLocks xmlns:a="http://schemas.openxmlformats.org/drawingml/2006/main" noGrp="1"/>
          </p:cNvSpPr>
          <p:nvPr/>
        </p:nvSpPr>
        <p:spPr>
          <a:xfrm xmlns:a="http://schemas.openxmlformats.org/drawingml/2006/main">
            <a:off x="6238875" y="1952625"/>
            <a:ext cx="2428875"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8E2E8"/>
            </a:solidFill>
            <a:prstDash val="solid"/>
          </a:ln>
        </p:spPr>
      </p:sp>
      <p:sp>
        <p:nvSpPr>
          <p:cNvPr id="16" name="">
            <a:extLst xmlns:a="http://schemas.openxmlformats.org/drawingml/2006/main">
              <a:ext uri="{FF2B5EF4-FFF2-40B4-BE49-F238E27FC236}">
                <a16:creationId xmlns:a16="http://schemas.microsoft.com/office/drawing/2014/main" id="{6BF41280-DBFE-42DF-B4BF-430A7E34C43B}"/>
              </a:ext>
            </a:extLst>
          </p:cNvPr>
          <p:cNvSpPr>
            <a:spLocks xmlns:a="http://schemas.openxmlformats.org/drawingml/2006/main" noGrp="1"/>
          </p:cNvSpPr>
          <p:nvPr/>
        </p:nvSpPr>
        <p:spPr>
          <a:xfrm xmlns:a="http://schemas.openxmlformats.org/drawingml/2006/main">
            <a:off x="6238875" y="1952625"/>
            <a:ext cx="2428875" cy="104775"/>
          </a:xfrm>
          <a:prstGeom xmlns:a="http://schemas.openxmlformats.org/drawingml/2006/main" prst="rect">
            <a:avLst/>
          </a:prstGeom>
          <a:solidFill xmlns:a="http://schemas.openxmlformats.org/drawingml/2006/main">
            <a:srgbClr val="F1B85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504A4E2-B864-45A8-AFAC-B0CE237AF249}"/>
              </a:ext>
            </a:extLst>
          </p:cNvPr>
          <p:cNvSpPr>
            <a:spLocks xmlns:a="http://schemas.openxmlformats.org/drawingml/2006/main" noGrp="1"/>
          </p:cNvSpPr>
          <p:nvPr/>
        </p:nvSpPr>
        <p:spPr>
          <a:xfrm xmlns:a="http://schemas.openxmlformats.org/drawingml/2006/main">
            <a:off x="6429375" y="22860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Analytics</a:t>
            </a:r>
          </a:p>
        </p:txBody>
      </p:sp>
      <p:sp>
        <p:nvSpPr>
          <p:cNvPr id="18" name="">
            <a:extLst xmlns:a="http://schemas.openxmlformats.org/drawingml/2006/main">
              <a:ext uri="{FF2B5EF4-FFF2-40B4-BE49-F238E27FC236}">
                <a16:creationId xmlns:a16="http://schemas.microsoft.com/office/drawing/2014/main" id="{10D9B049-CFB7-4DC7-8954-CA13D00A9E0D}"/>
              </a:ext>
            </a:extLst>
          </p:cNvPr>
          <p:cNvSpPr>
            <a:spLocks xmlns:a="http://schemas.openxmlformats.org/drawingml/2006/main" noGrp="1"/>
          </p:cNvSpPr>
          <p:nvPr/>
        </p:nvSpPr>
        <p:spPr>
          <a:xfrm xmlns:a="http://schemas.openxmlformats.org/drawingml/2006/main">
            <a:off x="6429375" y="2857500"/>
            <a:ext cx="2047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536879"/>
                </a:solidFill>
              </a:defRPr>
            </a:defPPr>
          </a:lstStyle>
          <a:p xmlns:a="http://schemas.openxmlformats.org/drawingml/2006/main">
            <a:pPr>
              <a:defRPr sz="1275" b="0">
                <a:solidFill>
                  <a:srgbClr val="536879"/>
                </a:solidFill>
              </a:defRPr>
            </a:pPr>
            <a:r>
              <a:rPr sz="1275" b="0">
                <a:solidFill>
                  <a:srgbClr val="536879"/>
                </a:solidFill>
              </a:rPr>
              <a:t>Inspect dataset profile and charts</a:t>
            </a:r>
          </a:p>
        </p:txBody>
      </p:sp>
      <p:sp>
        <p:nvSpPr>
          <p:cNvPr id="19" name="">
            <a:extLst xmlns:a="http://schemas.openxmlformats.org/drawingml/2006/main">
              <a:ext uri="{FF2B5EF4-FFF2-40B4-BE49-F238E27FC236}">
                <a16:creationId xmlns:a16="http://schemas.microsoft.com/office/drawing/2014/main" id="{9FE4590C-833B-4E20-B097-4C0A1A4ECFB7}"/>
              </a:ext>
            </a:extLst>
          </p:cNvPr>
          <p:cNvSpPr>
            <a:spLocks xmlns:a="http://schemas.openxmlformats.org/drawingml/2006/main" noGrp="1"/>
          </p:cNvSpPr>
          <p:nvPr/>
        </p:nvSpPr>
        <p:spPr>
          <a:xfrm xmlns:a="http://schemas.openxmlformats.org/drawingml/2006/main">
            <a:off x="9001125" y="1952625"/>
            <a:ext cx="2428875"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8E2E8"/>
            </a:solidFill>
            <a:prstDash val="solid"/>
          </a:ln>
        </p:spPr>
      </p:sp>
      <p:sp>
        <p:nvSpPr>
          <p:cNvPr id="20" name="">
            <a:extLst xmlns:a="http://schemas.openxmlformats.org/drawingml/2006/main">
              <a:ext uri="{FF2B5EF4-FFF2-40B4-BE49-F238E27FC236}">
                <a16:creationId xmlns:a16="http://schemas.microsoft.com/office/drawing/2014/main" id="{8D9FF28F-0CFF-473C-9606-825AC78181EC}"/>
              </a:ext>
            </a:extLst>
          </p:cNvPr>
          <p:cNvSpPr>
            <a:spLocks xmlns:a="http://schemas.openxmlformats.org/drawingml/2006/main" noGrp="1"/>
          </p:cNvSpPr>
          <p:nvPr/>
        </p:nvSpPr>
        <p:spPr>
          <a:xfrm xmlns:a="http://schemas.openxmlformats.org/drawingml/2006/main">
            <a:off x="9001125" y="1952625"/>
            <a:ext cx="2428875" cy="104775"/>
          </a:xfrm>
          <a:prstGeom xmlns:a="http://schemas.openxmlformats.org/drawingml/2006/main" prst="rect">
            <a:avLst/>
          </a:prstGeom>
          <a:solidFill xmlns:a="http://schemas.openxmlformats.org/drawingml/2006/main">
            <a:srgbClr val="2E7D6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19FA366-6DFC-48DD-83AA-9A3C17E31C23}"/>
              </a:ext>
            </a:extLst>
          </p:cNvPr>
          <p:cNvSpPr>
            <a:spLocks xmlns:a="http://schemas.openxmlformats.org/drawingml/2006/main" noGrp="1"/>
          </p:cNvSpPr>
          <p:nvPr/>
        </p:nvSpPr>
        <p:spPr>
          <a:xfrm xmlns:a="http://schemas.openxmlformats.org/drawingml/2006/main">
            <a:off x="9191625" y="22860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0243A"/>
                </a:solidFill>
              </a:defRPr>
            </a:defPPr>
          </a:lstStyle>
          <a:p xmlns:a="http://schemas.openxmlformats.org/drawingml/2006/main">
            <a:pPr>
              <a:defRPr sz="1500" b="1">
                <a:solidFill>
                  <a:srgbClr val="10243A"/>
                </a:solidFill>
              </a:defRPr>
            </a:pPr>
            <a:r>
              <a:rPr sz="1500" b="1">
                <a:solidFill>
                  <a:srgbClr val="10243A"/>
                </a:solidFill>
              </a:rPr>
              <a:t>Model Comparison</a:t>
            </a:r>
          </a:p>
        </p:txBody>
      </p:sp>
      <p:sp>
        <p:nvSpPr>
          <p:cNvPr id="22" name="">
            <a:extLst xmlns:a="http://schemas.openxmlformats.org/drawingml/2006/main">
              <a:ext uri="{FF2B5EF4-FFF2-40B4-BE49-F238E27FC236}">
                <a16:creationId xmlns:a16="http://schemas.microsoft.com/office/drawing/2014/main" id="{243B020E-CA4B-45C9-B617-C422AB92B159}"/>
              </a:ext>
            </a:extLst>
          </p:cNvPr>
          <p:cNvSpPr>
            <a:spLocks xmlns:a="http://schemas.openxmlformats.org/drawingml/2006/main" noGrp="1"/>
          </p:cNvSpPr>
          <p:nvPr/>
        </p:nvSpPr>
        <p:spPr>
          <a:xfrm xmlns:a="http://schemas.openxmlformats.org/drawingml/2006/main">
            <a:off x="9191625" y="2857500"/>
            <a:ext cx="2047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536879"/>
                </a:solidFill>
              </a:defRPr>
            </a:defPPr>
          </a:lstStyle>
          <a:p xmlns:a="http://schemas.openxmlformats.org/drawingml/2006/main">
            <a:pPr>
              <a:defRPr sz="1275" b="0">
                <a:solidFill>
                  <a:srgbClr val="536879"/>
                </a:solidFill>
              </a:defRPr>
            </a:pPr>
            <a:r>
              <a:rPr sz="1275" b="0">
                <a:solidFill>
                  <a:srgbClr val="536879"/>
                </a:solidFill>
              </a:rPr>
              <a:t>Compare available model metrics</a:t>
            </a:r>
          </a:p>
        </p:txBody>
      </p:sp>
      <p:sp>
        <p:nvSpPr>
          <p:cNvPr id="23" name="">
            <a:extLst xmlns:a="http://schemas.openxmlformats.org/drawingml/2006/main">
              <a:ext uri="{FF2B5EF4-FFF2-40B4-BE49-F238E27FC236}">
                <a16:creationId xmlns:a16="http://schemas.microsoft.com/office/drawing/2014/main" id="{78996C68-627B-4FAC-851F-5773F937F7FB}"/>
              </a:ext>
            </a:extLst>
          </p:cNvPr>
          <p:cNvSpPr>
            <a:spLocks xmlns:a="http://schemas.openxmlformats.org/drawingml/2006/main" noGrp="1"/>
          </p:cNvSpPr>
          <p:nvPr/>
        </p:nvSpPr>
        <p:spPr>
          <a:xfrm xmlns:a="http://schemas.openxmlformats.org/drawingml/2006/main">
            <a:off x="781050" y="48577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C55B55"/>
                </a:solidFill>
              </a:defRPr>
            </a:defPPr>
          </a:lstStyle>
          <a:p xmlns:a="http://schemas.openxmlformats.org/drawingml/2006/main">
            <a:pPr>
              <a:defRPr sz="1275" b="1">
                <a:solidFill>
                  <a:srgbClr val="C55B55"/>
                </a:solidFill>
              </a:defRPr>
            </a:pPr>
            <a:r>
              <a:rPr sz="1275" b="1">
                <a:solidFill>
                  <a:srgbClr val="C55B55"/>
                </a:solidFill>
              </a:rPr>
              <a:t>Demo sequence: search a title, enter model inputs, review the estimate, then explore Analytics and Model Comparison.</a:t>
            </a:r>
          </a:p>
        </p:txBody>
      </p:sp>
    </p:spTree>
    <p:extLst>
      <p:ext uri="{BB962C8B-B14F-4D97-AF65-F5344CB8AC3E}">
        <p14:creationId xmlns:p14="http://schemas.microsoft.com/office/powerpoint/2010/main" val="1173156855"/>
      </p:ext>
    </p:extLst>
  </p:cSld>
</p:sld>
</file>

<file path=ppt/slides/slide14.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AB0C2C8-BC31-4B73-B275-E642BC33E18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1B6E70C-2812-4F14-A206-5D01E0D24EF0}"/>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33EEED5D-47AD-41C4-A40F-36F6EB8F25EF}"/>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Benefits and Applications</a:t>
            </a:r>
          </a:p>
        </p:txBody>
      </p:sp>
      <p:sp>
        <p:nvSpPr>
          <p:cNvPr id="4" name="">
            <a:extLst xmlns:a="http://schemas.openxmlformats.org/drawingml/2006/main">
              <a:ext uri="{FF2B5EF4-FFF2-40B4-BE49-F238E27FC236}">
                <a16:creationId xmlns:a16="http://schemas.microsoft.com/office/drawing/2014/main" id="{EC156CE3-79ED-4513-92C3-E06B77E8A54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8BE135-32F4-4BF8-A1A9-6D2F627C8AE6}"/>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082EA5AF-BE32-45B1-83DC-F8D4B0286627}"/>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14</a:t>
            </a:r>
          </a:p>
        </p:txBody>
      </p:sp>
      <p:sp>
        <p:nvSpPr>
          <p:cNvPr id="7" name="">
            <a:extLst xmlns:a="http://schemas.openxmlformats.org/drawingml/2006/main">
              <a:ext uri="{FF2B5EF4-FFF2-40B4-BE49-F238E27FC236}">
                <a16:creationId xmlns:a16="http://schemas.microsoft.com/office/drawing/2014/main" id="{AC6BC7AA-EB42-4561-87BB-C5F14680BECD}"/>
              </a:ext>
            </a:extLst>
          </p:cNvPr>
          <p:cNvSpPr>
            <a:spLocks xmlns:a="http://schemas.openxmlformats.org/drawingml/2006/main" noGrp="1"/>
          </p:cNvSpPr>
          <p:nvPr/>
        </p:nvSpPr>
        <p:spPr>
          <a:xfrm xmlns:a="http://schemas.openxmlformats.org/drawingml/2006/main">
            <a:off x="762000" y="169545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Benefits</a:t>
            </a:r>
          </a:p>
        </p:txBody>
      </p:sp>
      <p:sp>
        <p:nvSpPr>
          <p:cNvPr id="8" name="">
            <a:extLst xmlns:a="http://schemas.openxmlformats.org/drawingml/2006/main">
              <a:ext uri="{FF2B5EF4-FFF2-40B4-BE49-F238E27FC236}">
                <a16:creationId xmlns:a16="http://schemas.microsoft.com/office/drawing/2014/main" id="{BC02E54C-42D3-4B06-8FFA-4036FAD1A7AC}"/>
              </a:ext>
            </a:extLst>
          </p:cNvPr>
          <p:cNvSpPr>
            <a:spLocks xmlns:a="http://schemas.openxmlformats.org/drawingml/2006/main" noGrp="1"/>
          </p:cNvSpPr>
          <p:nvPr/>
        </p:nvSpPr>
        <p:spPr>
          <a:xfrm xmlns:a="http://schemas.openxmlformats.org/drawingml/2006/main">
            <a:off x="762000" y="22860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B604831-24CA-4662-B80C-2F060492E7D5}"/>
              </a:ext>
            </a:extLst>
          </p:cNvPr>
          <p:cNvSpPr>
            <a:spLocks xmlns:a="http://schemas.openxmlformats.org/drawingml/2006/main" noGrp="1"/>
          </p:cNvSpPr>
          <p:nvPr/>
        </p:nvSpPr>
        <p:spPr>
          <a:xfrm xmlns:a="http://schemas.openxmlformats.org/drawingml/2006/main">
            <a:off x="971550" y="2209800"/>
            <a:ext cx="4552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Combines algorithm practice with an ML workflow</a:t>
            </a:r>
          </a:p>
        </p:txBody>
      </p:sp>
      <p:sp>
        <p:nvSpPr>
          <p:cNvPr id="10" name="">
            <a:extLst xmlns:a="http://schemas.openxmlformats.org/drawingml/2006/main">
              <a:ext uri="{FF2B5EF4-FFF2-40B4-BE49-F238E27FC236}">
                <a16:creationId xmlns:a16="http://schemas.microsoft.com/office/drawing/2014/main" id="{42769FF5-0828-429F-9167-08D88D97C1D4}"/>
              </a:ext>
            </a:extLst>
          </p:cNvPr>
          <p:cNvSpPr>
            <a:spLocks xmlns:a="http://schemas.openxmlformats.org/drawingml/2006/main" noGrp="1"/>
          </p:cNvSpPr>
          <p:nvPr/>
        </p:nvSpPr>
        <p:spPr>
          <a:xfrm xmlns:a="http://schemas.openxmlformats.org/drawingml/2006/main">
            <a:off x="762000" y="29337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D1BC66-CE45-44D5-AAA4-BDC5F311E0C6}"/>
              </a:ext>
            </a:extLst>
          </p:cNvPr>
          <p:cNvSpPr>
            <a:spLocks xmlns:a="http://schemas.openxmlformats.org/drawingml/2006/main" noGrp="1"/>
          </p:cNvSpPr>
          <p:nvPr/>
        </p:nvSpPr>
        <p:spPr>
          <a:xfrm xmlns:a="http://schemas.openxmlformats.org/drawingml/2006/main">
            <a:off x="971550" y="2857500"/>
            <a:ext cx="4552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Supports typo-tolerant movie search</a:t>
            </a:r>
          </a:p>
        </p:txBody>
      </p:sp>
      <p:sp>
        <p:nvSpPr>
          <p:cNvPr id="12" name="">
            <a:extLst xmlns:a="http://schemas.openxmlformats.org/drawingml/2006/main">
              <a:ext uri="{FF2B5EF4-FFF2-40B4-BE49-F238E27FC236}">
                <a16:creationId xmlns:a16="http://schemas.microsoft.com/office/drawing/2014/main" id="{434D6FF1-ACB5-4187-8C44-C9533E9BCE19}"/>
              </a:ext>
            </a:extLst>
          </p:cNvPr>
          <p:cNvSpPr>
            <a:spLocks xmlns:a="http://schemas.openxmlformats.org/drawingml/2006/main" noGrp="1"/>
          </p:cNvSpPr>
          <p:nvPr/>
        </p:nvSpPr>
        <p:spPr>
          <a:xfrm xmlns:a="http://schemas.openxmlformats.org/drawingml/2006/main">
            <a:off x="762000" y="35814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DFE00C-1125-45FA-B0BB-889826BA6F26}"/>
              </a:ext>
            </a:extLst>
          </p:cNvPr>
          <p:cNvSpPr>
            <a:spLocks xmlns:a="http://schemas.openxmlformats.org/drawingml/2006/main" noGrp="1"/>
          </p:cNvSpPr>
          <p:nvPr/>
        </p:nvSpPr>
        <p:spPr>
          <a:xfrm xmlns:a="http://schemas.openxmlformats.org/drawingml/2006/main">
            <a:off x="971550" y="3505200"/>
            <a:ext cx="4552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Makes model and dataset exploration accessible</a:t>
            </a:r>
          </a:p>
        </p:txBody>
      </p:sp>
      <p:sp>
        <p:nvSpPr>
          <p:cNvPr id="14" name="">
            <a:extLst xmlns:a="http://schemas.openxmlformats.org/drawingml/2006/main">
              <a:ext uri="{FF2B5EF4-FFF2-40B4-BE49-F238E27FC236}">
                <a16:creationId xmlns:a16="http://schemas.microsoft.com/office/drawing/2014/main" id="{14F307AE-37F5-464E-81DB-D4162B79A578}"/>
              </a:ext>
            </a:extLst>
          </p:cNvPr>
          <p:cNvSpPr>
            <a:spLocks xmlns:a="http://schemas.openxmlformats.org/drawingml/2006/main" noGrp="1"/>
          </p:cNvSpPr>
          <p:nvPr/>
        </p:nvSpPr>
        <p:spPr>
          <a:xfrm xmlns:a="http://schemas.openxmlformats.org/drawingml/2006/main">
            <a:off x="762000" y="42291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A069974-5C47-411A-A327-B737D39EB4D1}"/>
              </a:ext>
            </a:extLst>
          </p:cNvPr>
          <p:cNvSpPr>
            <a:spLocks xmlns:a="http://schemas.openxmlformats.org/drawingml/2006/main" noGrp="1"/>
          </p:cNvSpPr>
          <p:nvPr/>
        </p:nvSpPr>
        <p:spPr>
          <a:xfrm xmlns:a="http://schemas.openxmlformats.org/drawingml/2006/main">
            <a:off x="971550" y="4152900"/>
            <a:ext cx="4552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Provides a repeatable baseline pipeline</a:t>
            </a:r>
          </a:p>
        </p:txBody>
      </p:sp>
      <p:sp>
        <p:nvSpPr>
          <p:cNvPr id="16" name="">
            <a:extLst xmlns:a="http://schemas.openxmlformats.org/drawingml/2006/main">
              <a:ext uri="{FF2B5EF4-FFF2-40B4-BE49-F238E27FC236}">
                <a16:creationId xmlns:a16="http://schemas.microsoft.com/office/drawing/2014/main" id="{0DA93EED-C27F-4F61-8FC3-98DFE86858FD}"/>
              </a:ext>
            </a:extLst>
          </p:cNvPr>
          <p:cNvSpPr>
            <a:spLocks xmlns:a="http://schemas.openxmlformats.org/drawingml/2006/main" noGrp="1"/>
          </p:cNvSpPr>
          <p:nvPr/>
        </p:nvSpPr>
        <p:spPr>
          <a:xfrm xmlns:a="http://schemas.openxmlformats.org/drawingml/2006/main">
            <a:off x="6381750" y="169545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43A"/>
                </a:solidFill>
              </a:defRPr>
            </a:defPPr>
          </a:lstStyle>
          <a:p xmlns:a="http://schemas.openxmlformats.org/drawingml/2006/main">
            <a:pPr>
              <a:defRPr sz="1650" b="1">
                <a:solidFill>
                  <a:srgbClr val="10243A"/>
                </a:solidFill>
              </a:defRPr>
            </a:pPr>
            <a:r>
              <a:rPr sz="1650" b="1">
                <a:solidFill>
                  <a:srgbClr val="10243A"/>
                </a:solidFill>
              </a:rPr>
              <a:t>Potential users</a:t>
            </a:r>
          </a:p>
        </p:txBody>
      </p:sp>
      <p:sp>
        <p:nvSpPr>
          <p:cNvPr id="17" name="">
            <a:extLst xmlns:a="http://schemas.openxmlformats.org/drawingml/2006/main">
              <a:ext uri="{FF2B5EF4-FFF2-40B4-BE49-F238E27FC236}">
                <a16:creationId xmlns:a16="http://schemas.microsoft.com/office/drawing/2014/main" id="{9EF373D1-F16D-4986-A534-DED1477B68D5}"/>
              </a:ext>
            </a:extLst>
          </p:cNvPr>
          <p:cNvSpPr>
            <a:spLocks xmlns:a="http://schemas.openxmlformats.org/drawingml/2006/main" noGrp="1"/>
          </p:cNvSpPr>
          <p:nvPr/>
        </p:nvSpPr>
        <p:spPr>
          <a:xfrm xmlns:a="http://schemas.openxmlformats.org/drawingml/2006/main">
            <a:off x="6381750" y="22860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764A22F-7F40-4A0B-A48C-288EAD7E5766}"/>
              </a:ext>
            </a:extLst>
          </p:cNvPr>
          <p:cNvSpPr>
            <a:spLocks xmlns:a="http://schemas.openxmlformats.org/drawingml/2006/main" noGrp="1"/>
          </p:cNvSpPr>
          <p:nvPr/>
        </p:nvSpPr>
        <p:spPr>
          <a:xfrm xmlns:a="http://schemas.openxmlformats.org/drawingml/2006/main">
            <a:off x="6591300" y="2209800"/>
            <a:ext cx="4552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Students demonstrating DSA and regression</a:t>
            </a:r>
          </a:p>
        </p:txBody>
      </p:sp>
      <p:sp>
        <p:nvSpPr>
          <p:cNvPr id="19" name="">
            <a:extLst xmlns:a="http://schemas.openxmlformats.org/drawingml/2006/main">
              <a:ext uri="{FF2B5EF4-FFF2-40B4-BE49-F238E27FC236}">
                <a16:creationId xmlns:a16="http://schemas.microsoft.com/office/drawing/2014/main" id="{41F7D7E4-8991-41AB-8E34-9246665E04E9}"/>
              </a:ext>
            </a:extLst>
          </p:cNvPr>
          <p:cNvSpPr>
            <a:spLocks xmlns:a="http://schemas.openxmlformats.org/drawingml/2006/main" noGrp="1"/>
          </p:cNvSpPr>
          <p:nvPr/>
        </p:nvSpPr>
        <p:spPr>
          <a:xfrm xmlns:a="http://schemas.openxmlformats.org/drawingml/2006/main">
            <a:off x="6381750" y="29337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5C23970-5CFE-4DA2-A405-EDE66FAF9597}"/>
              </a:ext>
            </a:extLst>
          </p:cNvPr>
          <p:cNvSpPr>
            <a:spLocks xmlns:a="http://schemas.openxmlformats.org/drawingml/2006/main" noGrp="1"/>
          </p:cNvSpPr>
          <p:nvPr/>
        </p:nvSpPr>
        <p:spPr>
          <a:xfrm xmlns:a="http://schemas.openxmlformats.org/drawingml/2006/main">
            <a:off x="6591300" y="2857500"/>
            <a:ext cx="4552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Film analysts exploring historical performance</a:t>
            </a:r>
          </a:p>
        </p:txBody>
      </p:sp>
      <p:sp>
        <p:nvSpPr>
          <p:cNvPr id="21" name="">
            <a:extLst xmlns:a="http://schemas.openxmlformats.org/drawingml/2006/main">
              <a:ext uri="{FF2B5EF4-FFF2-40B4-BE49-F238E27FC236}">
                <a16:creationId xmlns:a16="http://schemas.microsoft.com/office/drawing/2014/main" id="{E2B84485-EA16-4174-8810-D339AFDEACBB}"/>
              </a:ext>
            </a:extLst>
          </p:cNvPr>
          <p:cNvSpPr>
            <a:spLocks xmlns:a="http://schemas.openxmlformats.org/drawingml/2006/main" noGrp="1"/>
          </p:cNvSpPr>
          <p:nvPr/>
        </p:nvSpPr>
        <p:spPr>
          <a:xfrm xmlns:a="http://schemas.openxmlformats.org/drawingml/2006/main">
            <a:off x="6381750" y="35814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A696C71-8E71-4FCB-BBE9-53753D3C111F}"/>
              </a:ext>
            </a:extLst>
          </p:cNvPr>
          <p:cNvSpPr>
            <a:spLocks xmlns:a="http://schemas.openxmlformats.org/drawingml/2006/main" noGrp="1"/>
          </p:cNvSpPr>
          <p:nvPr/>
        </p:nvSpPr>
        <p:spPr>
          <a:xfrm xmlns:a="http://schemas.openxmlformats.org/drawingml/2006/main">
            <a:off x="6591300" y="3505200"/>
            <a:ext cx="4552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Researchers comparing movie metadata</a:t>
            </a:r>
          </a:p>
        </p:txBody>
      </p:sp>
      <p:sp>
        <p:nvSpPr>
          <p:cNvPr id="23" name="">
            <a:extLst xmlns:a="http://schemas.openxmlformats.org/drawingml/2006/main">
              <a:ext uri="{FF2B5EF4-FFF2-40B4-BE49-F238E27FC236}">
                <a16:creationId xmlns:a16="http://schemas.microsoft.com/office/drawing/2014/main" id="{8FAB2EF5-7C68-4E21-A987-D60B9EE0431D}"/>
              </a:ext>
            </a:extLst>
          </p:cNvPr>
          <p:cNvSpPr>
            <a:spLocks xmlns:a="http://schemas.openxmlformats.org/drawingml/2006/main" noGrp="1"/>
          </p:cNvSpPr>
          <p:nvPr/>
        </p:nvSpPr>
        <p:spPr>
          <a:xfrm xmlns:a="http://schemas.openxmlformats.org/drawingml/2006/main">
            <a:off x="6381750" y="42291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E8EC8BE-549D-4103-A4C5-C4826430A553}"/>
              </a:ext>
            </a:extLst>
          </p:cNvPr>
          <p:cNvSpPr>
            <a:spLocks xmlns:a="http://schemas.openxmlformats.org/drawingml/2006/main" noGrp="1"/>
          </p:cNvSpPr>
          <p:nvPr/>
        </p:nvSpPr>
        <p:spPr>
          <a:xfrm xmlns:a="http://schemas.openxmlformats.org/drawingml/2006/main">
            <a:off x="6591300" y="4152900"/>
            <a:ext cx="4552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72B3D"/>
                </a:solidFill>
              </a:defRPr>
            </a:defPPr>
          </a:lstStyle>
          <a:p xmlns:a="http://schemas.openxmlformats.org/drawingml/2006/main">
            <a:pPr>
              <a:defRPr sz="1350" b="0">
                <a:solidFill>
                  <a:srgbClr val="172B3D"/>
                </a:solidFill>
              </a:defRPr>
            </a:pPr>
            <a:r>
              <a:rPr sz="1350" b="0">
                <a:solidFill>
                  <a:srgbClr val="172B3D"/>
                </a:solidFill>
              </a:rPr>
              <a:t>Educators teaching applied data science</a:t>
            </a:r>
          </a:p>
        </p:txBody>
      </p:sp>
    </p:spTree>
    <p:extLst>
      <p:ext uri="{BB962C8B-B14F-4D97-AF65-F5344CB8AC3E}">
        <p14:creationId xmlns:p14="http://schemas.microsoft.com/office/powerpoint/2010/main" val="1651580651"/>
      </p:ext>
    </p:extLst>
  </p:cSld>
</p:sld>
</file>

<file path=ppt/slides/slide15.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444BF48-409E-49FE-ABE0-B50388DBA39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A8D181-AE1D-48B7-B06B-BA15C268BDE0}"/>
              </a:ext>
            </a:extLst>
          </p:cNvPr>
          <p:cNvSpPr>
            <a:spLocks xmlns:a="http://schemas.openxmlformats.org/drawingml/2006/main" noGrp="1"/>
          </p:cNvSpPr>
          <p:nvPr/>
        </p:nvSpPr>
        <p:spPr>
          <a:xfrm xmlns:a="http://schemas.openxmlformats.org/drawingml/2006/main">
            <a:off x="609600" y="32385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16A6A1"/>
                </a:solidFill>
              </a:defRPr>
            </a:defPPr>
          </a:lstStyle>
          <a:p xmlns:a="http://schemas.openxmlformats.org/drawingml/2006/main">
            <a:pPr>
              <a:defRPr sz="975" b="1">
                <a:solidFill>
                  <a:srgbClr val="16A6A1"/>
                </a:solidFill>
              </a:defRPr>
            </a:pPr>
            <a:r>
              <a:rPr sz="975" b="1">
                <a:solidFill>
                  <a:srgbClr val="16A6A1"/>
                </a:solidFill>
              </a:rPr>
              <a:t>BOX OFFICE REVENUE PREDICTION</a:t>
            </a:r>
          </a:p>
        </p:txBody>
      </p:sp>
      <p:sp>
        <p:nvSpPr>
          <p:cNvPr id="3" name="">
            <a:extLst xmlns:a="http://schemas.openxmlformats.org/drawingml/2006/main">
              <a:ext uri="{FF2B5EF4-FFF2-40B4-BE49-F238E27FC236}">
                <a16:creationId xmlns:a16="http://schemas.microsoft.com/office/drawing/2014/main" id="{B3DECA2F-B642-4757-9417-DADF4474FABD}"/>
              </a:ext>
            </a:extLst>
          </p:cNvPr>
          <p:cNvSpPr>
            <a:spLocks xmlns:a="http://schemas.openxmlformats.org/drawingml/2006/main" noGrp="1"/>
          </p:cNvSpPr>
          <p:nvPr/>
        </p:nvSpPr>
        <p:spPr>
          <a:xfrm xmlns:a="http://schemas.openxmlformats.org/drawingml/2006/main">
            <a:off x="609600" y="6191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0243A"/>
                </a:solidFill>
              </a:defRPr>
            </a:defPPr>
          </a:lstStyle>
          <a:p xmlns:a="http://schemas.openxmlformats.org/drawingml/2006/main">
            <a:pPr>
              <a:defRPr sz="2700" b="1">
                <a:solidFill>
                  <a:srgbClr val="10243A"/>
                </a:solidFill>
              </a:defRPr>
            </a:pPr>
            <a:r>
              <a:rPr sz="2700" b="1">
                <a:solidFill>
                  <a:srgbClr val="10243A"/>
                </a:solidFill>
              </a:rPr>
              <a:t>Limitations and Future Scope</a:t>
            </a:r>
          </a:p>
        </p:txBody>
      </p:sp>
      <p:sp>
        <p:nvSpPr>
          <p:cNvPr id="4" name="">
            <a:extLst xmlns:a="http://schemas.openxmlformats.org/drawingml/2006/main">
              <a:ext uri="{FF2B5EF4-FFF2-40B4-BE49-F238E27FC236}">
                <a16:creationId xmlns:a16="http://schemas.microsoft.com/office/drawing/2014/main" id="{F73E7636-60EA-4BF7-BF2F-5FFD7696C64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2C89454-ACBC-4932-8849-A69A893B4EE2}"/>
              </a:ext>
            </a:extLst>
          </p:cNvPr>
          <p:cNvSpPr>
            <a:spLocks xmlns:a="http://schemas.openxmlformats.org/drawingml/2006/main" noGrp="1"/>
          </p:cNvSpPr>
          <p:nvPr/>
        </p:nvSpPr>
        <p:spPr>
          <a:xfrm xmlns:a="http://schemas.openxmlformats.org/drawingml/2006/main">
            <a:off x="609600" y="64770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536879"/>
                </a:solidFill>
              </a:defRPr>
            </a:defPPr>
          </a:lstStyle>
          <a:p xmlns:a="http://schemas.openxmlformats.org/drawingml/2006/main">
            <a:pPr>
              <a:defRPr sz="900" b="0">
                <a:solidFill>
                  <a:srgbClr val="536879"/>
                </a:solidFill>
              </a:defRPr>
            </a:pPr>
            <a:r>
              <a:rPr sz="900" b="0">
                <a:solidFill>
                  <a:srgbClr val="536879"/>
                </a:solidFill>
              </a:rPr>
              <a:t>Box-Office Revenue Prediction Using Elastic Net Regression</a:t>
            </a:r>
          </a:p>
        </p:txBody>
      </p:sp>
      <p:sp>
        <p:nvSpPr>
          <p:cNvPr id="6" name="">
            <a:extLst xmlns:a="http://schemas.openxmlformats.org/drawingml/2006/main">
              <a:ext uri="{FF2B5EF4-FFF2-40B4-BE49-F238E27FC236}">
                <a16:creationId xmlns:a16="http://schemas.microsoft.com/office/drawing/2014/main" id="{15BCFE21-355A-4C46-8DD4-3CD551FFAEAB}"/>
              </a:ext>
            </a:extLst>
          </p:cNvPr>
          <p:cNvSpPr>
            <a:spLocks xmlns:a="http://schemas.openxmlformats.org/drawingml/2006/main" noGrp="1"/>
          </p:cNvSpPr>
          <p:nvPr/>
        </p:nvSpPr>
        <p:spPr>
          <a:xfrm xmlns:a="http://schemas.openxmlformats.org/drawingml/2006/main">
            <a:off x="11144250" y="6457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36879"/>
                </a:solidFill>
              </a:defRPr>
            </a:defPPr>
          </a:lstStyle>
          <a:p xmlns:a="http://schemas.openxmlformats.org/drawingml/2006/main">
            <a:pPr algn="r">
              <a:defRPr sz="975" b="1">
                <a:solidFill>
                  <a:srgbClr val="536879"/>
                </a:solidFill>
              </a:defRPr>
            </a:pPr>
            <a:r>
              <a:rPr sz="975" b="1">
                <a:solidFill>
                  <a:srgbClr val="536879"/>
                </a:solidFill>
              </a:rPr>
              <a:t>15</a:t>
            </a:r>
          </a:p>
        </p:txBody>
      </p:sp>
      <p:sp>
        <p:nvSpPr>
          <p:cNvPr id="7" name="">
            <a:extLst xmlns:a="http://schemas.openxmlformats.org/drawingml/2006/main">
              <a:ext uri="{FF2B5EF4-FFF2-40B4-BE49-F238E27FC236}">
                <a16:creationId xmlns:a16="http://schemas.microsoft.com/office/drawing/2014/main" id="{C522D7AE-EE71-43CA-9E56-F8D91EEAD896}"/>
              </a:ext>
            </a:extLst>
          </p:cNvPr>
          <p:cNvSpPr>
            <a:spLocks xmlns:a="http://schemas.openxmlformats.org/drawingml/2006/main" noGrp="1"/>
          </p:cNvSpPr>
          <p:nvPr/>
        </p:nvSpPr>
        <p:spPr>
          <a:xfrm xmlns:a="http://schemas.openxmlformats.org/drawingml/2006/main">
            <a:off x="714375" y="1714500"/>
            <a:ext cx="5095875"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8E2E8"/>
            </a:solidFill>
            <a:prstDash val="solid"/>
          </a:ln>
        </p:spPr>
      </p:sp>
      <p:sp>
        <p:nvSpPr>
          <p:cNvPr id="8" name="">
            <a:extLst xmlns:a="http://schemas.openxmlformats.org/drawingml/2006/main">
              <a:ext uri="{FF2B5EF4-FFF2-40B4-BE49-F238E27FC236}">
                <a16:creationId xmlns:a16="http://schemas.microsoft.com/office/drawing/2014/main" id="{0759D50F-F172-4B25-BA2C-FEADC4028310}"/>
              </a:ext>
            </a:extLst>
          </p:cNvPr>
          <p:cNvSpPr>
            <a:spLocks xmlns:a="http://schemas.openxmlformats.org/drawingml/2006/main" noGrp="1"/>
          </p:cNvSpPr>
          <p:nvPr/>
        </p:nvSpPr>
        <p:spPr>
          <a:xfrm xmlns:a="http://schemas.openxmlformats.org/drawingml/2006/main">
            <a:off x="6381750" y="1714500"/>
            <a:ext cx="5095875"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8E2E8"/>
            </a:solidFill>
            <a:prstDash val="solid"/>
          </a:ln>
        </p:spPr>
      </p:sp>
      <p:sp>
        <p:nvSpPr>
          <p:cNvPr id="9" name="">
            <a:extLst xmlns:a="http://schemas.openxmlformats.org/drawingml/2006/main">
              <a:ext uri="{FF2B5EF4-FFF2-40B4-BE49-F238E27FC236}">
                <a16:creationId xmlns:a16="http://schemas.microsoft.com/office/drawing/2014/main" id="{119E18BA-8A05-4C7E-AA64-7ABFD3EC3322}"/>
              </a:ext>
            </a:extLst>
          </p:cNvPr>
          <p:cNvSpPr>
            <a:spLocks xmlns:a="http://schemas.openxmlformats.org/drawingml/2006/main" noGrp="1"/>
          </p:cNvSpPr>
          <p:nvPr/>
        </p:nvSpPr>
        <p:spPr>
          <a:xfrm xmlns:a="http://schemas.openxmlformats.org/drawingml/2006/main">
            <a:off x="1000125" y="19526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C55B55"/>
                </a:solidFill>
              </a:defRPr>
            </a:defPPr>
          </a:lstStyle>
          <a:p xmlns:a="http://schemas.openxmlformats.org/drawingml/2006/main">
            <a:pPr>
              <a:defRPr sz="1575" b="1">
                <a:solidFill>
                  <a:srgbClr val="C55B55"/>
                </a:solidFill>
              </a:defRPr>
            </a:pPr>
            <a:r>
              <a:rPr sz="1575" b="1">
                <a:solidFill>
                  <a:srgbClr val="C55B55"/>
                </a:solidFill>
              </a:rPr>
              <a:t>Current limitations</a:t>
            </a:r>
          </a:p>
        </p:txBody>
      </p:sp>
      <p:sp>
        <p:nvSpPr>
          <p:cNvPr id="10" name="">
            <a:extLst xmlns:a="http://schemas.openxmlformats.org/drawingml/2006/main">
              <a:ext uri="{FF2B5EF4-FFF2-40B4-BE49-F238E27FC236}">
                <a16:creationId xmlns:a16="http://schemas.microsoft.com/office/drawing/2014/main" id="{6C802C02-441C-4E7B-ADA8-634C89D6288C}"/>
              </a:ext>
            </a:extLst>
          </p:cNvPr>
          <p:cNvSpPr>
            <a:spLocks xmlns:a="http://schemas.openxmlformats.org/drawingml/2006/main" noGrp="1"/>
          </p:cNvSpPr>
          <p:nvPr/>
        </p:nvSpPr>
        <p:spPr>
          <a:xfrm xmlns:a="http://schemas.openxmlformats.org/drawingml/2006/main">
            <a:off x="1000125" y="25336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C8ABAEA-7CB0-450C-8776-A7C1734B92D3}"/>
              </a:ext>
            </a:extLst>
          </p:cNvPr>
          <p:cNvSpPr>
            <a:spLocks xmlns:a="http://schemas.openxmlformats.org/drawingml/2006/main" noGrp="1"/>
          </p:cNvSpPr>
          <p:nvPr/>
        </p:nvSpPr>
        <p:spPr>
          <a:xfrm xmlns:a="http://schemas.openxmlformats.org/drawingml/2006/main">
            <a:off x="1209675" y="245745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No budget, runtime, cast, director, or season in supplied CSV</a:t>
            </a:r>
          </a:p>
        </p:txBody>
      </p:sp>
      <p:sp>
        <p:nvSpPr>
          <p:cNvPr id="12" name="">
            <a:extLst xmlns:a="http://schemas.openxmlformats.org/drawingml/2006/main">
              <a:ext uri="{FF2B5EF4-FFF2-40B4-BE49-F238E27FC236}">
                <a16:creationId xmlns:a16="http://schemas.microsoft.com/office/drawing/2014/main" id="{0AD205EC-2A2C-49DB-8C07-139022797BF3}"/>
              </a:ext>
            </a:extLst>
          </p:cNvPr>
          <p:cNvSpPr>
            <a:spLocks xmlns:a="http://schemas.openxmlformats.org/drawingml/2006/main" noGrp="1"/>
          </p:cNvSpPr>
          <p:nvPr/>
        </p:nvSpPr>
        <p:spPr>
          <a:xfrm xmlns:a="http://schemas.openxmlformats.org/drawingml/2006/main">
            <a:off x="1000125" y="31623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5BBAE31-3FC0-4D78-91D2-BC7598C8DD21}"/>
              </a:ext>
            </a:extLst>
          </p:cNvPr>
          <p:cNvSpPr>
            <a:spLocks xmlns:a="http://schemas.openxmlformats.org/drawingml/2006/main" noGrp="1"/>
          </p:cNvSpPr>
          <p:nvPr/>
        </p:nvSpPr>
        <p:spPr>
          <a:xfrm xmlns:a="http://schemas.openxmlformats.org/drawingml/2006/main">
            <a:off x="1209675" y="308610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Rating and votes may be post-release leakage for pre-release use</a:t>
            </a:r>
          </a:p>
        </p:txBody>
      </p:sp>
      <p:sp>
        <p:nvSpPr>
          <p:cNvPr id="14" name="">
            <a:extLst xmlns:a="http://schemas.openxmlformats.org/drawingml/2006/main">
              <a:ext uri="{FF2B5EF4-FFF2-40B4-BE49-F238E27FC236}">
                <a16:creationId xmlns:a16="http://schemas.microsoft.com/office/drawing/2014/main" id="{326A96FB-718C-4BC5-8AEA-982D88F8ABED}"/>
              </a:ext>
            </a:extLst>
          </p:cNvPr>
          <p:cNvSpPr>
            <a:spLocks xmlns:a="http://schemas.openxmlformats.org/drawingml/2006/main" noGrp="1"/>
          </p:cNvSpPr>
          <p:nvPr/>
        </p:nvSpPr>
        <p:spPr>
          <a:xfrm xmlns:a="http://schemas.openxmlformats.org/drawingml/2006/main">
            <a:off x="1000125" y="37909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F262DE0-E295-4EBB-8BA8-B4D7EA222E02}"/>
              </a:ext>
            </a:extLst>
          </p:cNvPr>
          <p:cNvSpPr>
            <a:spLocks xmlns:a="http://schemas.openxmlformats.org/drawingml/2006/main" noGrp="1"/>
          </p:cNvSpPr>
          <p:nvPr/>
        </p:nvSpPr>
        <p:spPr>
          <a:xfrm xmlns:a="http://schemas.openxmlformats.org/drawingml/2006/main">
            <a:off x="1209675" y="371475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Random split does not test future-year generalization</a:t>
            </a:r>
          </a:p>
        </p:txBody>
      </p:sp>
      <p:sp>
        <p:nvSpPr>
          <p:cNvPr id="16" name="">
            <a:extLst xmlns:a="http://schemas.openxmlformats.org/drawingml/2006/main">
              <a:ext uri="{FF2B5EF4-FFF2-40B4-BE49-F238E27FC236}">
                <a16:creationId xmlns:a16="http://schemas.microsoft.com/office/drawing/2014/main" id="{A428B45D-3F3D-4578-9175-AAF851AE54C4}"/>
              </a:ext>
            </a:extLst>
          </p:cNvPr>
          <p:cNvSpPr>
            <a:spLocks xmlns:a="http://schemas.openxmlformats.org/drawingml/2006/main" noGrp="1"/>
          </p:cNvSpPr>
          <p:nvPr/>
        </p:nvSpPr>
        <p:spPr>
          <a:xfrm xmlns:a="http://schemas.openxmlformats.org/drawingml/2006/main">
            <a:off x="1000125" y="44196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80E1055-7BDA-4275-85A2-7C5ADC287BEF}"/>
              </a:ext>
            </a:extLst>
          </p:cNvPr>
          <p:cNvSpPr>
            <a:spLocks xmlns:a="http://schemas.openxmlformats.org/drawingml/2006/main" noGrp="1"/>
          </p:cNvSpPr>
          <p:nvPr/>
        </p:nvSpPr>
        <p:spPr>
          <a:xfrm xmlns:a="http://schemas.openxmlformats.org/drawingml/2006/main">
            <a:off x="1209675" y="434340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No verified current metric readout in this presentation</a:t>
            </a:r>
          </a:p>
        </p:txBody>
      </p:sp>
      <p:sp>
        <p:nvSpPr>
          <p:cNvPr id="18" name="">
            <a:extLst xmlns:a="http://schemas.openxmlformats.org/drawingml/2006/main">
              <a:ext uri="{FF2B5EF4-FFF2-40B4-BE49-F238E27FC236}">
                <a16:creationId xmlns:a16="http://schemas.microsoft.com/office/drawing/2014/main" id="{A20287D4-B06E-4E6C-90A6-EB7C6345D1A7}"/>
              </a:ext>
            </a:extLst>
          </p:cNvPr>
          <p:cNvSpPr>
            <a:spLocks xmlns:a="http://schemas.openxmlformats.org/drawingml/2006/main" noGrp="1"/>
          </p:cNvSpPr>
          <p:nvPr/>
        </p:nvSpPr>
        <p:spPr>
          <a:xfrm xmlns:a="http://schemas.openxmlformats.org/drawingml/2006/main">
            <a:off x="6667500" y="19526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2E7D69"/>
                </a:solidFill>
              </a:defRPr>
            </a:defPPr>
          </a:lstStyle>
          <a:p xmlns:a="http://schemas.openxmlformats.org/drawingml/2006/main">
            <a:pPr>
              <a:defRPr sz="1575" b="1">
                <a:solidFill>
                  <a:srgbClr val="2E7D69"/>
                </a:solidFill>
              </a:defRPr>
            </a:pPr>
            <a:r>
              <a:rPr sz="1575" b="1">
                <a:solidFill>
                  <a:srgbClr val="2E7D69"/>
                </a:solidFill>
              </a:rPr>
              <a:t>Next steps</a:t>
            </a:r>
          </a:p>
        </p:txBody>
      </p:sp>
      <p:sp>
        <p:nvSpPr>
          <p:cNvPr id="19" name="">
            <a:extLst xmlns:a="http://schemas.openxmlformats.org/drawingml/2006/main">
              <a:ext uri="{FF2B5EF4-FFF2-40B4-BE49-F238E27FC236}">
                <a16:creationId xmlns:a16="http://schemas.microsoft.com/office/drawing/2014/main" id="{8551A1CB-8776-4B42-9E7A-B9427ECF73A8}"/>
              </a:ext>
            </a:extLst>
          </p:cNvPr>
          <p:cNvSpPr>
            <a:spLocks xmlns:a="http://schemas.openxmlformats.org/drawingml/2006/main" noGrp="1"/>
          </p:cNvSpPr>
          <p:nvPr/>
        </p:nvSpPr>
        <p:spPr>
          <a:xfrm xmlns:a="http://schemas.openxmlformats.org/drawingml/2006/main">
            <a:off x="6667500" y="25336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674C990-10AF-489E-A406-B629D3E3B126}"/>
              </a:ext>
            </a:extLst>
          </p:cNvPr>
          <p:cNvSpPr>
            <a:spLocks xmlns:a="http://schemas.openxmlformats.org/drawingml/2006/main" noGrp="1"/>
          </p:cNvSpPr>
          <p:nvPr/>
        </p:nvSpPr>
        <p:spPr>
          <a:xfrm xmlns:a="http://schemas.openxmlformats.org/drawingml/2006/main">
            <a:off x="6877050" y="245745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Add the enriched dataset and retrain separately</a:t>
            </a:r>
          </a:p>
        </p:txBody>
      </p:sp>
      <p:sp>
        <p:nvSpPr>
          <p:cNvPr id="21" name="">
            <a:extLst xmlns:a="http://schemas.openxmlformats.org/drawingml/2006/main">
              <a:ext uri="{FF2B5EF4-FFF2-40B4-BE49-F238E27FC236}">
                <a16:creationId xmlns:a16="http://schemas.microsoft.com/office/drawing/2014/main" id="{43F9A60F-93B2-45FB-A085-82B2D64B4EBD}"/>
              </a:ext>
            </a:extLst>
          </p:cNvPr>
          <p:cNvSpPr>
            <a:spLocks xmlns:a="http://schemas.openxmlformats.org/drawingml/2006/main" noGrp="1"/>
          </p:cNvSpPr>
          <p:nvPr/>
        </p:nvSpPr>
        <p:spPr>
          <a:xfrm xmlns:a="http://schemas.openxmlformats.org/drawingml/2006/main">
            <a:off x="6667500" y="31623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0273423-84EF-49C9-89DC-DA706B2EFDD4}"/>
              </a:ext>
            </a:extLst>
          </p:cNvPr>
          <p:cNvSpPr>
            <a:spLocks xmlns:a="http://schemas.openxmlformats.org/drawingml/2006/main" noGrp="1"/>
          </p:cNvSpPr>
          <p:nvPr/>
        </p:nvSpPr>
        <p:spPr>
          <a:xfrm xmlns:a="http://schemas.openxmlformats.org/drawingml/2006/main">
            <a:off x="6877050" y="308610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Use only features known at prediction time</a:t>
            </a:r>
          </a:p>
        </p:txBody>
      </p:sp>
      <p:sp>
        <p:nvSpPr>
          <p:cNvPr id="23" name="">
            <a:extLst xmlns:a="http://schemas.openxmlformats.org/drawingml/2006/main">
              <a:ext uri="{FF2B5EF4-FFF2-40B4-BE49-F238E27FC236}">
                <a16:creationId xmlns:a16="http://schemas.microsoft.com/office/drawing/2014/main" id="{DB568EDA-04C9-4622-8048-21FD5F07A4CC}"/>
              </a:ext>
            </a:extLst>
          </p:cNvPr>
          <p:cNvSpPr>
            <a:spLocks xmlns:a="http://schemas.openxmlformats.org/drawingml/2006/main" noGrp="1"/>
          </p:cNvSpPr>
          <p:nvPr/>
        </p:nvSpPr>
        <p:spPr>
          <a:xfrm xmlns:a="http://schemas.openxmlformats.org/drawingml/2006/main">
            <a:off x="6667500" y="37909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E6F9E61-1369-48B7-AD3E-6AED724A8110}"/>
              </a:ext>
            </a:extLst>
          </p:cNvPr>
          <p:cNvSpPr>
            <a:spLocks xmlns:a="http://schemas.openxmlformats.org/drawingml/2006/main" noGrp="1"/>
          </p:cNvSpPr>
          <p:nvPr/>
        </p:nvSpPr>
        <p:spPr>
          <a:xfrm xmlns:a="http://schemas.openxmlformats.org/drawingml/2006/main">
            <a:off x="6877050" y="371475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Evaluate with a chronological holdout</a:t>
            </a:r>
          </a:p>
        </p:txBody>
      </p:sp>
      <p:sp>
        <p:nvSpPr>
          <p:cNvPr id="25" name="">
            <a:extLst xmlns:a="http://schemas.openxmlformats.org/drawingml/2006/main">
              <a:ext uri="{FF2B5EF4-FFF2-40B4-BE49-F238E27FC236}">
                <a16:creationId xmlns:a16="http://schemas.microsoft.com/office/drawing/2014/main" id="{CDB2CD61-D973-4870-AF8E-6DB1E848B65D}"/>
              </a:ext>
            </a:extLst>
          </p:cNvPr>
          <p:cNvSpPr>
            <a:spLocks xmlns:a="http://schemas.openxmlformats.org/drawingml/2006/main" noGrp="1"/>
          </p:cNvSpPr>
          <p:nvPr/>
        </p:nvSpPr>
        <p:spPr>
          <a:xfrm xmlns:a="http://schemas.openxmlformats.org/drawingml/2006/main">
            <a:off x="6667500" y="441960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CDE15A0-CB34-44DC-8EFF-FB251C68B9D4}"/>
              </a:ext>
            </a:extLst>
          </p:cNvPr>
          <p:cNvSpPr>
            <a:spLocks xmlns:a="http://schemas.openxmlformats.org/drawingml/2006/main" noGrp="1"/>
          </p:cNvSpPr>
          <p:nvPr/>
        </p:nvSpPr>
        <p:spPr>
          <a:xfrm xmlns:a="http://schemas.openxmlformats.org/drawingml/2006/main">
            <a:off x="6877050" y="434340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Capture app screenshots and report MAE / RMSE / R²</a:t>
            </a:r>
          </a:p>
        </p:txBody>
      </p:sp>
      <p:sp>
        <p:nvSpPr>
          <p:cNvPr id="27" name="">
            <a:extLst xmlns:a="http://schemas.openxmlformats.org/drawingml/2006/main">
              <a:ext uri="{FF2B5EF4-FFF2-40B4-BE49-F238E27FC236}">
                <a16:creationId xmlns:a16="http://schemas.microsoft.com/office/drawing/2014/main" id="{F3ABBD3A-7DB3-4CCE-8FCB-04CE7A1C6BEA}"/>
              </a:ext>
            </a:extLst>
          </p:cNvPr>
          <p:cNvSpPr>
            <a:spLocks xmlns:a="http://schemas.openxmlformats.org/drawingml/2006/main" noGrp="1"/>
          </p:cNvSpPr>
          <p:nvPr/>
        </p:nvSpPr>
        <p:spPr>
          <a:xfrm xmlns:a="http://schemas.openxmlformats.org/drawingml/2006/main">
            <a:off x="6667500" y="5048250"/>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933C494-5E21-4508-AD0E-80A4F98B150E}"/>
              </a:ext>
            </a:extLst>
          </p:cNvPr>
          <p:cNvSpPr>
            <a:spLocks xmlns:a="http://schemas.openxmlformats.org/drawingml/2006/main" noGrp="1"/>
          </p:cNvSpPr>
          <p:nvPr/>
        </p:nvSpPr>
        <p:spPr>
          <a:xfrm xmlns:a="http://schemas.openxmlformats.org/drawingml/2006/main">
            <a:off x="6877050" y="4972050"/>
            <a:ext cx="4267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172B3D"/>
                </a:solidFill>
              </a:defRPr>
            </a:defPPr>
          </a:lstStyle>
          <a:p xmlns:a="http://schemas.openxmlformats.org/drawingml/2006/main">
            <a:pPr>
              <a:defRPr sz="1275" b="0">
                <a:solidFill>
                  <a:srgbClr val="172B3D"/>
                </a:solidFill>
              </a:defRPr>
            </a:pPr>
            <a:r>
              <a:rPr sz="1275" b="0">
                <a:solidFill>
                  <a:srgbClr val="172B3D"/>
                </a:solidFill>
              </a:rPr>
              <a:t>Deploy with monitoring and data-drift checks</a:t>
            </a:r>
          </a:p>
        </p:txBody>
      </p:sp>
    </p:spTree>
    <p:extLst>
      <p:ext uri="{BB962C8B-B14F-4D97-AF65-F5344CB8AC3E}">
        <p14:creationId xmlns:p14="http://schemas.microsoft.com/office/powerpoint/2010/main" val="2017059518"/>
      </p:ext>
    </p:extLst>
  </p:cSld>
</p:sld>
</file>

<file path=ppt/slides/slide16.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166C493-38BA-4665-BE98-3FEC7ADB65F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5769F5-ADDE-441B-9D2C-6FB98B9A1696}"/>
              </a:ext>
            </a:extLst>
          </p:cNvPr>
          <p:cNvSpPr>
            <a:spLocks xmlns:a="http://schemas.openxmlformats.org/drawingml/2006/main" noGrp="1"/>
          </p:cNvSpPr>
          <p:nvPr/>
        </p:nvSpPr>
        <p:spPr>
          <a:xfrm xmlns:a="http://schemas.openxmlformats.org/drawingml/2006/main">
            <a:off x="762000" y="8572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FFFFFF"/>
                </a:solidFill>
              </a:defRPr>
            </a:defPPr>
          </a:lstStyle>
          <a:p xmlns:a="http://schemas.openxmlformats.org/drawingml/2006/main">
            <a:pPr>
              <a:defRPr sz="2850" b="1">
                <a:solidFill>
                  <a:srgbClr val="FFFFFF"/>
                </a:solidFill>
              </a:defRPr>
            </a:pPr>
            <a:r>
              <a:rPr sz="2850" b="1">
                <a:solidFill>
                  <a:srgbClr val="FFFFFF"/>
                </a:solidFill>
              </a:rPr>
              <a:t>Conclusion</a:t>
            </a:r>
          </a:p>
        </p:txBody>
      </p:sp>
      <p:sp>
        <p:nvSpPr>
          <p:cNvPr id="3" name="">
            <a:extLst xmlns:a="http://schemas.openxmlformats.org/drawingml/2006/main">
              <a:ext uri="{FF2B5EF4-FFF2-40B4-BE49-F238E27FC236}">
                <a16:creationId xmlns:a16="http://schemas.microsoft.com/office/drawing/2014/main" id="{17F02B74-BE40-4BD9-8BA1-68E98D6178D2}"/>
              </a:ext>
            </a:extLst>
          </p:cNvPr>
          <p:cNvSpPr>
            <a:spLocks xmlns:a="http://schemas.openxmlformats.org/drawingml/2006/main" noGrp="1"/>
          </p:cNvSpPr>
          <p:nvPr/>
        </p:nvSpPr>
        <p:spPr>
          <a:xfrm xmlns:a="http://schemas.openxmlformats.org/drawingml/2006/main">
            <a:off x="762000" y="1809750"/>
            <a:ext cx="1000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BCEBE8"/>
                </a:solidFill>
              </a:defRPr>
            </a:defPPr>
          </a:lstStyle>
          <a:p xmlns:a="http://schemas.openxmlformats.org/drawingml/2006/main">
            <a:pPr>
              <a:defRPr sz="2025" b="1">
                <a:solidFill>
                  <a:srgbClr val="BCEBE8"/>
                </a:solidFill>
              </a:defRPr>
            </a:pPr>
            <a:r>
              <a:rPr sz="2025" b="1">
                <a:solidFill>
                  <a:srgbClr val="BCEBE8"/>
                </a:solidFill>
              </a:rPr>
              <a:t>A single project now connects movie analytics, Elastic Net regression, and classical DSA implementations.</a:t>
            </a:r>
          </a:p>
        </p:txBody>
      </p:sp>
      <p:sp>
        <p:nvSpPr>
          <p:cNvPr id="4" name="">
            <a:extLst xmlns:a="http://schemas.openxmlformats.org/drawingml/2006/main">
              <a:ext uri="{FF2B5EF4-FFF2-40B4-BE49-F238E27FC236}">
                <a16:creationId xmlns:a16="http://schemas.microsoft.com/office/drawing/2014/main" id="{77CEC019-E325-41F9-A74C-95AD0680BE79}"/>
              </a:ext>
            </a:extLst>
          </p:cNvPr>
          <p:cNvSpPr>
            <a:spLocks xmlns:a="http://schemas.openxmlformats.org/drawingml/2006/main" noGrp="1"/>
          </p:cNvSpPr>
          <p:nvPr/>
        </p:nvSpPr>
        <p:spPr>
          <a:xfrm xmlns:a="http://schemas.openxmlformats.org/drawingml/2006/main">
            <a:off x="762000" y="3048000"/>
            <a:ext cx="10287000" cy="19050"/>
          </a:xfrm>
          <a:prstGeom xmlns:a="http://schemas.openxmlformats.org/drawingml/2006/main" prst="rect">
            <a:avLst/>
          </a:prstGeom>
          <a:solidFill xmlns:a="http://schemas.openxmlformats.org/drawingml/2006/main">
            <a:srgbClr val="16A6A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B3DEEE-049F-46CD-A2B8-ABC80AB27B83}"/>
              </a:ext>
            </a:extLst>
          </p:cNvPr>
          <p:cNvSpPr>
            <a:spLocks xmlns:a="http://schemas.openxmlformats.org/drawingml/2006/main" noGrp="1"/>
          </p:cNvSpPr>
          <p:nvPr/>
        </p:nvSpPr>
        <p:spPr>
          <a:xfrm xmlns:a="http://schemas.openxmlformats.org/drawingml/2006/main">
            <a:off x="857250" y="3552825"/>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143FBEB-EB3F-47A4-940C-DDEB64CC6013}"/>
              </a:ext>
            </a:extLst>
          </p:cNvPr>
          <p:cNvSpPr>
            <a:spLocks xmlns:a="http://schemas.openxmlformats.org/drawingml/2006/main" noGrp="1"/>
          </p:cNvSpPr>
          <p:nvPr/>
        </p:nvSpPr>
        <p:spPr>
          <a:xfrm xmlns:a="http://schemas.openxmlformats.org/drawingml/2006/main">
            <a:off x="1066800" y="3476625"/>
            <a:ext cx="960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FFFFF"/>
                </a:solidFill>
              </a:defRPr>
            </a:defPPr>
          </a:lstStyle>
          <a:p xmlns:a="http://schemas.openxmlformats.org/drawingml/2006/main">
            <a:pPr>
              <a:defRPr sz="1500" b="0">
                <a:solidFill>
                  <a:srgbClr val="FFFFFF"/>
                </a:solidFill>
              </a:defRPr>
            </a:pPr>
            <a:r>
              <a:rPr sz="1500" b="0">
                <a:solidFill>
                  <a:srgbClr val="FFFFFF"/>
                </a:solidFill>
              </a:rPr>
              <a:t>The baseline is built on the 5,000-row movie dataset.</a:t>
            </a:r>
          </a:p>
        </p:txBody>
      </p:sp>
      <p:sp>
        <p:nvSpPr>
          <p:cNvPr id="7" name="">
            <a:extLst xmlns:a="http://schemas.openxmlformats.org/drawingml/2006/main">
              <a:ext uri="{FF2B5EF4-FFF2-40B4-BE49-F238E27FC236}">
                <a16:creationId xmlns:a16="http://schemas.microsoft.com/office/drawing/2014/main" id="{4B0E41A8-AB91-4E77-996C-DC4BD586850F}"/>
              </a:ext>
            </a:extLst>
          </p:cNvPr>
          <p:cNvSpPr>
            <a:spLocks xmlns:a="http://schemas.openxmlformats.org/drawingml/2006/main" noGrp="1"/>
          </p:cNvSpPr>
          <p:nvPr/>
        </p:nvSpPr>
        <p:spPr>
          <a:xfrm xmlns:a="http://schemas.openxmlformats.org/drawingml/2006/main">
            <a:off x="857250" y="4219575"/>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4217CF-1C94-40DC-A8DC-2C0F21A074C0}"/>
              </a:ext>
            </a:extLst>
          </p:cNvPr>
          <p:cNvSpPr>
            <a:spLocks xmlns:a="http://schemas.openxmlformats.org/drawingml/2006/main" noGrp="1"/>
          </p:cNvSpPr>
          <p:nvPr/>
        </p:nvSpPr>
        <p:spPr>
          <a:xfrm xmlns:a="http://schemas.openxmlformats.org/drawingml/2006/main">
            <a:off x="1066800" y="4143375"/>
            <a:ext cx="960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FFFFF"/>
                </a:solidFill>
              </a:defRPr>
            </a:defPPr>
          </a:lstStyle>
          <a:p xmlns:a="http://schemas.openxmlformats.org/drawingml/2006/main">
            <a:pPr>
              <a:defRPr sz="1500" b="0">
                <a:solidFill>
                  <a:srgbClr val="FFFFFF"/>
                </a:solidFill>
              </a:defRPr>
            </a:pPr>
            <a:r>
              <a:rPr sz="1500" b="0">
                <a:solidFill>
                  <a:srgbClr val="FFFFFF"/>
                </a:solidFill>
              </a:rPr>
              <a:t>Search and recommendation algorithms are implemented in Java with a Python fallback.</a:t>
            </a:r>
          </a:p>
        </p:txBody>
      </p:sp>
      <p:sp>
        <p:nvSpPr>
          <p:cNvPr id="9" name="">
            <a:extLst xmlns:a="http://schemas.openxmlformats.org/drawingml/2006/main">
              <a:ext uri="{FF2B5EF4-FFF2-40B4-BE49-F238E27FC236}">
                <a16:creationId xmlns:a16="http://schemas.microsoft.com/office/drawing/2014/main" id="{8AFD1E89-4354-4EDB-8169-EA741C676507}"/>
              </a:ext>
            </a:extLst>
          </p:cNvPr>
          <p:cNvSpPr>
            <a:spLocks xmlns:a="http://schemas.openxmlformats.org/drawingml/2006/main" noGrp="1"/>
          </p:cNvSpPr>
          <p:nvPr/>
        </p:nvSpPr>
        <p:spPr>
          <a:xfrm xmlns:a="http://schemas.openxmlformats.org/drawingml/2006/main">
            <a:off x="857250" y="4886325"/>
            <a:ext cx="85725" cy="85725"/>
          </a:xfrm>
          <a:prstGeom xmlns:a="http://schemas.openxmlformats.org/drawingml/2006/main" prst="roundRect">
            <a:avLst>
              <a:gd name="adj" fmla="val 50000"/>
            </a:avLst>
          </a:prstGeom>
          <a:solidFill xmlns:a="http://schemas.openxmlformats.org/drawingml/2006/main">
            <a:srgbClr val="16A6A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184219D-CC61-4ABF-BDDF-1DB1BE796C70}"/>
              </a:ext>
            </a:extLst>
          </p:cNvPr>
          <p:cNvSpPr>
            <a:spLocks xmlns:a="http://schemas.openxmlformats.org/drawingml/2006/main" noGrp="1"/>
          </p:cNvSpPr>
          <p:nvPr/>
        </p:nvSpPr>
        <p:spPr>
          <a:xfrm xmlns:a="http://schemas.openxmlformats.org/drawingml/2006/main">
            <a:off x="1066800" y="4810125"/>
            <a:ext cx="960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FFFFF"/>
                </a:solidFill>
              </a:defRPr>
            </a:defPPr>
          </a:lstStyle>
          <a:p xmlns:a="http://schemas.openxmlformats.org/drawingml/2006/main">
            <a:pPr>
              <a:defRPr sz="1500" b="0">
                <a:solidFill>
                  <a:srgbClr val="FFFFFF"/>
                </a:solidFill>
              </a:defRPr>
            </a:pPr>
            <a:r>
              <a:rPr sz="1500" b="0">
                <a:solidFill>
                  <a:srgbClr val="FFFFFF"/>
                </a:solidFill>
              </a:rPr>
              <a:t>Enriched predictors and fresh performance metrics remain dependent on data and a successful local run.</a:t>
            </a:r>
          </a:p>
        </p:txBody>
      </p:sp>
      <p:sp>
        <p:nvSpPr>
          <p:cNvPr id="11" name="">
            <a:extLst xmlns:a="http://schemas.openxmlformats.org/drawingml/2006/main">
              <a:ext uri="{FF2B5EF4-FFF2-40B4-BE49-F238E27FC236}">
                <a16:creationId xmlns:a16="http://schemas.microsoft.com/office/drawing/2014/main" id="{EA07E11C-BDA5-4231-9A0F-F8B97BF2B84F}"/>
              </a:ext>
            </a:extLst>
          </p:cNvPr>
          <p:cNvSpPr>
            <a:spLocks xmlns:a="http://schemas.openxmlformats.org/drawingml/2006/main" noGrp="1"/>
          </p:cNvSpPr>
          <p:nvPr/>
        </p:nvSpPr>
        <p:spPr>
          <a:xfrm xmlns:a="http://schemas.openxmlformats.org/drawingml/2006/main">
            <a:off x="781050" y="5953125"/>
            <a:ext cx="762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FFFFF"/>
                </a:solidFill>
              </a:defRPr>
            </a:defPPr>
          </a:lstStyle>
          <a:p xmlns:a="http://schemas.openxmlformats.org/drawingml/2006/main">
            <a:pPr>
              <a:defRPr sz="1650" b="1">
                <a:solidFill>
                  <a:srgbClr val="FFFFFF"/>
                </a:solidFill>
              </a:defRPr>
            </a:pPr>
            <a:r>
              <a:rPr sz="1650" b="1">
                <a:solidFill>
                  <a:srgbClr val="FFFFFF"/>
                </a:solidFill>
              </a:rPr>
              <a:t>Thank you  |  Questions</a:t>
            </a:r>
          </a:p>
        </p:txBody>
      </p:sp>
    </p:spTree>
    <p:extLst>
      <p:ext uri="{BB962C8B-B14F-4D97-AF65-F5344CB8AC3E}">
        <p14:creationId xmlns:p14="http://schemas.microsoft.com/office/powerpoint/2010/main" val="1776339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2026-10-13T16:42:33.6750000Z</dcterms:created>
  <dcterms:modified xsi:type="dcterms:W3CDTF">2026-10-13T16:42:33.6750000Z</dcterms:modified>
</coreProperties>
</file>